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y="5143500" cx="9144000"/>
  <p:notesSz cx="6858000" cy="9144000"/>
  <p:embeddedFontLst>
    <p:embeddedFont>
      <p:font typeface="Roboto Mono"/>
      <p:regular r:id="rId20"/>
      <p:bold r:id="rId21"/>
      <p:italic r:id="rId22"/>
      <p:boldItalic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554302A-EE12-4A59-B90C-5DA35D9742C2}">
  <a:tblStyle styleId="{8554302A-EE12-4A59-B90C-5DA35D9742C2}"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Mono-regular.fntdata"/><Relationship Id="rId11" Type="http://schemas.openxmlformats.org/officeDocument/2006/relationships/slide" Target="slides/slide5.xml"/><Relationship Id="rId22" Type="http://schemas.openxmlformats.org/officeDocument/2006/relationships/font" Target="fonts/RobotoMono-italic.fntdata"/><Relationship Id="rId10" Type="http://schemas.openxmlformats.org/officeDocument/2006/relationships/slide" Target="slides/slide4.xml"/><Relationship Id="rId21" Type="http://schemas.openxmlformats.org/officeDocument/2006/relationships/font" Target="fonts/RobotoMono-bold.fntdata"/><Relationship Id="rId13" Type="http://schemas.openxmlformats.org/officeDocument/2006/relationships/slide" Target="slides/slide7.xml"/><Relationship Id="rId12" Type="http://schemas.openxmlformats.org/officeDocument/2006/relationships/slide" Target="slides/slide6.xml"/><Relationship Id="rId23" Type="http://schemas.openxmlformats.org/officeDocument/2006/relationships/font" Target="fonts/RobotoMono-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5" name="Google Shape;5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g394001ee13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 name="Google Shape;61;g394001ee13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94001ee13f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94001ee13f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94001ee13f_0_1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394001ee13f_0_1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94001ee13f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94001ee13f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befcdec493_5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befcdec493_5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94001ee13f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94001ee13f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befcdec493_5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befcdec493_5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94001ee13f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94001ee13f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94001ee13f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94001ee13f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94001ee13f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94001ee13f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For Pros(Python):</a:t>
            </a:r>
            <a:br>
              <a:rPr lang="en"/>
            </a:br>
            <a:r>
              <a:rPr lang="en"/>
              <a:t>-Highly versatile, can undergo a large variety f tasks such as data science, </a:t>
            </a:r>
            <a:r>
              <a:rPr lang="en"/>
              <a:t>training</a:t>
            </a:r>
            <a:r>
              <a:rPr lang="en"/>
              <a:t> machine models, basic computations, build web apps, etc</a:t>
            </a:r>
            <a:br>
              <a:rPr lang="en"/>
            </a:br>
            <a:r>
              <a:rPr lang="en"/>
              <a:t>-Since its free and open source, growing packages and libraries that can do fill in the gaps other programming languages excel in that python doesnt have(numpy for numerical computing and data </a:t>
            </a:r>
            <a:r>
              <a:rPr lang="en"/>
              <a:t>analysis, pandas good for visualization</a:t>
            </a:r>
            <a:r>
              <a:rPr lang="en"/>
              <a:t>)</a:t>
            </a:r>
            <a:br>
              <a:rPr lang="en"/>
            </a:br>
            <a:r>
              <a:rPr lang="en"/>
              <a:t>-Good integration because can work with other languages easily. Acts as a glue to bridge one language with other. Numpy  is important, and actually uses C/C++ under the hood. Speed of C++ for math computations, readability from pythonCan help with backends, cloud storage. JObs work with multiple systems like sql for database/storage , c++ for high speed data processing , aws for hosting etc</a:t>
            </a:r>
            <a:br>
              <a:rPr lang="en"/>
            </a:br>
            <a:r>
              <a:rPr lang="en"/>
              <a:t> For Cons(Python):</a:t>
            </a:r>
            <a:endParaRPr/>
          </a:p>
          <a:p>
            <a:pPr indent="-298450" lvl="0" marL="457200" rtl="0" algn="l">
              <a:spcBef>
                <a:spcPts val="0"/>
              </a:spcBef>
              <a:spcAft>
                <a:spcPts val="0"/>
              </a:spcAft>
              <a:buSzPts val="1100"/>
              <a:buChar char="-"/>
            </a:pPr>
            <a:r>
              <a:rPr lang="en"/>
              <a:t>Slower computations, but libraries like numpy help solve this problem (C++)</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For Matlab Pros:</a:t>
            </a:r>
            <a:endParaRPr/>
          </a:p>
          <a:p>
            <a:pPr indent="0" lvl="0" marL="0" rtl="0" algn="l">
              <a:spcBef>
                <a:spcPts val="0"/>
              </a:spcBef>
              <a:spcAft>
                <a:spcPts val="0"/>
              </a:spcAft>
              <a:buNone/>
            </a:pPr>
            <a:r>
              <a:rPr lang="en"/>
              <a:t>-also good for simulation physical systems </a:t>
            </a:r>
            <a:br>
              <a:rPr lang="en"/>
            </a:br>
            <a:r>
              <a:rPr lang="en"/>
              <a:t>- read able syntax. Partly bias due to being a computer  scientist. But out of people who dont study cs, people who study math or engineering would have an easier time than people who dont because most of the functions </a:t>
            </a:r>
            <a:endParaRPr/>
          </a:p>
          <a:p>
            <a:pPr indent="0" lvl="0" marL="0" rtl="0" algn="l">
              <a:spcBef>
                <a:spcPts val="0"/>
              </a:spcBef>
              <a:spcAft>
                <a:spcPts val="0"/>
              </a:spcAft>
              <a:buNone/>
            </a:pPr>
            <a:r>
              <a:rPr lang="en"/>
              <a:t>-great visualizations for like hard ware simulations</a:t>
            </a:r>
            <a:br>
              <a:rPr lang="en"/>
            </a:br>
            <a:br>
              <a:rPr lang="en"/>
            </a:br>
            <a:r>
              <a:rPr lang="en"/>
              <a:t>For matlab cons:</a:t>
            </a:r>
            <a:br>
              <a:rPr lang="en"/>
            </a:br>
            <a:r>
              <a:rPr lang="en"/>
              <a:t>-Not as beginner friendly(for projects with more substance). To make the most use of matlab, its essential to have prior knowledge in mathematics and/or engineering to simulate hardware</a:t>
            </a:r>
            <a:endParaRPr/>
          </a:p>
          <a:p>
            <a:pPr indent="0" lvl="0" marL="0" rtl="0" algn="l">
              <a:spcBef>
                <a:spcPts val="0"/>
              </a:spcBef>
              <a:spcAft>
                <a:spcPts val="0"/>
              </a:spcAft>
              <a:buNone/>
            </a:pPr>
            <a:r>
              <a:rPr lang="en"/>
              <a:t>-Tends to be costly. Must pay to have the core TOOL kit and pay extra for extra features. If doing a high scale project, the price could range greatly</a:t>
            </a:r>
            <a:br>
              <a:rPr lang="en"/>
            </a:br>
            <a:br>
              <a:rPr lang="en"/>
            </a:br>
            <a:r>
              <a:rPr lang="en"/>
              <a:t>Pros for R:</a:t>
            </a:r>
            <a:br>
              <a:rPr lang="en"/>
            </a:br>
            <a:r>
              <a:rPr lang="en"/>
              <a:t>-Great visualizations</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94001ee13f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94001ee13f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94001ee13f_0_1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394001ee13f_0_1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25"/>
            <a:ext cx="4572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dk1"/>
              </a:buClr>
              <a:buSzPts val="1800"/>
              <a:buChar char="●"/>
              <a:defRPr>
                <a:solidFill>
                  <a:schemeClr val="dk1"/>
                </a:solidFill>
              </a:defRPr>
            </a:lvl1pPr>
            <a:lvl2pPr indent="-317500" lvl="1" marL="914400">
              <a:spcBef>
                <a:spcPts val="0"/>
              </a:spcBef>
              <a:spcAft>
                <a:spcPts val="0"/>
              </a:spcAft>
              <a:buClr>
                <a:schemeClr val="dk1"/>
              </a:buClr>
              <a:buSzPts val="1400"/>
              <a:buChar char="○"/>
              <a:defRPr>
                <a:solidFill>
                  <a:schemeClr val="dk1"/>
                </a:solidFill>
              </a:defRPr>
            </a:lvl2pPr>
            <a:lvl3pPr indent="-317500" lvl="2" marL="1371600">
              <a:spcBef>
                <a:spcPts val="0"/>
              </a:spcBef>
              <a:spcAft>
                <a:spcPts val="0"/>
              </a:spcAft>
              <a:buClr>
                <a:schemeClr val="dk1"/>
              </a:buClr>
              <a:buSzPts val="1400"/>
              <a:buChar char="■"/>
              <a:defRPr>
                <a:solidFill>
                  <a:schemeClr val="dk1"/>
                </a:solidFill>
              </a:defRPr>
            </a:lvl3pPr>
            <a:lvl4pPr indent="-317500" lvl="3" marL="1828800">
              <a:spcBef>
                <a:spcPts val="0"/>
              </a:spcBef>
              <a:spcAft>
                <a:spcPts val="0"/>
              </a:spcAft>
              <a:buClr>
                <a:schemeClr val="dk1"/>
              </a:buClr>
              <a:buSzPts val="1400"/>
              <a:buChar char="●"/>
              <a:defRPr>
                <a:solidFill>
                  <a:schemeClr val="dk1"/>
                </a:solidFill>
              </a:defRPr>
            </a:lvl4pPr>
            <a:lvl5pPr indent="-317500" lvl="4" marL="2286000">
              <a:spcBef>
                <a:spcPts val="0"/>
              </a:spcBef>
              <a:spcAft>
                <a:spcPts val="0"/>
              </a:spcAft>
              <a:buClr>
                <a:schemeClr val="dk1"/>
              </a:buClr>
              <a:buSzPts val="1400"/>
              <a:buChar char="○"/>
              <a:defRPr>
                <a:solidFill>
                  <a:schemeClr val="dk1"/>
                </a:solidFill>
              </a:defRPr>
            </a:lvl5pPr>
            <a:lvl6pPr indent="-317500" lvl="5" marL="2743200">
              <a:spcBef>
                <a:spcPts val="0"/>
              </a:spcBef>
              <a:spcAft>
                <a:spcPts val="0"/>
              </a:spcAft>
              <a:buClr>
                <a:schemeClr val="dk1"/>
              </a:buClr>
              <a:buSzPts val="1400"/>
              <a:buChar char="■"/>
              <a:defRPr>
                <a:solidFill>
                  <a:schemeClr val="dk1"/>
                </a:solidFill>
              </a:defRPr>
            </a:lvl6pPr>
            <a:lvl7pPr indent="-317500" lvl="6" marL="3200400">
              <a:spcBef>
                <a:spcPts val="0"/>
              </a:spcBef>
              <a:spcAft>
                <a:spcPts val="0"/>
              </a:spcAft>
              <a:buClr>
                <a:schemeClr val="dk1"/>
              </a:buClr>
              <a:buSzPts val="1400"/>
              <a:buChar char="●"/>
              <a:defRPr>
                <a:solidFill>
                  <a:schemeClr val="dk1"/>
                </a:solidFill>
              </a:defRPr>
            </a:lvl7pPr>
            <a:lvl8pPr indent="-317500" lvl="7" marL="3657600">
              <a:spcBef>
                <a:spcPts val="0"/>
              </a:spcBef>
              <a:spcAft>
                <a:spcPts val="0"/>
              </a:spcAft>
              <a:buClr>
                <a:schemeClr val="dk1"/>
              </a:buClr>
              <a:buSzPts val="1400"/>
              <a:buChar char="○"/>
              <a:defRPr>
                <a:solidFill>
                  <a:schemeClr val="dk1"/>
                </a:solidFill>
              </a:defRPr>
            </a:lvl8pPr>
            <a:lvl9pPr indent="-317500" lvl="8" marL="4114800">
              <a:spcBef>
                <a:spcPts val="0"/>
              </a:spcBef>
              <a:spcAft>
                <a:spcPts val="0"/>
              </a:spcAft>
              <a:buClr>
                <a:schemeClr val="dk1"/>
              </a:buClr>
              <a:buSzPts val="1400"/>
              <a:buChar char="■"/>
              <a:defRPr>
                <a:solidFill>
                  <a:schemeClr val="dk1"/>
                </a:solidFill>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SECTION_HEADER_1">
    <p:spTree>
      <p:nvGrpSpPr>
        <p:cNvPr id="50" name="Shape 50"/>
        <p:cNvGrpSpPr/>
        <p:nvPr/>
      </p:nvGrpSpPr>
      <p:grpSpPr>
        <a:xfrm>
          <a:off x="0" y="0"/>
          <a:ext cx="0" cy="0"/>
          <a:chOff x="0" y="0"/>
          <a:chExt cx="0" cy="0"/>
        </a:xfrm>
      </p:grpSpPr>
      <p:sp>
        <p:nvSpPr>
          <p:cNvPr id="51" name="Google Shape;51;p1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52" name="Google Shape;52;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dark-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Char char="●"/>
              <a:defRPr sz="1800">
                <a:solidFill>
                  <a:schemeClr val="lt2"/>
                </a:solidFill>
              </a:defRPr>
            </a:lvl1pPr>
            <a:lvl2pPr indent="-317500" lvl="1" marL="914400">
              <a:lnSpc>
                <a:spcPct val="115000"/>
              </a:lnSpc>
              <a:spcBef>
                <a:spcPts val="0"/>
              </a:spcBef>
              <a:spcAft>
                <a:spcPts val="0"/>
              </a:spcAft>
              <a:buClr>
                <a:schemeClr val="lt2"/>
              </a:buClr>
              <a:buSzPts val="1400"/>
              <a:buChar char="○"/>
              <a:defRPr>
                <a:solidFill>
                  <a:schemeClr val="lt2"/>
                </a:solidFill>
              </a:defRPr>
            </a:lvl2pPr>
            <a:lvl3pPr indent="-317500" lvl="2" marL="1371600">
              <a:lnSpc>
                <a:spcPct val="115000"/>
              </a:lnSpc>
              <a:spcBef>
                <a:spcPts val="0"/>
              </a:spcBef>
              <a:spcAft>
                <a:spcPts val="0"/>
              </a:spcAft>
              <a:buClr>
                <a:schemeClr val="lt2"/>
              </a:buClr>
              <a:buSzPts val="1400"/>
              <a:buChar char="■"/>
              <a:defRPr>
                <a:solidFill>
                  <a:schemeClr val="lt2"/>
                </a:solidFill>
              </a:defRPr>
            </a:lvl3pPr>
            <a:lvl4pPr indent="-317500" lvl="3" marL="1828800">
              <a:lnSpc>
                <a:spcPct val="115000"/>
              </a:lnSpc>
              <a:spcBef>
                <a:spcPts val="0"/>
              </a:spcBef>
              <a:spcAft>
                <a:spcPts val="0"/>
              </a:spcAft>
              <a:buClr>
                <a:schemeClr val="lt2"/>
              </a:buClr>
              <a:buSzPts val="1400"/>
              <a:buChar char="●"/>
              <a:defRPr>
                <a:solidFill>
                  <a:schemeClr val="lt2"/>
                </a:solidFill>
              </a:defRPr>
            </a:lvl4pPr>
            <a:lvl5pPr indent="-317500" lvl="4" marL="2286000">
              <a:lnSpc>
                <a:spcPct val="115000"/>
              </a:lnSpc>
              <a:spcBef>
                <a:spcPts val="0"/>
              </a:spcBef>
              <a:spcAft>
                <a:spcPts val="0"/>
              </a:spcAft>
              <a:buClr>
                <a:schemeClr val="lt2"/>
              </a:buClr>
              <a:buSzPts val="1400"/>
              <a:buChar char="○"/>
              <a:defRPr>
                <a:solidFill>
                  <a:schemeClr val="lt2"/>
                </a:solidFill>
              </a:defRPr>
            </a:lvl5pPr>
            <a:lvl6pPr indent="-317500" lvl="5" marL="2743200">
              <a:lnSpc>
                <a:spcPct val="115000"/>
              </a:lnSpc>
              <a:spcBef>
                <a:spcPts val="0"/>
              </a:spcBef>
              <a:spcAft>
                <a:spcPts val="0"/>
              </a:spcAft>
              <a:buClr>
                <a:schemeClr val="lt2"/>
              </a:buClr>
              <a:buSzPts val="1400"/>
              <a:buChar char="■"/>
              <a:defRPr>
                <a:solidFill>
                  <a:schemeClr val="lt2"/>
                </a:solidFill>
              </a:defRPr>
            </a:lvl6pPr>
            <a:lvl7pPr indent="-317500" lvl="6" marL="3200400">
              <a:lnSpc>
                <a:spcPct val="115000"/>
              </a:lnSpc>
              <a:spcBef>
                <a:spcPts val="0"/>
              </a:spcBef>
              <a:spcAft>
                <a:spcPts val="0"/>
              </a:spcAft>
              <a:buClr>
                <a:schemeClr val="lt2"/>
              </a:buClr>
              <a:buSzPts val="1400"/>
              <a:buChar char="●"/>
              <a:defRPr>
                <a:solidFill>
                  <a:schemeClr val="lt2"/>
                </a:solidFill>
              </a:defRPr>
            </a:lvl7pPr>
            <a:lvl8pPr indent="-317500" lvl="7" marL="3657600">
              <a:lnSpc>
                <a:spcPct val="115000"/>
              </a:lnSpc>
              <a:spcBef>
                <a:spcPts val="0"/>
              </a:spcBef>
              <a:spcAft>
                <a:spcPts val="0"/>
              </a:spcAft>
              <a:buClr>
                <a:schemeClr val="lt2"/>
              </a:buClr>
              <a:buSzPts val="1400"/>
              <a:buChar char="○"/>
              <a:defRPr>
                <a:solidFill>
                  <a:schemeClr val="lt2"/>
                </a:solidFill>
              </a:defRPr>
            </a:lvl8pPr>
            <a:lvl9pPr indent="-317500" lvl="8" marL="4114800">
              <a:lnSpc>
                <a:spcPct val="115000"/>
              </a:lnSpc>
              <a:spcBef>
                <a:spcPts val="0"/>
              </a:spcBef>
              <a:spcAft>
                <a:spcPts val="0"/>
              </a:spcAft>
              <a:buClr>
                <a:schemeClr val="lt2"/>
              </a:buClr>
              <a:buSzPts val="1400"/>
              <a:buChar char="■"/>
              <a:defRPr>
                <a:solidFill>
                  <a:schemeClr val="lt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defRPr>
            </a:lvl1pPr>
            <a:lvl2pPr lvl="1" algn="r">
              <a:buNone/>
              <a:defRPr sz="1000">
                <a:solidFill>
                  <a:schemeClr val="lt2"/>
                </a:solidFill>
              </a:defRPr>
            </a:lvl2pPr>
            <a:lvl3pPr lvl="2" algn="r">
              <a:buNone/>
              <a:defRPr sz="1000">
                <a:solidFill>
                  <a:schemeClr val="lt2"/>
                </a:solidFill>
              </a:defRPr>
            </a:lvl3pPr>
            <a:lvl4pPr lvl="3" algn="r">
              <a:buNone/>
              <a:defRPr sz="1000">
                <a:solidFill>
                  <a:schemeClr val="lt2"/>
                </a:solidFill>
              </a:defRPr>
            </a:lvl4pPr>
            <a:lvl5pPr lvl="4" algn="r">
              <a:buNone/>
              <a:defRPr sz="1000">
                <a:solidFill>
                  <a:schemeClr val="lt2"/>
                </a:solidFill>
              </a:defRPr>
            </a:lvl5pPr>
            <a:lvl6pPr lvl="5" algn="r">
              <a:buNone/>
              <a:defRPr sz="1000">
                <a:solidFill>
                  <a:schemeClr val="lt2"/>
                </a:solidFill>
              </a:defRPr>
            </a:lvl6pPr>
            <a:lvl7pPr lvl="6" algn="r">
              <a:buNone/>
              <a:defRPr sz="1000">
                <a:solidFill>
                  <a:schemeClr val="lt2"/>
                </a:solidFill>
              </a:defRPr>
            </a:lvl7pPr>
            <a:lvl8pPr lvl="7" algn="r">
              <a:buNone/>
              <a:defRPr sz="1000">
                <a:solidFill>
                  <a:schemeClr val="lt2"/>
                </a:solidFill>
              </a:defRPr>
            </a:lvl8pPr>
            <a:lvl9pPr lvl="8" algn="r">
              <a:buNone/>
              <a:defRPr sz="1000">
                <a:solidFill>
                  <a:schemeClr val="lt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8.png"/><Relationship Id="rId4" Type="http://schemas.openxmlformats.org/officeDocument/2006/relationships/image" Target="../media/image3.png"/><Relationship Id="rId5"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1" Type="http://schemas.openxmlformats.org/officeDocument/2006/relationships/hyperlink" Target="https://www.geeksforgeeks.org/software-testing/what-is-an-api/" TargetMode="External"/><Relationship Id="rId10" Type="http://schemas.openxmlformats.org/officeDocument/2006/relationships/hyperlink" Target="https://jds-online.org/journal/JDS/article/402/info" TargetMode="External"/><Relationship Id="rId12" Type="http://schemas.openxmlformats.org/officeDocument/2006/relationships/hyperlink" Target="https://www.geeksforgeeks.org/graphql/graphql-vs-rest-which-is-better-for-apis/" TargetMode="External"/><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hyperlink" Target="https://www.cleveroad.com/blog/programming-languages-ranking/" TargetMode="External"/><Relationship Id="rId4" Type="http://schemas.openxmlformats.org/officeDocument/2006/relationships/hyperlink" Target="https://www.geeksforgeeks.org/python/why-is-python-so-popular/" TargetMode="External"/><Relationship Id="rId9" Type="http://schemas.openxmlformats.org/officeDocument/2006/relationships/hyperlink" Target="https://www.geeksforgeeks.org/python/python-web-scraping-tutorial/" TargetMode="External"/><Relationship Id="rId5" Type="http://schemas.openxmlformats.org/officeDocument/2006/relationships/hyperlink" Target="https://www.datanovia.com/en/lessons/heatmap-in-r-static-and-interactive-visualization/" TargetMode="External"/><Relationship Id="rId6" Type="http://schemas.openxmlformats.org/officeDocument/2006/relationships/hyperlink" Target="https://www.monocubed.com/blog/companies-that-use-python/" TargetMode="External"/><Relationship Id="rId7" Type="http://schemas.openxmlformats.org/officeDocument/2006/relationships/hyperlink" Target="https://www.zippia.com/skills/matlab/companies/" TargetMode="External"/><Relationship Id="rId8" Type="http://schemas.openxmlformats.org/officeDocument/2006/relationships/hyperlink" Target="https://www.mathworks.com/help/aerotbx/index.html"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 name="Shape 56"/>
        <p:cNvGrpSpPr/>
        <p:nvPr/>
      </p:nvGrpSpPr>
      <p:grpSpPr>
        <a:xfrm>
          <a:off x="0" y="0"/>
          <a:ext cx="0" cy="0"/>
          <a:chOff x="0" y="0"/>
          <a:chExt cx="0" cy="0"/>
        </a:xfrm>
      </p:grpSpPr>
      <p:sp>
        <p:nvSpPr>
          <p:cNvPr id="57" name="Google Shape;57;p14"/>
          <p:cNvSpPr txBox="1"/>
          <p:nvPr>
            <p:ph type="ctrTitle"/>
          </p:nvPr>
        </p:nvSpPr>
        <p:spPr>
          <a:xfrm>
            <a:off x="0" y="2256325"/>
            <a:ext cx="9144000" cy="1067100"/>
          </a:xfrm>
          <a:prstGeom prst="rect">
            <a:avLst/>
          </a:prstGeom>
          <a:solidFill>
            <a:srgbClr val="F3F3F3"/>
          </a:solidFill>
        </p:spPr>
        <p:txBody>
          <a:bodyPr anchorCtr="0" anchor="b" bIns="91425" lIns="91425" spcFirstLastPara="1" rIns="91425" wrap="square" tIns="91425">
            <a:spAutoFit/>
          </a:bodyPr>
          <a:lstStyle/>
          <a:p>
            <a:pPr indent="0" lvl="0" marL="0" rtl="0" algn="ctr">
              <a:spcBef>
                <a:spcPts val="100"/>
              </a:spcBef>
              <a:spcAft>
                <a:spcPts val="0"/>
              </a:spcAft>
              <a:buSzPts val="990"/>
              <a:buNone/>
            </a:pPr>
            <a:r>
              <a:rPr lang="en" sz="3200">
                <a:solidFill>
                  <a:schemeClr val="lt1"/>
                </a:solidFill>
              </a:rPr>
              <a:t>Data Science Tools: Languages, Libraries &amp; APIs</a:t>
            </a:r>
            <a:endParaRPr sz="3200">
              <a:solidFill>
                <a:schemeClr val="lt1"/>
              </a:solidFill>
            </a:endParaRPr>
          </a:p>
          <a:p>
            <a:pPr indent="0" lvl="0" marL="0" rtl="0" algn="ctr">
              <a:spcBef>
                <a:spcPts val="100"/>
              </a:spcBef>
              <a:spcAft>
                <a:spcPts val="100"/>
              </a:spcAft>
              <a:buSzPts val="990"/>
              <a:buNone/>
            </a:pPr>
            <a:r>
              <a:rPr lang="en" sz="2450">
                <a:solidFill>
                  <a:schemeClr val="lt1"/>
                </a:solidFill>
              </a:rPr>
              <a:t>(MODULE 1)</a:t>
            </a:r>
            <a:endParaRPr sz="2450">
              <a:solidFill>
                <a:schemeClr val="lt1"/>
              </a:solidFill>
            </a:endParaRPr>
          </a:p>
        </p:txBody>
      </p:sp>
      <p:sp>
        <p:nvSpPr>
          <p:cNvPr id="58" name="Google Shape;58;p14"/>
          <p:cNvSpPr txBox="1"/>
          <p:nvPr>
            <p:ph idx="1" type="subTitle"/>
          </p:nvPr>
        </p:nvSpPr>
        <p:spPr>
          <a:xfrm>
            <a:off x="311700" y="3939275"/>
            <a:ext cx="8520600" cy="792600"/>
          </a:xfrm>
          <a:prstGeom prst="rect">
            <a:avLst/>
          </a:prstGeom>
        </p:spPr>
        <p:txBody>
          <a:bodyPr anchorCtr="0" anchor="t" bIns="91425" lIns="91425" spcFirstLastPara="1" rIns="91425" wrap="square" tIns="91425">
            <a:normAutofit/>
          </a:bodyPr>
          <a:lstStyle/>
          <a:p>
            <a:pPr indent="0" lvl="0" marL="0" rtl="0" algn="ctr">
              <a:lnSpc>
                <a:spcPct val="80000"/>
              </a:lnSpc>
              <a:spcBef>
                <a:spcPts val="0"/>
              </a:spcBef>
              <a:spcAft>
                <a:spcPts val="0"/>
              </a:spcAft>
              <a:buSzPts val="935"/>
              <a:buNone/>
            </a:pPr>
            <a:r>
              <a:rPr lang="en" sz="1979"/>
              <a:t>Linwei Zheng, Cai Rong Li, Christopher Neria, Mohamed K, Ibsan Hossain</a:t>
            </a:r>
            <a:endParaRPr sz="1979"/>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Science Languages Overview</a:t>
            </a:r>
            <a:endParaRPr/>
          </a:p>
        </p:txBody>
      </p:sp>
      <p:sp>
        <p:nvSpPr>
          <p:cNvPr id="64" name="Google Shape;64;p15"/>
          <p:cNvSpPr txBox="1"/>
          <p:nvPr>
            <p:ph idx="1" type="body"/>
          </p:nvPr>
        </p:nvSpPr>
        <p:spPr>
          <a:xfrm>
            <a:off x="311700" y="1317325"/>
            <a:ext cx="2249100" cy="2994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rgbClr val="EFEFEF"/>
                </a:solidFill>
              </a:rPr>
              <a:t>In Data Science Programing language are for:</a:t>
            </a:r>
            <a:endParaRPr b="1" sz="1600">
              <a:solidFill>
                <a:srgbClr val="EFEFEF"/>
              </a:solidFill>
            </a:endParaRPr>
          </a:p>
          <a:p>
            <a:pPr indent="-323850" lvl="0" marL="457200" rtl="0" algn="l">
              <a:spcBef>
                <a:spcPts val="1200"/>
              </a:spcBef>
              <a:spcAft>
                <a:spcPts val="0"/>
              </a:spcAft>
              <a:buClr>
                <a:srgbClr val="CCCCCC"/>
              </a:buClr>
              <a:buSzPts val="1500"/>
              <a:buChar char="-"/>
            </a:pPr>
            <a:r>
              <a:rPr lang="en" sz="1500">
                <a:solidFill>
                  <a:srgbClr val="CCCCCC"/>
                </a:solidFill>
              </a:rPr>
              <a:t>Data manipulation &amp; analysis</a:t>
            </a:r>
            <a:endParaRPr sz="1500">
              <a:solidFill>
                <a:srgbClr val="CCCCCC"/>
              </a:solidFill>
            </a:endParaRPr>
          </a:p>
          <a:p>
            <a:pPr indent="-323850" lvl="0" marL="457200" rtl="0" algn="l">
              <a:spcBef>
                <a:spcPts val="0"/>
              </a:spcBef>
              <a:spcAft>
                <a:spcPts val="0"/>
              </a:spcAft>
              <a:buClr>
                <a:srgbClr val="CCCCCC"/>
              </a:buClr>
              <a:buSzPts val="1500"/>
              <a:buChar char="-"/>
            </a:pPr>
            <a:r>
              <a:rPr lang="en" sz="1500">
                <a:solidFill>
                  <a:srgbClr val="CCCCCC"/>
                </a:solidFill>
              </a:rPr>
              <a:t>Statistical modeling &amp; ML</a:t>
            </a:r>
            <a:endParaRPr sz="1500">
              <a:solidFill>
                <a:srgbClr val="CCCCCC"/>
              </a:solidFill>
            </a:endParaRPr>
          </a:p>
          <a:p>
            <a:pPr indent="-323850" lvl="0" marL="457200" rtl="0" algn="l">
              <a:spcBef>
                <a:spcPts val="0"/>
              </a:spcBef>
              <a:spcAft>
                <a:spcPts val="0"/>
              </a:spcAft>
              <a:buClr>
                <a:srgbClr val="CCCCCC"/>
              </a:buClr>
              <a:buSzPts val="1500"/>
              <a:buChar char="-"/>
            </a:pPr>
            <a:r>
              <a:rPr lang="en" sz="1500">
                <a:solidFill>
                  <a:srgbClr val="CCCCCC"/>
                </a:solidFill>
              </a:rPr>
              <a:t>Data visualization</a:t>
            </a:r>
            <a:endParaRPr sz="1500">
              <a:solidFill>
                <a:srgbClr val="CCCCCC"/>
              </a:solidFill>
            </a:endParaRPr>
          </a:p>
          <a:p>
            <a:pPr indent="-323850" lvl="0" marL="457200" rtl="0" algn="l">
              <a:spcBef>
                <a:spcPts val="0"/>
              </a:spcBef>
              <a:spcAft>
                <a:spcPts val="0"/>
              </a:spcAft>
              <a:buClr>
                <a:srgbClr val="CCCCCC"/>
              </a:buClr>
              <a:buSzPts val="1500"/>
              <a:buChar char="-"/>
            </a:pPr>
            <a:r>
              <a:rPr lang="en" sz="1500">
                <a:solidFill>
                  <a:srgbClr val="CCCCCC"/>
                </a:solidFill>
              </a:rPr>
              <a:t>Scientific computing</a:t>
            </a:r>
            <a:endParaRPr sz="1500">
              <a:solidFill>
                <a:srgbClr val="CCCCCC"/>
              </a:solidFill>
            </a:endParaRPr>
          </a:p>
        </p:txBody>
      </p:sp>
      <p:sp>
        <p:nvSpPr>
          <p:cNvPr id="65" name="Google Shape;65;p15"/>
          <p:cNvSpPr txBox="1"/>
          <p:nvPr>
            <p:ph idx="1" type="body"/>
          </p:nvPr>
        </p:nvSpPr>
        <p:spPr>
          <a:xfrm>
            <a:off x="6625025" y="1271425"/>
            <a:ext cx="2146500" cy="3086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600">
                <a:solidFill>
                  <a:srgbClr val="D9D9D9"/>
                </a:solidFill>
              </a:rPr>
              <a:t>Why the right choice matter</a:t>
            </a:r>
            <a:r>
              <a:rPr b="1" lang="en" sz="1600">
                <a:solidFill>
                  <a:srgbClr val="D9D9D9"/>
                </a:solidFill>
              </a:rPr>
              <a:t>:</a:t>
            </a:r>
            <a:endParaRPr b="1" sz="1600">
              <a:solidFill>
                <a:srgbClr val="D9D9D9"/>
              </a:solidFill>
            </a:endParaRPr>
          </a:p>
          <a:p>
            <a:pPr indent="-317500" lvl="0" marL="457200" rtl="0" algn="l">
              <a:spcBef>
                <a:spcPts val="1200"/>
              </a:spcBef>
              <a:spcAft>
                <a:spcPts val="0"/>
              </a:spcAft>
              <a:buClr>
                <a:srgbClr val="CCCCCC"/>
              </a:buClr>
              <a:buSzPts val="1400"/>
              <a:buChar char="-"/>
            </a:pPr>
            <a:r>
              <a:rPr lang="en" sz="1400">
                <a:solidFill>
                  <a:srgbClr val="CCCCCC"/>
                </a:solidFill>
              </a:rPr>
              <a:t>Faster </a:t>
            </a:r>
            <a:r>
              <a:rPr lang="en" sz="1400">
                <a:solidFill>
                  <a:srgbClr val="CCCCCC"/>
                </a:solidFill>
              </a:rPr>
              <a:t>result</a:t>
            </a:r>
            <a:endParaRPr sz="1400">
              <a:solidFill>
                <a:srgbClr val="CCCCCC"/>
              </a:solidFill>
            </a:endParaRPr>
          </a:p>
          <a:p>
            <a:pPr indent="-317500" lvl="0" marL="457200" rtl="0" algn="l">
              <a:spcBef>
                <a:spcPts val="0"/>
              </a:spcBef>
              <a:spcAft>
                <a:spcPts val="0"/>
              </a:spcAft>
              <a:buClr>
                <a:srgbClr val="CCCCCC"/>
              </a:buClr>
              <a:buSzPts val="1400"/>
              <a:buChar char="-"/>
            </a:pPr>
            <a:r>
              <a:rPr lang="en" sz="1400">
                <a:solidFill>
                  <a:srgbClr val="CCCCCC"/>
                </a:solidFill>
              </a:rPr>
              <a:t>Better </a:t>
            </a:r>
            <a:r>
              <a:rPr lang="en" sz="1400">
                <a:solidFill>
                  <a:srgbClr val="CCCCCC"/>
                </a:solidFill>
              </a:rPr>
              <a:t>communication</a:t>
            </a:r>
            <a:r>
              <a:rPr lang="en" sz="1400">
                <a:solidFill>
                  <a:srgbClr val="CCCCCC"/>
                </a:solidFill>
              </a:rPr>
              <a:t> and pairing if popular</a:t>
            </a:r>
            <a:endParaRPr sz="1400">
              <a:solidFill>
                <a:srgbClr val="CCCCCC"/>
              </a:solidFill>
            </a:endParaRPr>
          </a:p>
          <a:p>
            <a:pPr indent="-317500" lvl="0" marL="457200" rtl="0" algn="l">
              <a:spcBef>
                <a:spcPts val="0"/>
              </a:spcBef>
              <a:spcAft>
                <a:spcPts val="0"/>
              </a:spcAft>
              <a:buClr>
                <a:srgbClr val="CCCCCC"/>
              </a:buClr>
              <a:buSzPts val="1400"/>
              <a:buChar char="-"/>
            </a:pPr>
            <a:r>
              <a:rPr lang="en" sz="1400">
                <a:solidFill>
                  <a:srgbClr val="CCCCCC"/>
                </a:solidFill>
              </a:rPr>
              <a:t>Wider job </a:t>
            </a:r>
            <a:r>
              <a:rPr lang="en" sz="1400">
                <a:solidFill>
                  <a:srgbClr val="CCCCCC"/>
                </a:solidFill>
              </a:rPr>
              <a:t>opportunity</a:t>
            </a:r>
            <a:endParaRPr sz="1400">
              <a:solidFill>
                <a:srgbClr val="CCCCCC"/>
              </a:solidFill>
            </a:endParaRPr>
          </a:p>
          <a:p>
            <a:pPr indent="-317500" lvl="0" marL="457200" rtl="0" algn="l">
              <a:spcBef>
                <a:spcPts val="0"/>
              </a:spcBef>
              <a:spcAft>
                <a:spcPts val="0"/>
              </a:spcAft>
              <a:buClr>
                <a:srgbClr val="CCCCCC"/>
              </a:buClr>
              <a:buSzPts val="1400"/>
              <a:buChar char="-"/>
            </a:pPr>
            <a:r>
              <a:rPr lang="en" sz="1400">
                <a:solidFill>
                  <a:srgbClr val="CCCCCC"/>
                </a:solidFill>
              </a:rPr>
              <a:t>Some task are easier</a:t>
            </a:r>
            <a:endParaRPr sz="1400">
              <a:solidFill>
                <a:srgbClr val="CCCCCC"/>
              </a:solidFill>
            </a:endParaRPr>
          </a:p>
        </p:txBody>
      </p:sp>
      <p:pic>
        <p:nvPicPr>
          <p:cNvPr id="66" name="Google Shape;66;p15"/>
          <p:cNvPicPr preferRelativeResize="0"/>
          <p:nvPr/>
        </p:nvPicPr>
        <p:blipFill>
          <a:blip r:embed="rId3">
            <a:alphaModFix/>
          </a:blip>
          <a:stretch>
            <a:fillRect/>
          </a:stretch>
        </p:blipFill>
        <p:spPr>
          <a:xfrm>
            <a:off x="4531630" y="1126225"/>
            <a:ext cx="1660627" cy="1654150"/>
          </a:xfrm>
          <a:prstGeom prst="rect">
            <a:avLst/>
          </a:prstGeom>
          <a:noFill/>
          <a:ln>
            <a:noFill/>
          </a:ln>
        </p:spPr>
      </p:pic>
      <p:pic>
        <p:nvPicPr>
          <p:cNvPr id="67" name="Google Shape;67;p15"/>
          <p:cNvPicPr preferRelativeResize="0"/>
          <p:nvPr/>
        </p:nvPicPr>
        <p:blipFill>
          <a:blip r:embed="rId4">
            <a:alphaModFix/>
          </a:blip>
          <a:stretch>
            <a:fillRect/>
          </a:stretch>
        </p:blipFill>
        <p:spPr>
          <a:xfrm>
            <a:off x="2560905" y="2091776"/>
            <a:ext cx="1799325" cy="1394236"/>
          </a:xfrm>
          <a:prstGeom prst="rect">
            <a:avLst/>
          </a:prstGeom>
          <a:noFill/>
          <a:ln>
            <a:noFill/>
          </a:ln>
        </p:spPr>
      </p:pic>
      <p:pic>
        <p:nvPicPr>
          <p:cNvPr id="68" name="Google Shape;68;p15"/>
          <p:cNvPicPr preferRelativeResize="0"/>
          <p:nvPr/>
        </p:nvPicPr>
        <p:blipFill>
          <a:blip r:embed="rId5">
            <a:alphaModFix/>
          </a:blip>
          <a:stretch>
            <a:fillRect/>
          </a:stretch>
        </p:blipFill>
        <p:spPr>
          <a:xfrm>
            <a:off x="3773318" y="3292275"/>
            <a:ext cx="2851702" cy="160407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6"/>
          <p:cNvSpPr txBox="1"/>
          <p:nvPr>
            <p:ph type="title"/>
          </p:nvPr>
        </p:nvSpPr>
        <p:spPr>
          <a:xfrm>
            <a:off x="302000" y="331400"/>
            <a:ext cx="53958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Python - “The Generalist”</a:t>
            </a:r>
            <a:endParaRPr/>
          </a:p>
        </p:txBody>
      </p:sp>
      <p:sp>
        <p:nvSpPr>
          <p:cNvPr id="74" name="Google Shape;74;p16"/>
          <p:cNvSpPr txBox="1"/>
          <p:nvPr>
            <p:ph idx="1" type="body"/>
          </p:nvPr>
        </p:nvSpPr>
        <p:spPr>
          <a:xfrm>
            <a:off x="302000" y="1076425"/>
            <a:ext cx="4611600" cy="3550500"/>
          </a:xfrm>
          <a:prstGeom prst="rect">
            <a:avLst/>
          </a:prstGeom>
          <a:solidFill>
            <a:srgbClr val="D9D9D9"/>
          </a:solidFill>
        </p:spPr>
        <p:txBody>
          <a:bodyPr anchorCtr="0" anchor="t" bIns="91425" lIns="91425" spcFirstLastPara="1" rIns="91425" wrap="square" tIns="91425">
            <a:noAutofit/>
          </a:bodyPr>
          <a:lstStyle/>
          <a:p>
            <a:pPr indent="0" lvl="0" marL="0" rtl="0" algn="l">
              <a:spcBef>
                <a:spcPts val="0"/>
              </a:spcBef>
              <a:spcAft>
                <a:spcPts val="0"/>
              </a:spcAft>
              <a:buNone/>
            </a:pPr>
            <a:r>
              <a:rPr b="1" lang="en" sz="1700">
                <a:solidFill>
                  <a:srgbClr val="434343"/>
                </a:solidFill>
              </a:rPr>
              <a:t>Python</a:t>
            </a:r>
            <a:r>
              <a:rPr lang="en" sz="1500">
                <a:solidFill>
                  <a:srgbClr val="434343"/>
                </a:solidFill>
              </a:rPr>
              <a:t>(1991) created for simplicity and readability. Gained popularity in the field of data science because of its powerful libraries and industry support.</a:t>
            </a:r>
            <a:endParaRPr sz="1500">
              <a:solidFill>
                <a:srgbClr val="434343"/>
              </a:solidFill>
            </a:endParaRPr>
          </a:p>
          <a:p>
            <a:pPr indent="0" lvl="0" marL="0" rtl="0" algn="l">
              <a:spcBef>
                <a:spcPts val="1200"/>
              </a:spcBef>
              <a:spcAft>
                <a:spcPts val="0"/>
              </a:spcAft>
              <a:buNone/>
            </a:pPr>
            <a:r>
              <a:rPr lang="en" sz="1600" u="sng">
                <a:solidFill>
                  <a:srgbClr val="434343"/>
                </a:solidFill>
              </a:rPr>
              <a:t>Best for:</a:t>
            </a:r>
            <a:endParaRPr sz="1600" u="sng">
              <a:solidFill>
                <a:srgbClr val="434343"/>
              </a:solidFill>
            </a:endParaRPr>
          </a:p>
          <a:p>
            <a:pPr indent="-323850" lvl="0" marL="457200" rtl="0" algn="l">
              <a:spcBef>
                <a:spcPts val="1200"/>
              </a:spcBef>
              <a:spcAft>
                <a:spcPts val="0"/>
              </a:spcAft>
              <a:buClr>
                <a:srgbClr val="434343"/>
              </a:buClr>
              <a:buSzPts val="1500"/>
              <a:buChar char="-"/>
            </a:pPr>
            <a:r>
              <a:rPr lang="en" sz="1500">
                <a:solidFill>
                  <a:srgbClr val="434343"/>
                </a:solidFill>
              </a:rPr>
              <a:t>Machine learning &amp; AI</a:t>
            </a:r>
            <a:endParaRPr sz="1500">
              <a:solidFill>
                <a:srgbClr val="434343"/>
              </a:solidFill>
            </a:endParaRPr>
          </a:p>
          <a:p>
            <a:pPr indent="-323850" lvl="0" marL="457200" rtl="0" algn="l">
              <a:spcBef>
                <a:spcPts val="0"/>
              </a:spcBef>
              <a:spcAft>
                <a:spcPts val="0"/>
              </a:spcAft>
              <a:buClr>
                <a:srgbClr val="434343"/>
              </a:buClr>
              <a:buSzPts val="1500"/>
              <a:buChar char="-"/>
            </a:pPr>
            <a:r>
              <a:rPr lang="en" sz="1500">
                <a:solidFill>
                  <a:srgbClr val="434343"/>
                </a:solidFill>
              </a:rPr>
              <a:t>Web development + Data</a:t>
            </a:r>
            <a:endParaRPr sz="1500">
              <a:solidFill>
                <a:srgbClr val="434343"/>
              </a:solidFill>
            </a:endParaRPr>
          </a:p>
          <a:p>
            <a:pPr indent="-323850" lvl="0" marL="457200" rtl="0" algn="l">
              <a:spcBef>
                <a:spcPts val="0"/>
              </a:spcBef>
              <a:spcAft>
                <a:spcPts val="0"/>
              </a:spcAft>
              <a:buClr>
                <a:srgbClr val="434343"/>
              </a:buClr>
              <a:buSzPts val="1500"/>
              <a:buChar char="-"/>
            </a:pPr>
            <a:r>
              <a:rPr lang="en" sz="1500">
                <a:solidFill>
                  <a:srgbClr val="434343"/>
                </a:solidFill>
              </a:rPr>
              <a:t>Production system</a:t>
            </a:r>
            <a:endParaRPr sz="1500">
              <a:solidFill>
                <a:srgbClr val="434343"/>
              </a:solidFill>
            </a:endParaRPr>
          </a:p>
          <a:p>
            <a:pPr indent="0" lvl="0" marL="0" rtl="0" algn="l">
              <a:spcBef>
                <a:spcPts val="1200"/>
              </a:spcBef>
              <a:spcAft>
                <a:spcPts val="0"/>
              </a:spcAft>
              <a:buNone/>
            </a:pPr>
            <a:r>
              <a:rPr lang="en" sz="1600" u="sng">
                <a:solidFill>
                  <a:srgbClr val="434343"/>
                </a:solidFill>
              </a:rPr>
              <a:t>Many L</a:t>
            </a:r>
            <a:r>
              <a:rPr lang="en" sz="1600" u="sng">
                <a:solidFill>
                  <a:srgbClr val="434343"/>
                </a:solidFill>
              </a:rPr>
              <a:t>ibraries</a:t>
            </a:r>
            <a:r>
              <a:rPr lang="en" sz="1600" u="sng">
                <a:solidFill>
                  <a:srgbClr val="434343"/>
                </a:solidFill>
              </a:rPr>
              <a:t>:</a:t>
            </a:r>
            <a:r>
              <a:rPr lang="en" sz="1500">
                <a:solidFill>
                  <a:srgbClr val="434343"/>
                </a:solidFill>
              </a:rPr>
              <a:t> Pandas (data manipulation), NumPy (numerical), TensorFlow (machine learning),PyTorch (deep learning)</a:t>
            </a:r>
            <a:endParaRPr sz="1500">
              <a:solidFill>
                <a:srgbClr val="434343"/>
              </a:solidFill>
            </a:endParaRPr>
          </a:p>
          <a:p>
            <a:pPr indent="0" lvl="0" marL="0" rtl="0" algn="l">
              <a:spcBef>
                <a:spcPts val="1200"/>
              </a:spcBef>
              <a:spcAft>
                <a:spcPts val="0"/>
              </a:spcAft>
              <a:buNone/>
            </a:pPr>
            <a:r>
              <a:t/>
            </a:r>
            <a:endParaRPr sz="1500">
              <a:solidFill>
                <a:srgbClr val="434343"/>
              </a:solidFill>
            </a:endParaRPr>
          </a:p>
          <a:p>
            <a:pPr indent="0" lvl="0" marL="0" rtl="0" algn="l">
              <a:spcBef>
                <a:spcPts val="1200"/>
              </a:spcBef>
              <a:spcAft>
                <a:spcPts val="1200"/>
              </a:spcAft>
              <a:buNone/>
            </a:pPr>
            <a:r>
              <a:t/>
            </a:r>
            <a:endParaRPr sz="1500">
              <a:solidFill>
                <a:srgbClr val="434343"/>
              </a:solidFill>
            </a:endParaRPr>
          </a:p>
        </p:txBody>
      </p:sp>
      <p:pic>
        <p:nvPicPr>
          <p:cNvPr id="75" name="Google Shape;75;p16"/>
          <p:cNvPicPr preferRelativeResize="0"/>
          <p:nvPr/>
        </p:nvPicPr>
        <p:blipFill>
          <a:blip r:embed="rId3">
            <a:alphaModFix/>
          </a:blip>
          <a:stretch>
            <a:fillRect/>
          </a:stretch>
        </p:blipFill>
        <p:spPr>
          <a:xfrm>
            <a:off x="5644825" y="2007125"/>
            <a:ext cx="2841074" cy="2508900"/>
          </a:xfrm>
          <a:prstGeom prst="rect">
            <a:avLst/>
          </a:prstGeom>
          <a:noFill/>
          <a:ln>
            <a:noFill/>
          </a:ln>
        </p:spPr>
      </p:pic>
      <p:sp>
        <p:nvSpPr>
          <p:cNvPr id="76" name="Google Shape;76;p16"/>
          <p:cNvSpPr txBox="1"/>
          <p:nvPr/>
        </p:nvSpPr>
        <p:spPr>
          <a:xfrm>
            <a:off x="5134825" y="4414625"/>
            <a:ext cx="40092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000">
              <a:solidFill>
                <a:schemeClr val="lt2"/>
              </a:solidFill>
            </a:endParaRPr>
          </a:p>
          <a:p>
            <a:pPr indent="0" lvl="0" marL="0" rtl="0" algn="l">
              <a:spcBef>
                <a:spcPts val="0"/>
              </a:spcBef>
              <a:spcAft>
                <a:spcPts val="0"/>
              </a:spcAft>
              <a:buNone/>
            </a:pPr>
            <a:r>
              <a:rPr lang="en" sz="1000">
                <a:solidFill>
                  <a:schemeClr val="lt2"/>
                </a:solidFill>
              </a:rPr>
              <a:t>The PYPL index are base on language tutorials are searched on Google.</a:t>
            </a:r>
            <a:endParaRPr sz="1000">
              <a:solidFill>
                <a:schemeClr val="lt2"/>
              </a:solidFill>
            </a:endParaRPr>
          </a:p>
          <a:p>
            <a:pPr indent="0" lvl="0" marL="0" rtl="0" algn="l">
              <a:spcBef>
                <a:spcPts val="0"/>
              </a:spcBef>
              <a:spcAft>
                <a:spcPts val="0"/>
              </a:spcAft>
              <a:buNone/>
            </a:pPr>
            <a:r>
              <a:t/>
            </a:r>
            <a:endParaRPr sz="1000">
              <a:solidFill>
                <a:schemeClr val="lt2"/>
              </a:solidFill>
            </a:endParaRPr>
          </a:p>
        </p:txBody>
      </p:sp>
      <p:pic>
        <p:nvPicPr>
          <p:cNvPr id="77" name="Google Shape;77;p16"/>
          <p:cNvPicPr preferRelativeResize="0"/>
          <p:nvPr/>
        </p:nvPicPr>
        <p:blipFill>
          <a:blip r:embed="rId4">
            <a:alphaModFix/>
          </a:blip>
          <a:stretch>
            <a:fillRect/>
          </a:stretch>
        </p:blipFill>
        <p:spPr>
          <a:xfrm>
            <a:off x="5697800" y="236750"/>
            <a:ext cx="2735125" cy="1337643"/>
          </a:xfrm>
          <a:prstGeom prst="rect">
            <a:avLst/>
          </a:prstGeom>
          <a:noFill/>
          <a:ln>
            <a:noFill/>
          </a:ln>
        </p:spPr>
      </p:pic>
      <p:sp>
        <p:nvSpPr>
          <p:cNvPr id="78" name="Google Shape;78;p16"/>
          <p:cNvSpPr txBox="1"/>
          <p:nvPr/>
        </p:nvSpPr>
        <p:spPr>
          <a:xfrm>
            <a:off x="5217925" y="1668413"/>
            <a:ext cx="39261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lt2"/>
                </a:solidFill>
              </a:rPr>
              <a:t>Top 7 Companies That Use Python Are Making A Mark In 2026</a:t>
            </a:r>
            <a:endParaRPr sz="1800">
              <a:solidFill>
                <a:schemeClr val="lt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7"/>
          <p:cNvSpPr txBox="1"/>
          <p:nvPr>
            <p:ph type="title"/>
          </p:nvPr>
        </p:nvSpPr>
        <p:spPr>
          <a:xfrm>
            <a:off x="311700" y="3314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 - “build for datas”</a:t>
            </a:r>
            <a:endParaRPr/>
          </a:p>
          <a:p>
            <a:pPr indent="0" lvl="0" marL="0" rtl="0" algn="l">
              <a:spcBef>
                <a:spcPts val="0"/>
              </a:spcBef>
              <a:spcAft>
                <a:spcPts val="0"/>
              </a:spcAft>
              <a:buNone/>
            </a:pPr>
            <a:r>
              <a:t/>
            </a:r>
            <a:endParaRPr/>
          </a:p>
        </p:txBody>
      </p:sp>
      <p:sp>
        <p:nvSpPr>
          <p:cNvPr id="84" name="Google Shape;84;p17"/>
          <p:cNvSpPr txBox="1"/>
          <p:nvPr>
            <p:ph idx="1" type="body"/>
          </p:nvPr>
        </p:nvSpPr>
        <p:spPr>
          <a:xfrm>
            <a:off x="311700" y="1110800"/>
            <a:ext cx="3083700" cy="3375000"/>
          </a:xfrm>
          <a:prstGeom prst="rect">
            <a:avLst/>
          </a:prstGeom>
          <a:solidFill>
            <a:srgbClr val="D9D9D9"/>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700">
                <a:solidFill>
                  <a:srgbClr val="434343"/>
                </a:solidFill>
              </a:rPr>
              <a:t>R</a:t>
            </a:r>
            <a:r>
              <a:rPr lang="en" sz="1500">
                <a:solidFill>
                  <a:srgbClr val="434343"/>
                </a:solidFill>
              </a:rPr>
              <a:t>(1993) specifically created for statistical computing. Gained popularity due to its powerful data analysis and visualization tools.</a:t>
            </a:r>
            <a:endParaRPr sz="1500">
              <a:solidFill>
                <a:srgbClr val="434343"/>
              </a:solidFill>
            </a:endParaRPr>
          </a:p>
          <a:p>
            <a:pPr indent="0" lvl="0" marL="0" rtl="0" algn="l">
              <a:spcBef>
                <a:spcPts val="1200"/>
              </a:spcBef>
              <a:spcAft>
                <a:spcPts val="0"/>
              </a:spcAft>
              <a:buNone/>
            </a:pPr>
            <a:r>
              <a:rPr lang="en" sz="1600" u="sng">
                <a:solidFill>
                  <a:srgbClr val="434343"/>
                </a:solidFill>
              </a:rPr>
              <a:t>Best for:</a:t>
            </a:r>
            <a:endParaRPr sz="1600" u="sng">
              <a:solidFill>
                <a:srgbClr val="434343"/>
              </a:solidFill>
            </a:endParaRPr>
          </a:p>
          <a:p>
            <a:pPr indent="-323850" lvl="0" marL="457200" rtl="0" algn="l">
              <a:spcBef>
                <a:spcPts val="1200"/>
              </a:spcBef>
              <a:spcAft>
                <a:spcPts val="0"/>
              </a:spcAft>
              <a:buClr>
                <a:srgbClr val="434343"/>
              </a:buClr>
              <a:buSzPts val="1500"/>
              <a:buChar char="-"/>
            </a:pPr>
            <a:r>
              <a:rPr lang="en" sz="1500">
                <a:solidFill>
                  <a:srgbClr val="434343"/>
                </a:solidFill>
              </a:rPr>
              <a:t>Statistical Analysis</a:t>
            </a:r>
            <a:endParaRPr sz="1500">
              <a:solidFill>
                <a:srgbClr val="434343"/>
              </a:solidFill>
            </a:endParaRPr>
          </a:p>
          <a:p>
            <a:pPr indent="-323850" lvl="0" marL="457200" rtl="0" algn="l">
              <a:spcBef>
                <a:spcPts val="0"/>
              </a:spcBef>
              <a:spcAft>
                <a:spcPts val="0"/>
              </a:spcAft>
              <a:buClr>
                <a:srgbClr val="434343"/>
              </a:buClr>
              <a:buSzPts val="1500"/>
              <a:buChar char="-"/>
            </a:pPr>
            <a:r>
              <a:rPr lang="en" sz="1500">
                <a:solidFill>
                  <a:srgbClr val="434343"/>
                </a:solidFill>
              </a:rPr>
              <a:t>Data Visualization</a:t>
            </a:r>
            <a:endParaRPr sz="1500">
              <a:solidFill>
                <a:srgbClr val="434343"/>
              </a:solidFill>
            </a:endParaRPr>
          </a:p>
          <a:p>
            <a:pPr indent="-323850" lvl="0" marL="457200" rtl="0" algn="l">
              <a:spcBef>
                <a:spcPts val="0"/>
              </a:spcBef>
              <a:spcAft>
                <a:spcPts val="0"/>
              </a:spcAft>
              <a:buClr>
                <a:srgbClr val="434343"/>
              </a:buClr>
              <a:buSzPts val="1500"/>
              <a:buChar char="-"/>
            </a:pPr>
            <a:r>
              <a:rPr lang="en" sz="1500">
                <a:solidFill>
                  <a:srgbClr val="434343"/>
                </a:solidFill>
              </a:rPr>
              <a:t>Academic Research</a:t>
            </a:r>
            <a:endParaRPr sz="1500">
              <a:solidFill>
                <a:srgbClr val="434343"/>
              </a:solidFill>
            </a:endParaRPr>
          </a:p>
          <a:p>
            <a:pPr indent="0" lvl="0" marL="0" rtl="0" algn="l">
              <a:spcBef>
                <a:spcPts val="1200"/>
              </a:spcBef>
              <a:spcAft>
                <a:spcPts val="1200"/>
              </a:spcAft>
              <a:buNone/>
            </a:pPr>
            <a:r>
              <a:rPr lang="en" sz="1600" u="sng">
                <a:solidFill>
                  <a:srgbClr val="434343"/>
                </a:solidFill>
              </a:rPr>
              <a:t>Key libs:</a:t>
            </a:r>
            <a:r>
              <a:rPr lang="en" sz="1500">
                <a:solidFill>
                  <a:srgbClr val="434343"/>
                </a:solidFill>
              </a:rPr>
              <a:t> ggplot2 (visualization), dplyr (data manipulation)</a:t>
            </a:r>
            <a:endParaRPr sz="1500">
              <a:solidFill>
                <a:srgbClr val="434343"/>
              </a:solidFill>
            </a:endParaRPr>
          </a:p>
        </p:txBody>
      </p:sp>
      <p:sp>
        <p:nvSpPr>
          <p:cNvPr id="85" name="Google Shape;85;p17"/>
          <p:cNvSpPr txBox="1"/>
          <p:nvPr/>
        </p:nvSpPr>
        <p:spPr>
          <a:xfrm>
            <a:off x="3443000" y="1023375"/>
            <a:ext cx="2920800" cy="3755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D9D9D9"/>
                </a:solidFill>
              </a:rPr>
              <a:t>Some applications of R</a:t>
            </a:r>
            <a:endParaRPr b="1">
              <a:solidFill>
                <a:srgbClr val="D9D9D9"/>
              </a:solidFill>
            </a:endParaRPr>
          </a:p>
          <a:p>
            <a:pPr indent="0" lvl="0" marL="0" rtl="0" algn="l">
              <a:spcBef>
                <a:spcPts val="0"/>
              </a:spcBef>
              <a:spcAft>
                <a:spcPts val="0"/>
              </a:spcAft>
              <a:buNone/>
            </a:pPr>
            <a:r>
              <a:t/>
            </a:r>
            <a:endParaRPr b="1">
              <a:solidFill>
                <a:srgbClr val="CCCCCC"/>
              </a:solidFill>
            </a:endParaRPr>
          </a:p>
          <a:p>
            <a:pPr indent="-304800" lvl="0" marL="457200" rtl="0" algn="l">
              <a:spcBef>
                <a:spcPts val="0"/>
              </a:spcBef>
              <a:spcAft>
                <a:spcPts val="0"/>
              </a:spcAft>
              <a:buClr>
                <a:srgbClr val="CCCCCC"/>
              </a:buClr>
              <a:buSzPts val="1200"/>
              <a:buAutoNum type="arabicPeriod"/>
            </a:pPr>
            <a:r>
              <a:rPr lang="en" sz="1200">
                <a:solidFill>
                  <a:srgbClr val="CCCCCC"/>
                </a:solidFill>
              </a:rPr>
              <a:t>UK Office for National Statistics - Produces official government statistics with R</a:t>
            </a:r>
            <a:endParaRPr sz="1200">
              <a:solidFill>
                <a:srgbClr val="CCCCCC"/>
              </a:solidFill>
            </a:endParaRPr>
          </a:p>
          <a:p>
            <a:pPr indent="0" lvl="0" marL="0" rtl="0" algn="l">
              <a:spcBef>
                <a:spcPts val="0"/>
              </a:spcBef>
              <a:spcAft>
                <a:spcPts val="0"/>
              </a:spcAft>
              <a:buNone/>
            </a:pPr>
            <a:r>
              <a:t/>
            </a:r>
            <a:endParaRPr sz="1200">
              <a:solidFill>
                <a:srgbClr val="CCCCCC"/>
              </a:solidFill>
            </a:endParaRPr>
          </a:p>
          <a:p>
            <a:pPr indent="-304800" lvl="0" marL="457200" rtl="0" algn="l">
              <a:spcBef>
                <a:spcPts val="0"/>
              </a:spcBef>
              <a:spcAft>
                <a:spcPts val="0"/>
              </a:spcAft>
              <a:buClr>
                <a:srgbClr val="CCCCCC"/>
              </a:buClr>
              <a:buSzPts val="1200"/>
              <a:buAutoNum type="arabicPeriod"/>
            </a:pPr>
            <a:r>
              <a:rPr lang="en" sz="1200">
                <a:solidFill>
                  <a:srgbClr val="CCCCCC"/>
                </a:solidFill>
              </a:rPr>
              <a:t>Cancer Research (University of Salzburg) - Analyzes tumor genetics using R</a:t>
            </a:r>
            <a:endParaRPr sz="1200">
              <a:solidFill>
                <a:srgbClr val="CCCCCC"/>
              </a:solidFill>
            </a:endParaRPr>
          </a:p>
          <a:p>
            <a:pPr indent="0" lvl="0" marL="0" rtl="0" algn="l">
              <a:spcBef>
                <a:spcPts val="0"/>
              </a:spcBef>
              <a:spcAft>
                <a:spcPts val="0"/>
              </a:spcAft>
              <a:buNone/>
            </a:pPr>
            <a:r>
              <a:t/>
            </a:r>
            <a:endParaRPr sz="1200">
              <a:solidFill>
                <a:srgbClr val="CCCCCC"/>
              </a:solidFill>
            </a:endParaRPr>
          </a:p>
          <a:p>
            <a:pPr indent="-304800" lvl="0" marL="457200" rtl="0" algn="l">
              <a:spcBef>
                <a:spcPts val="0"/>
              </a:spcBef>
              <a:spcAft>
                <a:spcPts val="0"/>
              </a:spcAft>
              <a:buClr>
                <a:srgbClr val="CCCCCC"/>
              </a:buClr>
              <a:buSzPts val="1200"/>
              <a:buAutoNum type="arabicPeriod"/>
            </a:pPr>
            <a:r>
              <a:rPr lang="en" sz="1200">
                <a:solidFill>
                  <a:srgbClr val="CCCCCC"/>
                </a:solidFill>
              </a:rPr>
              <a:t>Spotify - R is used by developers to analyze user listening habits</a:t>
            </a:r>
            <a:endParaRPr sz="1200">
              <a:solidFill>
                <a:srgbClr val="CCCCCC"/>
              </a:solidFill>
            </a:endParaRPr>
          </a:p>
          <a:p>
            <a:pPr indent="0" lvl="0" marL="0" rtl="0" algn="l">
              <a:spcBef>
                <a:spcPts val="0"/>
              </a:spcBef>
              <a:spcAft>
                <a:spcPts val="0"/>
              </a:spcAft>
              <a:buNone/>
            </a:pPr>
            <a:r>
              <a:t/>
            </a:r>
            <a:endParaRPr sz="1200">
              <a:solidFill>
                <a:srgbClr val="CCCCCC"/>
              </a:solidFill>
            </a:endParaRPr>
          </a:p>
          <a:p>
            <a:pPr indent="-304800" lvl="0" marL="457200" rtl="0" algn="l">
              <a:spcBef>
                <a:spcPts val="0"/>
              </a:spcBef>
              <a:spcAft>
                <a:spcPts val="0"/>
              </a:spcAft>
              <a:buClr>
                <a:srgbClr val="CCCCCC"/>
              </a:buClr>
              <a:buSzPts val="1200"/>
              <a:buAutoNum type="arabicPeriod"/>
            </a:pPr>
            <a:r>
              <a:rPr lang="en" sz="1200">
                <a:solidFill>
                  <a:srgbClr val="CCCCCC"/>
                </a:solidFill>
              </a:rPr>
              <a:t>Netflix - Stock price prediction using machine learning in R</a:t>
            </a:r>
            <a:endParaRPr sz="1200">
              <a:solidFill>
                <a:srgbClr val="CCCCCC"/>
              </a:solidFill>
            </a:endParaRPr>
          </a:p>
          <a:p>
            <a:pPr indent="0" lvl="0" marL="0" rtl="0" algn="l">
              <a:spcBef>
                <a:spcPts val="0"/>
              </a:spcBef>
              <a:spcAft>
                <a:spcPts val="0"/>
              </a:spcAft>
              <a:buNone/>
            </a:pPr>
            <a:r>
              <a:t/>
            </a:r>
            <a:endParaRPr sz="1200">
              <a:solidFill>
                <a:srgbClr val="CCCCCC"/>
              </a:solidFill>
            </a:endParaRPr>
          </a:p>
          <a:p>
            <a:pPr indent="-304800" lvl="0" marL="457200" rtl="0" algn="l">
              <a:spcBef>
                <a:spcPts val="0"/>
              </a:spcBef>
              <a:spcAft>
                <a:spcPts val="0"/>
              </a:spcAft>
              <a:buClr>
                <a:srgbClr val="CCCCCC"/>
              </a:buClr>
              <a:buSzPts val="1200"/>
              <a:buAutoNum type="arabicPeriod"/>
            </a:pPr>
            <a:r>
              <a:rPr lang="en" sz="1200">
                <a:solidFill>
                  <a:srgbClr val="CCCCCC"/>
                </a:solidFill>
              </a:rPr>
              <a:t>Google Play Store - Review analysis and sentiment tracking with R</a:t>
            </a:r>
            <a:endParaRPr sz="1200">
              <a:solidFill>
                <a:srgbClr val="CCCCCC"/>
              </a:solidFill>
            </a:endParaRPr>
          </a:p>
        </p:txBody>
      </p:sp>
      <p:sp>
        <p:nvSpPr>
          <p:cNvPr id="86" name="Google Shape;86;p17"/>
          <p:cNvSpPr txBox="1"/>
          <p:nvPr/>
        </p:nvSpPr>
        <p:spPr>
          <a:xfrm>
            <a:off x="6363800" y="4367200"/>
            <a:ext cx="26964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lt2"/>
                </a:solidFill>
              </a:rPr>
              <a:t>R is used in cancer research to visualize gene expression patterns across different cell samples</a:t>
            </a:r>
            <a:endParaRPr sz="1100">
              <a:solidFill>
                <a:schemeClr val="lt2"/>
              </a:solidFill>
            </a:endParaRPr>
          </a:p>
        </p:txBody>
      </p:sp>
      <p:pic>
        <p:nvPicPr>
          <p:cNvPr id="87" name="Google Shape;87;p17"/>
          <p:cNvPicPr preferRelativeResize="0"/>
          <p:nvPr/>
        </p:nvPicPr>
        <p:blipFill>
          <a:blip r:embed="rId3">
            <a:alphaModFix/>
          </a:blip>
          <a:stretch>
            <a:fillRect/>
          </a:stretch>
        </p:blipFill>
        <p:spPr>
          <a:xfrm>
            <a:off x="6545900" y="590699"/>
            <a:ext cx="2332200" cy="3689227"/>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8"/>
          <p:cNvSpPr txBox="1"/>
          <p:nvPr>
            <p:ph type="title"/>
          </p:nvPr>
        </p:nvSpPr>
        <p:spPr>
          <a:xfrm>
            <a:off x="366775" y="3527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Matlab - "Numerical Computing Perfected"</a:t>
            </a:r>
            <a:endParaRPr/>
          </a:p>
        </p:txBody>
      </p:sp>
      <p:sp>
        <p:nvSpPr>
          <p:cNvPr id="93" name="Google Shape;93;p18"/>
          <p:cNvSpPr txBox="1"/>
          <p:nvPr>
            <p:ph idx="1" type="body"/>
          </p:nvPr>
        </p:nvSpPr>
        <p:spPr>
          <a:xfrm>
            <a:off x="366775" y="1152475"/>
            <a:ext cx="3518700" cy="3416400"/>
          </a:xfrm>
          <a:prstGeom prst="rect">
            <a:avLst/>
          </a:prstGeom>
          <a:solidFill>
            <a:srgbClr val="D9D9D9"/>
          </a:solidFill>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b="1" lang="en" sz="2035">
                <a:solidFill>
                  <a:schemeClr val="lt1"/>
                </a:solidFill>
              </a:rPr>
              <a:t>MATLAB</a:t>
            </a:r>
            <a:r>
              <a:rPr lang="en">
                <a:solidFill>
                  <a:srgbClr val="434343"/>
                </a:solidFill>
              </a:rPr>
              <a:t>(1984) created for numerical computing. It is widely used in the fields of engineering, physics, and mathematical simulations.</a:t>
            </a:r>
            <a:endParaRPr>
              <a:solidFill>
                <a:srgbClr val="434343"/>
              </a:solidFill>
            </a:endParaRPr>
          </a:p>
          <a:p>
            <a:pPr indent="0" lvl="0" marL="0" rtl="0" algn="l">
              <a:spcBef>
                <a:spcPts val="1200"/>
              </a:spcBef>
              <a:spcAft>
                <a:spcPts val="0"/>
              </a:spcAft>
              <a:buNone/>
            </a:pPr>
            <a:r>
              <a:rPr lang="en" sz="1917" u="sng">
                <a:solidFill>
                  <a:srgbClr val="000000"/>
                </a:solidFill>
              </a:rPr>
              <a:t>Best For:</a:t>
            </a:r>
            <a:endParaRPr sz="1917" u="sng">
              <a:solidFill>
                <a:srgbClr val="000000"/>
              </a:solidFill>
            </a:endParaRPr>
          </a:p>
          <a:p>
            <a:pPr indent="-325755" lvl="0" marL="457200" rtl="0" algn="l">
              <a:spcBef>
                <a:spcPts val="1200"/>
              </a:spcBef>
              <a:spcAft>
                <a:spcPts val="0"/>
              </a:spcAft>
              <a:buClr>
                <a:srgbClr val="434343"/>
              </a:buClr>
              <a:buSzPct val="100000"/>
              <a:buChar char="-"/>
            </a:pPr>
            <a:r>
              <a:rPr lang="en">
                <a:solidFill>
                  <a:srgbClr val="434343"/>
                </a:solidFill>
              </a:rPr>
              <a:t>Numerical Computing </a:t>
            </a:r>
            <a:endParaRPr>
              <a:solidFill>
                <a:srgbClr val="434343"/>
              </a:solidFill>
            </a:endParaRPr>
          </a:p>
          <a:p>
            <a:pPr indent="-325755" lvl="0" marL="457200" rtl="0" algn="l">
              <a:spcBef>
                <a:spcPts val="0"/>
              </a:spcBef>
              <a:spcAft>
                <a:spcPts val="0"/>
              </a:spcAft>
              <a:buClr>
                <a:srgbClr val="434343"/>
              </a:buClr>
              <a:buSzPct val="100000"/>
              <a:buChar char="-"/>
            </a:pPr>
            <a:r>
              <a:rPr lang="en">
                <a:solidFill>
                  <a:srgbClr val="434343"/>
                </a:solidFill>
              </a:rPr>
              <a:t>Engineering Simulations                              </a:t>
            </a:r>
            <a:endParaRPr>
              <a:solidFill>
                <a:srgbClr val="434343"/>
              </a:solidFill>
            </a:endParaRPr>
          </a:p>
          <a:p>
            <a:pPr indent="-325755" lvl="0" marL="457200" rtl="0" algn="l">
              <a:spcBef>
                <a:spcPts val="0"/>
              </a:spcBef>
              <a:spcAft>
                <a:spcPts val="0"/>
              </a:spcAft>
              <a:buClr>
                <a:srgbClr val="434343"/>
              </a:buClr>
              <a:buSzPct val="100000"/>
              <a:buChar char="-"/>
            </a:pPr>
            <a:r>
              <a:rPr lang="en">
                <a:solidFill>
                  <a:srgbClr val="434343"/>
                </a:solidFill>
              </a:rPr>
              <a:t>Signal &amp; Image Processing</a:t>
            </a:r>
            <a:endParaRPr>
              <a:solidFill>
                <a:srgbClr val="434343"/>
              </a:solidFill>
            </a:endParaRPr>
          </a:p>
          <a:p>
            <a:pPr indent="0" lvl="0" marL="457200" rtl="0" algn="l">
              <a:spcBef>
                <a:spcPts val="1200"/>
              </a:spcBef>
              <a:spcAft>
                <a:spcPts val="0"/>
              </a:spcAft>
              <a:buNone/>
            </a:pPr>
            <a:r>
              <a:t/>
            </a:r>
            <a:endParaRPr>
              <a:solidFill>
                <a:srgbClr val="434343"/>
              </a:solidFill>
            </a:endParaRPr>
          </a:p>
          <a:p>
            <a:pPr indent="0" lvl="0" marL="0" rtl="0" algn="l">
              <a:spcBef>
                <a:spcPts val="1200"/>
              </a:spcBef>
              <a:spcAft>
                <a:spcPts val="1200"/>
              </a:spcAft>
              <a:buNone/>
            </a:pPr>
            <a:r>
              <a:rPr lang="en" sz="1917" u="sng">
                <a:solidFill>
                  <a:srgbClr val="212121"/>
                </a:solidFill>
              </a:rPr>
              <a:t>Key toolbox:</a:t>
            </a:r>
            <a:r>
              <a:rPr lang="en">
                <a:solidFill>
                  <a:srgbClr val="434343"/>
                </a:solidFill>
              </a:rPr>
              <a:t> simulink, signal processing, control system</a:t>
            </a:r>
            <a:endParaRPr>
              <a:solidFill>
                <a:srgbClr val="434343"/>
              </a:solidFill>
            </a:endParaRPr>
          </a:p>
        </p:txBody>
      </p:sp>
      <p:sp>
        <p:nvSpPr>
          <p:cNvPr id="94" name="Google Shape;94;p18"/>
          <p:cNvSpPr txBox="1"/>
          <p:nvPr/>
        </p:nvSpPr>
        <p:spPr>
          <a:xfrm>
            <a:off x="3864150" y="1054825"/>
            <a:ext cx="2821200" cy="3714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D9D9D9"/>
                </a:solidFill>
              </a:rPr>
              <a:t>W</a:t>
            </a:r>
            <a:r>
              <a:rPr b="1" lang="en">
                <a:solidFill>
                  <a:srgbClr val="D9D9D9"/>
                </a:solidFill>
              </a:rPr>
              <a:t>ide Known Companies that uses Matlab</a:t>
            </a:r>
            <a:endParaRPr b="1">
              <a:solidFill>
                <a:srgbClr val="D9D9D9"/>
              </a:solidFill>
            </a:endParaRPr>
          </a:p>
          <a:p>
            <a:pPr indent="-304800" lvl="0" marL="457200" rtl="0" algn="l">
              <a:lnSpc>
                <a:spcPct val="100000"/>
              </a:lnSpc>
              <a:spcBef>
                <a:spcPts val="1000"/>
              </a:spcBef>
              <a:spcAft>
                <a:spcPts val="0"/>
              </a:spcAft>
              <a:buClr>
                <a:srgbClr val="CCCCCC"/>
              </a:buClr>
              <a:buSzPts val="1200"/>
              <a:buAutoNum type="arabicPeriod"/>
            </a:pPr>
            <a:r>
              <a:rPr lang="en" sz="1200">
                <a:solidFill>
                  <a:srgbClr val="CCCCCC"/>
                </a:solidFill>
              </a:rPr>
              <a:t>NASA: Utilizes MATLAB for data analysis, simulation, and modeling in various aerospace projects.</a:t>
            </a:r>
            <a:endParaRPr sz="1200">
              <a:solidFill>
                <a:srgbClr val="CCCCCC"/>
              </a:solidFill>
            </a:endParaRPr>
          </a:p>
          <a:p>
            <a:pPr indent="-304800" lvl="0" marL="457200" rtl="0" algn="l">
              <a:lnSpc>
                <a:spcPct val="100000"/>
              </a:lnSpc>
              <a:spcBef>
                <a:spcPts val="1000"/>
              </a:spcBef>
              <a:spcAft>
                <a:spcPts val="0"/>
              </a:spcAft>
              <a:buClr>
                <a:srgbClr val="CCCCCC"/>
              </a:buClr>
              <a:buSzPts val="1200"/>
              <a:buAutoNum type="arabicPeriod"/>
            </a:pPr>
            <a:r>
              <a:rPr lang="en" sz="1200">
                <a:solidFill>
                  <a:srgbClr val="CCCCCC"/>
                </a:solidFill>
              </a:rPr>
              <a:t>Tesla: Employs MATLAB for developing algorithms and simulations related to electric vehicle technology and autonomous driving systems.</a:t>
            </a:r>
            <a:endParaRPr sz="1200">
              <a:solidFill>
                <a:srgbClr val="CCCCCC"/>
              </a:solidFill>
            </a:endParaRPr>
          </a:p>
          <a:p>
            <a:pPr indent="-304800" lvl="0" marL="457200" rtl="0" algn="l">
              <a:lnSpc>
                <a:spcPct val="100000"/>
              </a:lnSpc>
              <a:spcBef>
                <a:spcPts val="1000"/>
              </a:spcBef>
              <a:spcAft>
                <a:spcPts val="0"/>
              </a:spcAft>
              <a:buClr>
                <a:srgbClr val="CCCCCC"/>
              </a:buClr>
              <a:buSzPts val="1200"/>
              <a:buAutoNum type="arabicPeriod"/>
            </a:pPr>
            <a:r>
              <a:rPr lang="en" sz="1200">
                <a:solidFill>
                  <a:srgbClr val="CCCCCC"/>
                </a:solidFill>
              </a:rPr>
              <a:t>Intel: For modeling circuit behavior and performance characterization.</a:t>
            </a:r>
            <a:endParaRPr sz="1200">
              <a:solidFill>
                <a:srgbClr val="CCCCCC"/>
              </a:solidFill>
            </a:endParaRPr>
          </a:p>
          <a:p>
            <a:pPr indent="-304800" lvl="0" marL="457200" rtl="0" algn="l">
              <a:lnSpc>
                <a:spcPct val="100000"/>
              </a:lnSpc>
              <a:spcBef>
                <a:spcPts val="1000"/>
              </a:spcBef>
              <a:spcAft>
                <a:spcPts val="0"/>
              </a:spcAft>
              <a:buClr>
                <a:srgbClr val="CCCCCC"/>
              </a:buClr>
              <a:buSzPts val="1200"/>
              <a:buAutoNum type="arabicPeriod"/>
            </a:pPr>
            <a:r>
              <a:rPr lang="en" sz="1200">
                <a:solidFill>
                  <a:srgbClr val="CCCCCC"/>
                </a:solidFill>
              </a:rPr>
              <a:t>Apple: In various engineering and design applications.</a:t>
            </a:r>
            <a:endParaRPr sz="1200">
              <a:solidFill>
                <a:srgbClr val="CCCCCC"/>
              </a:solidFill>
            </a:endParaRPr>
          </a:p>
        </p:txBody>
      </p:sp>
      <p:pic>
        <p:nvPicPr>
          <p:cNvPr id="95" name="Google Shape;95;p18" title="R (1).png"/>
          <p:cNvPicPr preferRelativeResize="0"/>
          <p:nvPr/>
        </p:nvPicPr>
        <p:blipFill>
          <a:blip r:embed="rId3">
            <a:alphaModFix/>
          </a:blip>
          <a:stretch>
            <a:fillRect/>
          </a:stretch>
        </p:blipFill>
        <p:spPr>
          <a:xfrm>
            <a:off x="6719100" y="3107101"/>
            <a:ext cx="2362373" cy="1574538"/>
          </a:xfrm>
          <a:prstGeom prst="rect">
            <a:avLst/>
          </a:prstGeom>
          <a:noFill/>
          <a:ln>
            <a:noFill/>
          </a:ln>
        </p:spPr>
      </p:pic>
      <p:pic>
        <p:nvPicPr>
          <p:cNvPr id="96" name="Google Shape;96;p18" title="R.png"/>
          <p:cNvPicPr preferRelativeResize="0"/>
          <p:nvPr/>
        </p:nvPicPr>
        <p:blipFill>
          <a:blip r:embed="rId4">
            <a:alphaModFix/>
          </a:blip>
          <a:stretch>
            <a:fillRect/>
          </a:stretch>
        </p:blipFill>
        <p:spPr>
          <a:xfrm>
            <a:off x="6719100" y="704275"/>
            <a:ext cx="2362377" cy="199610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pic>
        <p:nvPicPr>
          <p:cNvPr id="101" name="Google Shape;101;p19"/>
          <p:cNvPicPr preferRelativeResize="0"/>
          <p:nvPr/>
        </p:nvPicPr>
        <p:blipFill>
          <a:blip r:embed="rId3">
            <a:alphaModFix/>
          </a:blip>
          <a:stretch>
            <a:fillRect/>
          </a:stretch>
        </p:blipFill>
        <p:spPr>
          <a:xfrm>
            <a:off x="738375" y="532200"/>
            <a:ext cx="7782049" cy="3241550"/>
          </a:xfrm>
          <a:prstGeom prst="rect">
            <a:avLst/>
          </a:prstGeom>
          <a:noFill/>
          <a:ln>
            <a:noFill/>
          </a:ln>
        </p:spPr>
      </p:pic>
      <p:sp>
        <p:nvSpPr>
          <p:cNvPr id="102" name="Google Shape;102;p19"/>
          <p:cNvSpPr txBox="1"/>
          <p:nvPr/>
        </p:nvSpPr>
        <p:spPr>
          <a:xfrm>
            <a:off x="1232950" y="3878250"/>
            <a:ext cx="6792900" cy="1031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900">
                <a:solidFill>
                  <a:schemeClr val="lt2"/>
                </a:solidFill>
              </a:rPr>
              <a:t>“Aerospace Toolbox</a:t>
            </a:r>
            <a:r>
              <a:rPr lang="en" sz="1800">
                <a:solidFill>
                  <a:schemeClr val="lt2"/>
                </a:solidFill>
              </a:rPr>
              <a:t> provides standards-based tools and functions for analyzing the motion, mission, and environment of aerospace vehicles.” - Matlab Help Center</a:t>
            </a:r>
            <a:endParaRPr sz="1800">
              <a:solidFill>
                <a:schemeClr val="lt2"/>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Web Scraping Libraries</a:t>
            </a:r>
            <a:endParaRPr/>
          </a:p>
        </p:txBody>
      </p:sp>
      <p:sp>
        <p:nvSpPr>
          <p:cNvPr id="108" name="Google Shape;108;p20"/>
          <p:cNvSpPr txBox="1"/>
          <p:nvPr>
            <p:ph idx="1" type="body"/>
          </p:nvPr>
        </p:nvSpPr>
        <p:spPr>
          <a:xfrm>
            <a:off x="311700" y="1217575"/>
            <a:ext cx="8520600" cy="935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They are tools that help you automatically extract data from websites. They read the HTML code of webpages and pull out the information you want.</a:t>
            </a:r>
            <a:endParaRPr/>
          </a:p>
        </p:txBody>
      </p:sp>
      <p:graphicFrame>
        <p:nvGraphicFramePr>
          <p:cNvPr id="109" name="Google Shape;109;p20"/>
          <p:cNvGraphicFramePr/>
          <p:nvPr/>
        </p:nvGraphicFramePr>
        <p:xfrm>
          <a:off x="952500" y="2478525"/>
          <a:ext cx="3000000" cy="3000000"/>
        </p:xfrm>
        <a:graphic>
          <a:graphicData uri="http://schemas.openxmlformats.org/drawingml/2006/table">
            <a:tbl>
              <a:tblPr>
                <a:noFill/>
                <a:tableStyleId>{8554302A-EE12-4A59-B90C-5DA35D9742C2}</a:tableStyleId>
              </a:tblPr>
              <a:tblGrid>
                <a:gridCol w="1809750"/>
                <a:gridCol w="1809750"/>
                <a:gridCol w="1809750"/>
                <a:gridCol w="1809750"/>
              </a:tblGrid>
              <a:tr h="381000">
                <a:tc>
                  <a:txBody>
                    <a:bodyPr/>
                    <a:lstStyle/>
                    <a:p>
                      <a:pPr indent="0" lvl="0" marL="0" rtl="0" algn="l">
                        <a:spcBef>
                          <a:spcPts val="0"/>
                        </a:spcBef>
                        <a:spcAft>
                          <a:spcPts val="0"/>
                        </a:spcAft>
                        <a:buNone/>
                      </a:pPr>
                      <a:r>
                        <a:rPr b="1" lang="en" sz="1700">
                          <a:solidFill>
                            <a:schemeClr val="dk1"/>
                          </a:solidFill>
                        </a:rPr>
                        <a:t>L</a:t>
                      </a:r>
                      <a:r>
                        <a:rPr b="1" lang="en" sz="1700">
                          <a:solidFill>
                            <a:schemeClr val="dk1"/>
                          </a:solidFill>
                        </a:rPr>
                        <a:t>ibraries</a:t>
                      </a:r>
                      <a:endParaRPr b="1" sz="1700">
                        <a:solidFill>
                          <a:schemeClr val="dk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000000"/>
                    </a:solidFill>
                  </a:tcPr>
                </a:tc>
                <a:tc>
                  <a:txBody>
                    <a:bodyPr/>
                    <a:lstStyle/>
                    <a:p>
                      <a:pPr indent="0" lvl="0" marL="0" rtl="0" algn="l">
                        <a:spcBef>
                          <a:spcPts val="0"/>
                        </a:spcBef>
                        <a:spcAft>
                          <a:spcPts val="0"/>
                        </a:spcAft>
                        <a:buNone/>
                      </a:pPr>
                      <a:r>
                        <a:rPr lang="en" sz="1500">
                          <a:solidFill>
                            <a:schemeClr val="dk1"/>
                          </a:solidFill>
                        </a:rPr>
                        <a:t>Beautifulsoup</a:t>
                      </a:r>
                      <a:endParaRPr sz="1600">
                        <a:solidFill>
                          <a:schemeClr val="dk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666666"/>
                    </a:solidFill>
                  </a:tcPr>
                </a:tc>
                <a:tc>
                  <a:txBody>
                    <a:bodyPr/>
                    <a:lstStyle/>
                    <a:p>
                      <a:pPr indent="0" lvl="0" marL="0" rtl="0" algn="l">
                        <a:spcBef>
                          <a:spcPts val="0"/>
                        </a:spcBef>
                        <a:spcAft>
                          <a:spcPts val="0"/>
                        </a:spcAft>
                        <a:buNone/>
                      </a:pPr>
                      <a:r>
                        <a:rPr lang="en" sz="1500">
                          <a:solidFill>
                            <a:schemeClr val="dk1"/>
                          </a:solidFill>
                        </a:rPr>
                        <a:t>Scrapy</a:t>
                      </a:r>
                      <a:endParaRPr sz="1500">
                        <a:solidFill>
                          <a:schemeClr val="dk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666666"/>
                    </a:solidFill>
                  </a:tcPr>
                </a:tc>
                <a:tc>
                  <a:txBody>
                    <a:bodyPr/>
                    <a:lstStyle/>
                    <a:p>
                      <a:pPr indent="0" lvl="0" marL="0" rtl="0" algn="l">
                        <a:spcBef>
                          <a:spcPts val="0"/>
                        </a:spcBef>
                        <a:spcAft>
                          <a:spcPts val="0"/>
                        </a:spcAft>
                        <a:buNone/>
                      </a:pPr>
                      <a:r>
                        <a:rPr lang="en" sz="1500">
                          <a:solidFill>
                            <a:schemeClr val="dk1"/>
                          </a:solidFill>
                        </a:rPr>
                        <a:t>selenium</a:t>
                      </a:r>
                      <a:endParaRPr sz="1500">
                        <a:solidFill>
                          <a:schemeClr val="dk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666666"/>
                    </a:solidFill>
                  </a:tcPr>
                </a:tc>
              </a:tr>
              <a:tr h="381000">
                <a:tc>
                  <a:txBody>
                    <a:bodyPr/>
                    <a:lstStyle/>
                    <a:p>
                      <a:pPr indent="0" lvl="0" marL="0" rtl="0" algn="l">
                        <a:spcBef>
                          <a:spcPts val="0"/>
                        </a:spcBef>
                        <a:spcAft>
                          <a:spcPts val="0"/>
                        </a:spcAft>
                        <a:buNone/>
                      </a:pPr>
                      <a:r>
                        <a:rPr b="1" lang="en" sz="1700">
                          <a:solidFill>
                            <a:schemeClr val="dk1"/>
                          </a:solidFill>
                        </a:rPr>
                        <a:t>Best for</a:t>
                      </a:r>
                      <a:endParaRPr b="1" sz="1700">
                        <a:solidFill>
                          <a:schemeClr val="dk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000000"/>
                    </a:solidFill>
                  </a:tcPr>
                </a:tc>
                <a:tc>
                  <a:txBody>
                    <a:bodyPr/>
                    <a:lstStyle/>
                    <a:p>
                      <a:pPr indent="0" lvl="0" marL="0" rtl="0" algn="l">
                        <a:spcBef>
                          <a:spcPts val="0"/>
                        </a:spcBef>
                        <a:spcAft>
                          <a:spcPts val="0"/>
                        </a:spcAft>
                        <a:buNone/>
                      </a:pPr>
                      <a:r>
                        <a:rPr lang="en"/>
                        <a:t>Html, parsing, simple static sites</a:t>
                      </a:r>
                      <a:endParaRPr/>
                    </a:p>
                  </a:txBody>
                  <a:tcPr marT="91425" marB="91425" marR="91425" marL="91425">
                    <a:lnL cap="flat" cmpd="sng" w="9525">
                      <a:solidFill>
                        <a:schemeClr val="dk1"/>
                      </a:solidFill>
                      <a:prstDash val="solid"/>
                      <a:round/>
                      <a:headEnd len="sm" w="sm" type="none"/>
                      <a:tailEnd len="sm" w="sm" type="none"/>
                    </a:lnL>
                    <a:lnT cap="flat" cmpd="sng" w="9525">
                      <a:solidFill>
                        <a:schemeClr val="dk1"/>
                      </a:solidFill>
                      <a:prstDash val="solid"/>
                      <a:round/>
                      <a:headEnd len="sm" w="sm" type="none"/>
                      <a:tailEnd len="sm" w="sm" type="none"/>
                    </a:lnT>
                    <a:solidFill>
                      <a:srgbClr val="EFEFEF"/>
                    </a:solidFill>
                  </a:tcPr>
                </a:tc>
                <a:tc>
                  <a:txBody>
                    <a:bodyPr/>
                    <a:lstStyle/>
                    <a:p>
                      <a:pPr indent="0" lvl="0" marL="0" rtl="0" algn="l">
                        <a:spcBef>
                          <a:spcPts val="0"/>
                        </a:spcBef>
                        <a:spcAft>
                          <a:spcPts val="0"/>
                        </a:spcAft>
                        <a:buNone/>
                      </a:pPr>
                      <a:r>
                        <a:rPr lang="en"/>
                        <a:t>scale large projects, fast built in explore feature</a:t>
                      </a:r>
                      <a:endParaRPr/>
                    </a:p>
                  </a:txBody>
                  <a:tcPr marT="91425" marB="91425" marR="91425" marL="91425">
                    <a:lnT cap="flat" cmpd="sng" w="9525">
                      <a:solidFill>
                        <a:schemeClr val="dk1"/>
                      </a:solidFill>
                      <a:prstDash val="solid"/>
                      <a:round/>
                      <a:headEnd len="sm" w="sm" type="none"/>
                      <a:tailEnd len="sm" w="sm" type="none"/>
                    </a:lnT>
                    <a:solidFill>
                      <a:srgbClr val="EFEFEF"/>
                    </a:solidFill>
                  </a:tcPr>
                </a:tc>
                <a:tc>
                  <a:txBody>
                    <a:bodyPr/>
                    <a:lstStyle/>
                    <a:p>
                      <a:pPr indent="0" lvl="0" marL="0" rtl="0" algn="l">
                        <a:spcBef>
                          <a:spcPts val="0"/>
                        </a:spcBef>
                        <a:spcAft>
                          <a:spcPts val="0"/>
                        </a:spcAft>
                        <a:buNone/>
                      </a:pPr>
                      <a:r>
                        <a:rPr lang="en"/>
                        <a:t>Java, sites, login, clicking</a:t>
                      </a:r>
                      <a:endParaRPr/>
                    </a:p>
                  </a:txBody>
                  <a:tcPr marT="91425" marB="91425" marR="91425" marL="91425">
                    <a:lnT cap="flat" cmpd="sng" w="9525">
                      <a:solidFill>
                        <a:schemeClr val="dk1"/>
                      </a:solidFill>
                      <a:prstDash val="solid"/>
                      <a:round/>
                      <a:headEnd len="sm" w="sm" type="none"/>
                      <a:tailEnd len="sm" w="sm" type="none"/>
                    </a:lnT>
                    <a:solidFill>
                      <a:srgbClr val="EFEFEF"/>
                    </a:solidFill>
                  </a:tcPr>
                </a:tc>
              </a:tr>
              <a:tr h="381000">
                <a:tc>
                  <a:txBody>
                    <a:bodyPr/>
                    <a:lstStyle/>
                    <a:p>
                      <a:pPr indent="0" lvl="0" marL="0" rtl="0" algn="l">
                        <a:spcBef>
                          <a:spcPts val="0"/>
                        </a:spcBef>
                        <a:spcAft>
                          <a:spcPts val="0"/>
                        </a:spcAft>
                        <a:buNone/>
                      </a:pPr>
                      <a:r>
                        <a:rPr b="1" lang="en" sz="1700">
                          <a:solidFill>
                            <a:schemeClr val="dk1"/>
                          </a:solidFill>
                        </a:rPr>
                        <a:t>D</a:t>
                      </a:r>
                      <a:r>
                        <a:rPr b="1" lang="en" sz="1700">
                          <a:solidFill>
                            <a:schemeClr val="dk1"/>
                          </a:solidFill>
                        </a:rPr>
                        <a:t>ifficulty</a:t>
                      </a:r>
                      <a:endParaRPr b="1" sz="1700">
                        <a:solidFill>
                          <a:schemeClr val="dk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000000"/>
                    </a:solidFill>
                  </a:tcPr>
                </a:tc>
                <a:tc>
                  <a:txBody>
                    <a:bodyPr/>
                    <a:lstStyle/>
                    <a:p>
                      <a:pPr indent="0" lvl="0" marL="0" rtl="0" algn="l">
                        <a:spcBef>
                          <a:spcPts val="0"/>
                        </a:spcBef>
                        <a:spcAft>
                          <a:spcPts val="0"/>
                        </a:spcAft>
                        <a:buNone/>
                      </a:pPr>
                      <a:r>
                        <a:rPr lang="en"/>
                        <a:t>beginner</a:t>
                      </a:r>
                      <a:endParaRPr/>
                    </a:p>
                  </a:txBody>
                  <a:tcPr marT="91425" marB="91425" marR="91425" marL="91425">
                    <a:lnL cap="flat" cmpd="sng" w="9525">
                      <a:solidFill>
                        <a:schemeClr val="dk1"/>
                      </a:solidFill>
                      <a:prstDash val="solid"/>
                      <a:round/>
                      <a:headEnd len="sm" w="sm" type="none"/>
                      <a:tailEnd len="sm" w="sm" type="none"/>
                    </a:lnL>
                    <a:solidFill>
                      <a:srgbClr val="EFEFEF"/>
                    </a:solidFill>
                  </a:tcPr>
                </a:tc>
                <a:tc>
                  <a:txBody>
                    <a:bodyPr/>
                    <a:lstStyle/>
                    <a:p>
                      <a:pPr indent="0" lvl="0" marL="0" rtl="0" algn="l">
                        <a:spcBef>
                          <a:spcPts val="0"/>
                        </a:spcBef>
                        <a:spcAft>
                          <a:spcPts val="0"/>
                        </a:spcAft>
                        <a:buNone/>
                      </a:pPr>
                      <a:r>
                        <a:rPr lang="en"/>
                        <a:t>intermediate</a:t>
                      </a:r>
                      <a:endParaRPr/>
                    </a:p>
                  </a:txBody>
                  <a:tcPr marT="91425" marB="91425" marR="91425" marL="91425">
                    <a:solidFill>
                      <a:srgbClr val="EFEFEF"/>
                    </a:solidFill>
                  </a:tcPr>
                </a:tc>
                <a:tc>
                  <a:txBody>
                    <a:bodyPr/>
                    <a:lstStyle/>
                    <a:p>
                      <a:pPr indent="0" lvl="0" marL="0" rtl="0" algn="l">
                        <a:spcBef>
                          <a:spcPts val="0"/>
                        </a:spcBef>
                        <a:spcAft>
                          <a:spcPts val="0"/>
                        </a:spcAft>
                        <a:buNone/>
                      </a:pPr>
                      <a:r>
                        <a:rPr lang="en"/>
                        <a:t>advanced</a:t>
                      </a:r>
                      <a:endParaRPr/>
                    </a:p>
                  </a:txBody>
                  <a:tcPr marT="91425" marB="91425" marR="91425" marL="91425">
                    <a:solidFill>
                      <a:srgbClr val="EFEFEF"/>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pic>
        <p:nvPicPr>
          <p:cNvPr id="114" name="Google Shape;114;p21"/>
          <p:cNvPicPr preferRelativeResize="0"/>
          <p:nvPr/>
        </p:nvPicPr>
        <p:blipFill>
          <a:blip r:embed="rId3">
            <a:alphaModFix/>
          </a:blip>
          <a:stretch>
            <a:fillRect/>
          </a:stretch>
        </p:blipFill>
        <p:spPr>
          <a:xfrm>
            <a:off x="1270075" y="152400"/>
            <a:ext cx="6043945" cy="483870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APIs - RESTful vs GraphQL</a:t>
            </a:r>
            <a:endParaRPr/>
          </a:p>
        </p:txBody>
      </p:sp>
      <p:sp>
        <p:nvSpPr>
          <p:cNvPr id="120" name="Google Shape;120;p22"/>
          <p:cNvSpPr txBox="1"/>
          <p:nvPr>
            <p:ph idx="1" type="body"/>
          </p:nvPr>
        </p:nvSpPr>
        <p:spPr>
          <a:xfrm>
            <a:off x="414525" y="1369500"/>
            <a:ext cx="3266400" cy="1803300"/>
          </a:xfrm>
          <a:prstGeom prst="rect">
            <a:avLst/>
          </a:prstGeom>
          <a:solidFill>
            <a:srgbClr val="EFEFEF"/>
          </a:solidFill>
        </p:spPr>
        <p:txBody>
          <a:bodyPr anchorCtr="0" anchor="t" bIns="91425" lIns="91425" spcFirstLastPara="1" rIns="91425" wrap="square" tIns="91425">
            <a:noAutofit/>
          </a:bodyPr>
          <a:lstStyle/>
          <a:p>
            <a:pPr indent="0" lvl="0" marL="0" rtl="0" algn="l">
              <a:spcBef>
                <a:spcPts val="0"/>
              </a:spcBef>
              <a:spcAft>
                <a:spcPts val="1200"/>
              </a:spcAft>
              <a:buNone/>
            </a:pPr>
            <a:r>
              <a:rPr b="1" lang="en">
                <a:solidFill>
                  <a:srgbClr val="000000"/>
                </a:solidFill>
              </a:rPr>
              <a:t>APIs</a:t>
            </a:r>
            <a:r>
              <a:rPr lang="en" sz="1500">
                <a:solidFill>
                  <a:srgbClr val="434343"/>
                </a:solidFill>
              </a:rPr>
              <a:t>, Application Programming Interfaces, the invisible backbone of modern software development. They enable applications and systems to communicate and share data efficiently.</a:t>
            </a:r>
            <a:endParaRPr sz="1500">
              <a:solidFill>
                <a:srgbClr val="434343"/>
              </a:solidFill>
            </a:endParaRPr>
          </a:p>
        </p:txBody>
      </p:sp>
      <p:graphicFrame>
        <p:nvGraphicFramePr>
          <p:cNvPr id="121" name="Google Shape;121;p22"/>
          <p:cNvGraphicFramePr/>
          <p:nvPr/>
        </p:nvGraphicFramePr>
        <p:xfrm>
          <a:off x="4227175" y="1132175"/>
          <a:ext cx="3000000" cy="3000000"/>
        </p:xfrm>
        <a:graphic>
          <a:graphicData uri="http://schemas.openxmlformats.org/drawingml/2006/table">
            <a:tbl>
              <a:tblPr>
                <a:noFill/>
                <a:tableStyleId>{8554302A-EE12-4A59-B90C-5DA35D9742C2}</a:tableStyleId>
              </a:tblPr>
              <a:tblGrid>
                <a:gridCol w="640650"/>
                <a:gridCol w="2105550"/>
                <a:gridCol w="1714875"/>
              </a:tblGrid>
              <a:tr h="467800">
                <a:tc>
                  <a:txBody>
                    <a:bodyPr/>
                    <a:lstStyle/>
                    <a:p>
                      <a:pPr indent="0" lvl="0" marL="0" rtl="0" algn="l">
                        <a:spcBef>
                          <a:spcPts val="0"/>
                        </a:spcBef>
                        <a:spcAft>
                          <a:spcPts val="0"/>
                        </a:spcAft>
                        <a:buNone/>
                      </a:pPr>
                      <a:r>
                        <a:rPr lang="en">
                          <a:solidFill>
                            <a:srgbClr val="F3F3F3"/>
                          </a:solidFill>
                        </a:rPr>
                        <a:t>APIs</a:t>
                      </a:r>
                      <a:endParaRPr>
                        <a:solidFill>
                          <a:srgbClr val="F3F3F3"/>
                        </a:solidFill>
                      </a:endParaRPr>
                    </a:p>
                  </a:txBody>
                  <a:tcPr marT="91425" marB="91425" marR="91425" marL="91425">
                    <a:lnR cap="flat" cmpd="sng" w="9525">
                      <a:solidFill>
                        <a:schemeClr val="dk1"/>
                      </a:solidFill>
                      <a:prstDash val="solid"/>
                      <a:round/>
                      <a:headEnd len="sm" w="sm" type="none"/>
                      <a:tailEnd len="sm" w="sm" type="none"/>
                    </a:lnR>
                  </a:tcPr>
                </a:tc>
                <a:tc>
                  <a:txBody>
                    <a:bodyPr/>
                    <a:lstStyle/>
                    <a:p>
                      <a:pPr indent="0" lvl="0" marL="0" rtl="0" algn="l">
                        <a:spcBef>
                          <a:spcPts val="0"/>
                        </a:spcBef>
                        <a:spcAft>
                          <a:spcPts val="0"/>
                        </a:spcAft>
                        <a:buNone/>
                      </a:pPr>
                      <a:r>
                        <a:rPr lang="en" sz="1500">
                          <a:solidFill>
                            <a:srgbClr val="0F1115"/>
                          </a:solidFill>
                          <a:latin typeface="Roboto Mono"/>
                          <a:ea typeface="Roboto Mono"/>
                          <a:cs typeface="Roboto Mono"/>
                          <a:sym typeface="Roboto Mono"/>
                        </a:rPr>
                        <a:t>RESTful</a:t>
                      </a:r>
                      <a:endParaRPr sz="1500">
                        <a:solidFill>
                          <a:srgbClr val="0F1115"/>
                        </a:solidFill>
                        <a:latin typeface="Roboto Mono"/>
                        <a:ea typeface="Roboto Mono"/>
                        <a:cs typeface="Roboto Mono"/>
                        <a:sym typeface="Roboto Mon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rPr lang="en" sz="1500">
                          <a:solidFill>
                            <a:srgbClr val="0F1115"/>
                          </a:solidFill>
                          <a:latin typeface="Roboto Mono"/>
                          <a:ea typeface="Roboto Mono"/>
                          <a:cs typeface="Roboto Mono"/>
                          <a:sym typeface="Roboto Mono"/>
                        </a:rPr>
                        <a:t>GraphQL   </a:t>
                      </a:r>
                      <a:endParaRPr sz="1500">
                        <a:solidFill>
                          <a:srgbClr val="0F1115"/>
                        </a:solidFill>
                        <a:latin typeface="Roboto Mono"/>
                        <a:ea typeface="Roboto Mono"/>
                        <a:cs typeface="Roboto Mono"/>
                        <a:sym typeface="Roboto Mon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999999"/>
                    </a:solidFill>
                  </a:tcPr>
                </a:tc>
              </a:tr>
              <a:tr h="1075475">
                <a:tc>
                  <a:txBody>
                    <a:bodyPr/>
                    <a:lstStyle/>
                    <a:p>
                      <a:pPr indent="0" lvl="0" marL="0" rtl="0" algn="l">
                        <a:spcBef>
                          <a:spcPts val="0"/>
                        </a:spcBef>
                        <a:spcAft>
                          <a:spcPts val="0"/>
                        </a:spcAft>
                        <a:buNone/>
                      </a:pPr>
                      <a:r>
                        <a:rPr lang="en">
                          <a:solidFill>
                            <a:srgbClr val="F3F3F3"/>
                          </a:solidFill>
                        </a:rPr>
                        <a:t>Ex / diff</a:t>
                      </a:r>
                      <a:endParaRPr>
                        <a:solidFill>
                          <a:srgbClr val="F3F3F3"/>
                        </a:solidFill>
                      </a:endParaRPr>
                    </a:p>
                  </a:txBody>
                  <a:tcPr marT="91425" marB="91425" marR="91425" marL="91425"/>
                </a:tc>
                <a:tc>
                  <a:txBody>
                    <a:bodyPr/>
                    <a:lstStyle/>
                    <a:p>
                      <a:pPr indent="0" lvl="0" marL="0" rtl="0" algn="l">
                        <a:spcBef>
                          <a:spcPts val="0"/>
                        </a:spcBef>
                        <a:spcAft>
                          <a:spcPts val="0"/>
                        </a:spcAft>
                        <a:buNone/>
                      </a:pPr>
                      <a:r>
                        <a:rPr lang="en" sz="1100">
                          <a:latin typeface="Courier New"/>
                          <a:ea typeface="Courier New"/>
                          <a:cs typeface="Courier New"/>
                          <a:sym typeface="Courier New"/>
                        </a:rPr>
                        <a:t>GET /pizzas</a:t>
                      </a:r>
                      <a:endParaRPr sz="1100">
                        <a:latin typeface="Courier New"/>
                        <a:ea typeface="Courier New"/>
                        <a:cs typeface="Courier New"/>
                        <a:sym typeface="Courier New"/>
                      </a:endParaRPr>
                    </a:p>
                    <a:p>
                      <a:pPr indent="0" lvl="0" marL="0" rtl="0" algn="l">
                        <a:spcBef>
                          <a:spcPts val="0"/>
                        </a:spcBef>
                        <a:spcAft>
                          <a:spcPts val="0"/>
                        </a:spcAft>
                        <a:buNone/>
                      </a:pPr>
                      <a:r>
                        <a:rPr lang="en" sz="1100">
                          <a:latin typeface="Courier New"/>
                          <a:ea typeface="Courier New"/>
                          <a:cs typeface="Courier New"/>
                          <a:sym typeface="Courier New"/>
                        </a:rPr>
                        <a:t>GET /pizzas/123</a:t>
                      </a:r>
                      <a:endParaRPr sz="1100">
                        <a:latin typeface="Courier New"/>
                        <a:ea typeface="Courier New"/>
                        <a:cs typeface="Courier New"/>
                        <a:sym typeface="Courier New"/>
                      </a:endParaRPr>
                    </a:p>
                    <a:p>
                      <a:pPr indent="0" lvl="0" marL="0" rtl="0" algn="l">
                        <a:spcBef>
                          <a:spcPts val="0"/>
                        </a:spcBef>
                        <a:spcAft>
                          <a:spcPts val="0"/>
                        </a:spcAft>
                        <a:buNone/>
                      </a:pPr>
                      <a:r>
                        <a:rPr lang="en" sz="1100">
                          <a:latin typeface="Courier New"/>
                          <a:ea typeface="Courier New"/>
                          <a:cs typeface="Courier New"/>
                          <a:sym typeface="Courier New"/>
                        </a:rPr>
                        <a:t>POST /orders</a:t>
                      </a:r>
                      <a:endParaRPr sz="1100">
                        <a:latin typeface="Courier New"/>
                        <a:ea typeface="Courier New"/>
                        <a:cs typeface="Courier New"/>
                        <a:sym typeface="Courier New"/>
                      </a:endParaRPr>
                    </a:p>
                    <a:p>
                      <a:pPr indent="0" lvl="0" marL="0" rtl="0" algn="l">
                        <a:spcBef>
                          <a:spcPts val="0"/>
                        </a:spcBef>
                        <a:spcAft>
                          <a:spcPts val="0"/>
                        </a:spcAft>
                        <a:buNone/>
                      </a:pPr>
                      <a:r>
                        <a:rPr lang="en" sz="1100">
                          <a:latin typeface="Courier New"/>
                          <a:ea typeface="Courier New"/>
                          <a:cs typeface="Courier New"/>
                          <a:sym typeface="Courier New"/>
                        </a:rPr>
                        <a:t>    {</a:t>
                      </a:r>
                      <a:endParaRPr sz="1100">
                        <a:latin typeface="Courier New"/>
                        <a:ea typeface="Courier New"/>
                        <a:cs typeface="Courier New"/>
                        <a:sym typeface="Courier New"/>
                      </a:endParaRPr>
                    </a:p>
                    <a:p>
                      <a:pPr indent="0" lvl="0" marL="0" rtl="0" algn="l">
                        <a:spcBef>
                          <a:spcPts val="0"/>
                        </a:spcBef>
                        <a:spcAft>
                          <a:spcPts val="0"/>
                        </a:spcAft>
                        <a:buNone/>
                      </a:pPr>
                      <a:r>
                        <a:rPr lang="en" sz="1100">
                          <a:latin typeface="Courier New"/>
                          <a:ea typeface="Courier New"/>
                          <a:cs typeface="Courier New"/>
                          <a:sym typeface="Courier New"/>
                        </a:rPr>
                        <a:t>      "pizzaId": 123,</a:t>
                      </a:r>
                      <a:endParaRPr sz="1100">
                        <a:latin typeface="Courier New"/>
                        <a:ea typeface="Courier New"/>
                        <a:cs typeface="Courier New"/>
                        <a:sym typeface="Courier New"/>
                      </a:endParaRPr>
                    </a:p>
                    <a:p>
                      <a:pPr indent="0" lvl="0" marL="0" rtl="0" algn="l">
                        <a:spcBef>
                          <a:spcPts val="0"/>
                        </a:spcBef>
                        <a:spcAft>
                          <a:spcPts val="0"/>
                        </a:spcAft>
                        <a:buNone/>
                      </a:pPr>
                      <a:r>
                        <a:rPr lang="en" sz="1100">
                          <a:latin typeface="Courier New"/>
                          <a:ea typeface="Courier New"/>
                          <a:cs typeface="Courier New"/>
                          <a:sym typeface="Courier New"/>
                        </a:rPr>
                        <a:t>      "</a:t>
                      </a:r>
                      <a:r>
                        <a:rPr lang="en" sz="1100">
                          <a:latin typeface="Courier New"/>
                          <a:ea typeface="Courier New"/>
                          <a:cs typeface="Courier New"/>
                          <a:sym typeface="Courier New"/>
                        </a:rPr>
                        <a:t>Address</a:t>
                      </a:r>
                      <a:r>
                        <a:rPr lang="en" sz="1100">
                          <a:latin typeface="Courier New"/>
                          <a:ea typeface="Courier New"/>
                          <a:cs typeface="Courier New"/>
                          <a:sym typeface="Courier New"/>
                        </a:rPr>
                        <a:t>": </a:t>
                      </a:r>
                      <a:endParaRPr sz="1100">
                        <a:latin typeface="Courier New"/>
                        <a:ea typeface="Courier New"/>
                        <a:cs typeface="Courier New"/>
                        <a:sym typeface="Courier New"/>
                      </a:endParaRPr>
                    </a:p>
                    <a:p>
                      <a:pPr indent="0" lvl="0" marL="0" rtl="0" algn="l">
                        <a:spcBef>
                          <a:spcPts val="0"/>
                        </a:spcBef>
                        <a:spcAft>
                          <a:spcPts val="0"/>
                        </a:spcAft>
                        <a:buNone/>
                      </a:pPr>
                      <a:r>
                        <a:rPr lang="en" sz="1100">
                          <a:latin typeface="Courier New"/>
                          <a:ea typeface="Courier New"/>
                          <a:cs typeface="Courier New"/>
                          <a:sym typeface="Courier New"/>
                        </a:rPr>
                        <a:t>      "123 GFG Office"</a:t>
                      </a:r>
                      <a:endParaRPr sz="1100">
                        <a:latin typeface="Courier New"/>
                        <a:ea typeface="Courier New"/>
                        <a:cs typeface="Courier New"/>
                        <a:sym typeface="Courier New"/>
                      </a:endParaRPr>
                    </a:p>
                    <a:p>
                      <a:pPr indent="0" lvl="0" marL="0" rtl="0" algn="l">
                        <a:spcBef>
                          <a:spcPts val="0"/>
                        </a:spcBef>
                        <a:spcAft>
                          <a:spcPts val="0"/>
                        </a:spcAft>
                        <a:buNone/>
                      </a:pPr>
                      <a:r>
                        <a:rPr lang="en" sz="1100">
                          <a:latin typeface="Courier New"/>
                          <a:ea typeface="Courier New"/>
                          <a:cs typeface="Courier New"/>
                          <a:sym typeface="Courier New"/>
                        </a:rPr>
                        <a:t>    }</a:t>
                      </a:r>
                      <a:endParaRPr sz="1100">
                        <a:latin typeface="Courier New"/>
                        <a:ea typeface="Courier New"/>
                        <a:cs typeface="Courier New"/>
                        <a:sym typeface="Courier New"/>
                      </a:endParaRPr>
                    </a:p>
                    <a:p>
                      <a:pPr indent="0" lvl="0" marL="0" rtl="0" algn="l">
                        <a:spcBef>
                          <a:spcPts val="0"/>
                        </a:spcBef>
                        <a:spcAft>
                          <a:spcPts val="0"/>
                        </a:spcAft>
                        <a:buNone/>
                      </a:pPr>
                      <a:r>
                        <a:t/>
                      </a:r>
                      <a:endParaRPr sz="1100">
                        <a:latin typeface="Courier New"/>
                        <a:ea typeface="Courier New"/>
                        <a:cs typeface="Courier New"/>
                        <a:sym typeface="Courier New"/>
                      </a:endParaRPr>
                    </a:p>
                    <a:p>
                      <a:pPr indent="0" lvl="0" marL="0" rtl="0" algn="l">
                        <a:spcBef>
                          <a:spcPts val="0"/>
                        </a:spcBef>
                        <a:spcAft>
                          <a:spcPts val="0"/>
                        </a:spcAft>
                        <a:buNone/>
                      </a:pPr>
                      <a:r>
                        <a:rPr lang="en" sz="1000"/>
                        <a:t>(predefined pizza and toppings)</a:t>
                      </a:r>
                      <a:endParaRPr sz="1000"/>
                    </a:p>
                  </a:txBody>
                  <a:tcPr marT="91425" marB="91425" marR="91425" marL="91425">
                    <a:lnT cap="flat" cmpd="sng" w="9525">
                      <a:solidFill>
                        <a:schemeClr val="dk1"/>
                      </a:solidFill>
                      <a:prstDash val="solid"/>
                      <a:round/>
                      <a:headEnd len="sm" w="sm" type="none"/>
                      <a:tailEnd len="sm" w="sm" type="none"/>
                    </a:lnT>
                    <a:solidFill>
                      <a:srgbClr val="F3F3F3"/>
                    </a:solidFill>
                  </a:tcPr>
                </a:tc>
                <a:tc>
                  <a:txBody>
                    <a:bodyPr/>
                    <a:lstStyle/>
                    <a:p>
                      <a:pPr indent="0" lvl="0" marL="0" rtl="0" algn="l">
                        <a:spcBef>
                          <a:spcPts val="0"/>
                        </a:spcBef>
                        <a:spcAft>
                          <a:spcPts val="0"/>
                        </a:spcAft>
                        <a:buNone/>
                      </a:pPr>
                      <a:r>
                        <a:rPr lang="en" sz="1200">
                          <a:latin typeface="Courier New"/>
                          <a:ea typeface="Courier New"/>
                          <a:cs typeface="Courier New"/>
                          <a:sym typeface="Courier New"/>
                        </a:rPr>
                        <a:t>query {</a:t>
                      </a:r>
                      <a:endParaRPr sz="1200">
                        <a:latin typeface="Courier New"/>
                        <a:ea typeface="Courier New"/>
                        <a:cs typeface="Courier New"/>
                        <a:sym typeface="Courier New"/>
                      </a:endParaRPr>
                    </a:p>
                    <a:p>
                      <a:pPr indent="0" lvl="0" marL="0" rtl="0" algn="l">
                        <a:spcBef>
                          <a:spcPts val="0"/>
                        </a:spcBef>
                        <a:spcAft>
                          <a:spcPts val="0"/>
                        </a:spcAft>
                        <a:buNone/>
                      </a:pPr>
                      <a:r>
                        <a:rPr lang="en" sz="1200">
                          <a:latin typeface="Courier New"/>
                          <a:ea typeface="Courier New"/>
                          <a:cs typeface="Courier New"/>
                          <a:sym typeface="Courier New"/>
                        </a:rPr>
                        <a:t>  pizza(id: 123) {</a:t>
                      </a:r>
                      <a:endParaRPr sz="1200">
                        <a:latin typeface="Courier New"/>
                        <a:ea typeface="Courier New"/>
                        <a:cs typeface="Courier New"/>
                        <a:sym typeface="Courier New"/>
                      </a:endParaRPr>
                    </a:p>
                    <a:p>
                      <a:pPr indent="0" lvl="0" marL="0" rtl="0" algn="l">
                        <a:spcBef>
                          <a:spcPts val="0"/>
                        </a:spcBef>
                        <a:spcAft>
                          <a:spcPts val="0"/>
                        </a:spcAft>
                        <a:buNone/>
                      </a:pPr>
                      <a:r>
                        <a:rPr lang="en" sz="1200">
                          <a:latin typeface="Courier New"/>
                          <a:ea typeface="Courier New"/>
                          <a:cs typeface="Courier New"/>
                          <a:sym typeface="Courier New"/>
                        </a:rPr>
                        <a:t>    size</a:t>
                      </a:r>
                      <a:endParaRPr sz="1200">
                        <a:latin typeface="Courier New"/>
                        <a:ea typeface="Courier New"/>
                        <a:cs typeface="Courier New"/>
                        <a:sym typeface="Courier New"/>
                      </a:endParaRPr>
                    </a:p>
                    <a:p>
                      <a:pPr indent="0" lvl="0" marL="0" rtl="0" algn="l">
                        <a:spcBef>
                          <a:spcPts val="0"/>
                        </a:spcBef>
                        <a:spcAft>
                          <a:spcPts val="0"/>
                        </a:spcAft>
                        <a:buNone/>
                      </a:pPr>
                      <a:r>
                        <a:rPr lang="en" sz="1200">
                          <a:latin typeface="Courier New"/>
                          <a:ea typeface="Courier New"/>
                          <a:cs typeface="Courier New"/>
                          <a:sym typeface="Courier New"/>
                        </a:rPr>
                        <a:t>    crust</a:t>
                      </a:r>
                      <a:endParaRPr sz="1200">
                        <a:latin typeface="Courier New"/>
                        <a:ea typeface="Courier New"/>
                        <a:cs typeface="Courier New"/>
                        <a:sym typeface="Courier New"/>
                      </a:endParaRPr>
                    </a:p>
                    <a:p>
                      <a:pPr indent="0" lvl="0" marL="0" rtl="0" algn="l">
                        <a:spcBef>
                          <a:spcPts val="0"/>
                        </a:spcBef>
                        <a:spcAft>
                          <a:spcPts val="0"/>
                        </a:spcAft>
                        <a:buNone/>
                      </a:pPr>
                      <a:r>
                        <a:rPr lang="en" sz="1200">
                          <a:latin typeface="Courier New"/>
                          <a:ea typeface="Courier New"/>
                          <a:cs typeface="Courier New"/>
                          <a:sym typeface="Courier New"/>
                        </a:rPr>
                        <a:t>    toppings {</a:t>
                      </a:r>
                      <a:endParaRPr sz="1200">
                        <a:latin typeface="Courier New"/>
                        <a:ea typeface="Courier New"/>
                        <a:cs typeface="Courier New"/>
                        <a:sym typeface="Courier New"/>
                      </a:endParaRPr>
                    </a:p>
                    <a:p>
                      <a:pPr indent="0" lvl="0" marL="0" rtl="0" algn="l">
                        <a:spcBef>
                          <a:spcPts val="0"/>
                        </a:spcBef>
                        <a:spcAft>
                          <a:spcPts val="0"/>
                        </a:spcAft>
                        <a:buNone/>
                      </a:pPr>
                      <a:r>
                        <a:rPr lang="en" sz="1200">
                          <a:latin typeface="Courier New"/>
                          <a:ea typeface="Courier New"/>
                          <a:cs typeface="Courier New"/>
                          <a:sym typeface="Courier New"/>
                        </a:rPr>
                        <a:t>      name</a:t>
                      </a:r>
                      <a:endParaRPr sz="1200">
                        <a:latin typeface="Courier New"/>
                        <a:ea typeface="Courier New"/>
                        <a:cs typeface="Courier New"/>
                        <a:sym typeface="Courier New"/>
                      </a:endParaRPr>
                    </a:p>
                    <a:p>
                      <a:pPr indent="0" lvl="0" marL="0" rtl="0" algn="l">
                        <a:spcBef>
                          <a:spcPts val="0"/>
                        </a:spcBef>
                        <a:spcAft>
                          <a:spcPts val="0"/>
                        </a:spcAft>
                        <a:buNone/>
                      </a:pPr>
                      <a:r>
                        <a:rPr lang="en" sz="1200">
                          <a:latin typeface="Courier New"/>
                          <a:ea typeface="Courier New"/>
                          <a:cs typeface="Courier New"/>
                          <a:sym typeface="Courier New"/>
                        </a:rPr>
                        <a:t>    }</a:t>
                      </a:r>
                      <a:endParaRPr sz="1200">
                        <a:latin typeface="Courier New"/>
                        <a:ea typeface="Courier New"/>
                        <a:cs typeface="Courier New"/>
                        <a:sym typeface="Courier New"/>
                      </a:endParaRPr>
                    </a:p>
                    <a:p>
                      <a:pPr indent="0" lvl="0" marL="0" rtl="0" algn="l">
                        <a:spcBef>
                          <a:spcPts val="0"/>
                        </a:spcBef>
                        <a:spcAft>
                          <a:spcPts val="0"/>
                        </a:spcAft>
                        <a:buNone/>
                      </a:pPr>
                      <a:r>
                        <a:rPr lang="en" sz="1200">
                          <a:latin typeface="Courier New"/>
                          <a:ea typeface="Courier New"/>
                          <a:cs typeface="Courier New"/>
                          <a:sym typeface="Courier New"/>
                        </a:rPr>
                        <a:t>  }</a:t>
                      </a:r>
                      <a:endParaRPr sz="1200">
                        <a:latin typeface="Courier New"/>
                        <a:ea typeface="Courier New"/>
                        <a:cs typeface="Courier New"/>
                        <a:sym typeface="Courier New"/>
                      </a:endParaRPr>
                    </a:p>
                    <a:p>
                      <a:pPr indent="0" lvl="0" marL="0" rtl="0" algn="l">
                        <a:spcBef>
                          <a:spcPts val="0"/>
                        </a:spcBef>
                        <a:spcAft>
                          <a:spcPts val="0"/>
                        </a:spcAft>
                        <a:buNone/>
                      </a:pPr>
                      <a:r>
                        <a:rPr lang="en" sz="1200">
                          <a:latin typeface="Courier New"/>
                          <a:ea typeface="Courier New"/>
                          <a:cs typeface="Courier New"/>
                          <a:sym typeface="Courier New"/>
                        </a:rPr>
                        <a:t>}</a:t>
                      </a:r>
                      <a:endParaRPr sz="1200">
                        <a:latin typeface="Courier New"/>
                        <a:ea typeface="Courier New"/>
                        <a:cs typeface="Courier New"/>
                        <a:sym typeface="Courier New"/>
                      </a:endParaRPr>
                    </a:p>
                  </a:txBody>
                  <a:tcPr marT="91425" marB="91425" marR="91425" marL="91425">
                    <a:lnT cap="flat" cmpd="sng" w="9525">
                      <a:solidFill>
                        <a:schemeClr val="dk1"/>
                      </a:solidFill>
                      <a:prstDash val="solid"/>
                      <a:round/>
                      <a:headEnd len="sm" w="sm" type="none"/>
                      <a:tailEnd len="sm" w="sm" type="none"/>
                    </a:lnT>
                    <a:solidFill>
                      <a:srgbClr val="F3F3F3"/>
                    </a:solidFill>
                  </a:tcPr>
                </a:tc>
              </a:tr>
              <a:tr h="1075475">
                <a:tc>
                  <a:txBody>
                    <a:bodyPr/>
                    <a:lstStyle/>
                    <a:p>
                      <a:pPr indent="0" lvl="0" marL="0" rtl="0" algn="l">
                        <a:spcBef>
                          <a:spcPts val="0"/>
                        </a:spcBef>
                        <a:spcAft>
                          <a:spcPts val="0"/>
                        </a:spcAft>
                        <a:buNone/>
                      </a:pPr>
                      <a:r>
                        <a:rPr lang="en">
                          <a:solidFill>
                            <a:srgbClr val="F3F3F3"/>
                          </a:solidFill>
                        </a:rPr>
                        <a:t>Pro &amp; Cons</a:t>
                      </a:r>
                      <a:endParaRPr>
                        <a:solidFill>
                          <a:srgbClr val="F3F3F3"/>
                        </a:solidFill>
                      </a:endParaRPr>
                    </a:p>
                  </a:txBody>
                  <a:tcPr marT="91425" marB="91425" marR="91425" marL="91425"/>
                </a:tc>
                <a:tc>
                  <a:txBody>
                    <a:bodyPr/>
                    <a:lstStyle/>
                    <a:p>
                      <a:pPr indent="0" lvl="0" marL="0" rtl="0" algn="l">
                        <a:spcBef>
                          <a:spcPts val="0"/>
                        </a:spcBef>
                        <a:spcAft>
                          <a:spcPts val="0"/>
                        </a:spcAft>
                        <a:buNone/>
                      </a:pPr>
                      <a:r>
                        <a:rPr lang="en" sz="1200"/>
                        <a:t>Pro: Simple, caching</a:t>
                      </a:r>
                      <a:endParaRPr sz="1200"/>
                    </a:p>
                    <a:p>
                      <a:pPr indent="0" lvl="0" marL="0" rtl="0" algn="l">
                        <a:spcBef>
                          <a:spcPts val="0"/>
                        </a:spcBef>
                        <a:spcAft>
                          <a:spcPts val="0"/>
                        </a:spcAft>
                        <a:buNone/>
                      </a:pPr>
                      <a:r>
                        <a:rPr lang="en" sz="1200"/>
                        <a:t>Con: Over/under-fetching</a:t>
                      </a:r>
                      <a:endParaRPr sz="1200"/>
                    </a:p>
                  </a:txBody>
                  <a:tcPr marT="91425" marB="91425" marR="91425" marL="91425">
                    <a:solidFill>
                      <a:srgbClr val="F3F3F3"/>
                    </a:solidFill>
                  </a:tcPr>
                </a:tc>
                <a:tc>
                  <a:txBody>
                    <a:bodyPr/>
                    <a:lstStyle/>
                    <a:p>
                      <a:pPr indent="0" lvl="0" marL="0" rtl="0" algn="l">
                        <a:spcBef>
                          <a:spcPts val="0"/>
                        </a:spcBef>
                        <a:spcAft>
                          <a:spcPts val="0"/>
                        </a:spcAft>
                        <a:buNone/>
                      </a:pPr>
                      <a:r>
                        <a:rPr lang="en" sz="1200"/>
                        <a:t>PRO: Ask for exactly what you need</a:t>
                      </a:r>
                      <a:endParaRPr sz="1200"/>
                    </a:p>
                    <a:p>
                      <a:pPr indent="0" lvl="0" marL="0" rtl="0" algn="l">
                        <a:spcBef>
                          <a:spcPts val="0"/>
                        </a:spcBef>
                        <a:spcAft>
                          <a:spcPts val="0"/>
                        </a:spcAft>
                        <a:buNone/>
                      </a:pPr>
                      <a:r>
                        <a:rPr lang="en" sz="1200"/>
                        <a:t>CON: Complex query language</a:t>
                      </a:r>
                      <a:endParaRPr sz="1200"/>
                    </a:p>
                  </a:txBody>
                  <a:tcPr marT="91425" marB="91425" marR="91425" marL="91425">
                    <a:solidFill>
                      <a:srgbClr val="F3F3F3"/>
                    </a:solidFill>
                  </a:tcPr>
                </a:tc>
              </a:tr>
            </a:tbl>
          </a:graphicData>
        </a:graphic>
      </p:graphicFrame>
      <p:sp>
        <p:nvSpPr>
          <p:cNvPr id="122" name="Google Shape;122;p22"/>
          <p:cNvSpPr txBox="1"/>
          <p:nvPr/>
        </p:nvSpPr>
        <p:spPr>
          <a:xfrm>
            <a:off x="414525" y="3411650"/>
            <a:ext cx="35157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500">
                <a:solidFill>
                  <a:srgbClr val="CCCCCC"/>
                </a:solidFill>
              </a:rPr>
              <a:t>Company application:</a:t>
            </a:r>
            <a:endParaRPr b="1" sz="1500">
              <a:solidFill>
                <a:srgbClr val="CCCCCC"/>
              </a:solidFill>
            </a:endParaRPr>
          </a:p>
          <a:p>
            <a:pPr indent="0" lvl="0" marL="0" rtl="0" algn="l">
              <a:spcBef>
                <a:spcPts val="0"/>
              </a:spcBef>
              <a:spcAft>
                <a:spcPts val="0"/>
              </a:spcAft>
              <a:buNone/>
            </a:pPr>
            <a:r>
              <a:rPr lang="en" u="sng">
                <a:solidFill>
                  <a:schemeClr val="lt2"/>
                </a:solidFill>
              </a:rPr>
              <a:t>REST:</a:t>
            </a:r>
            <a:r>
              <a:rPr lang="en" sz="1300">
                <a:solidFill>
                  <a:schemeClr val="lt2"/>
                </a:solidFill>
              </a:rPr>
              <a:t> Twitter API, Google Maps, Stripe</a:t>
            </a:r>
            <a:endParaRPr sz="1300">
              <a:solidFill>
                <a:schemeClr val="lt2"/>
              </a:solidFill>
            </a:endParaRPr>
          </a:p>
          <a:p>
            <a:pPr indent="0" lvl="0" marL="0" rtl="0" algn="l">
              <a:spcBef>
                <a:spcPts val="0"/>
              </a:spcBef>
              <a:spcAft>
                <a:spcPts val="0"/>
              </a:spcAft>
              <a:buNone/>
            </a:pPr>
            <a:r>
              <a:rPr lang="en" u="sng">
                <a:solidFill>
                  <a:schemeClr val="lt2"/>
                </a:solidFill>
              </a:rPr>
              <a:t>GraphQL:</a:t>
            </a:r>
            <a:r>
              <a:rPr lang="en" sz="1300">
                <a:solidFill>
                  <a:schemeClr val="lt2"/>
                </a:solidFill>
              </a:rPr>
              <a:t> GitHub, Shopify, Facebook (they invented it!)</a:t>
            </a:r>
            <a:endParaRPr sz="1300">
              <a:solidFill>
                <a:schemeClr val="lt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3"/>
          <p:cNvSpPr txBox="1"/>
          <p:nvPr>
            <p:ph type="title"/>
          </p:nvPr>
        </p:nvSpPr>
        <p:spPr>
          <a:xfrm>
            <a:off x="0" y="48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Complete Comparison Table</a:t>
            </a:r>
            <a:endParaRPr/>
          </a:p>
        </p:txBody>
      </p:sp>
      <p:graphicFrame>
        <p:nvGraphicFramePr>
          <p:cNvPr id="128" name="Google Shape;128;p23"/>
          <p:cNvGraphicFramePr/>
          <p:nvPr/>
        </p:nvGraphicFramePr>
        <p:xfrm>
          <a:off x="876300" y="751313"/>
          <a:ext cx="3000000" cy="3000000"/>
        </p:xfrm>
        <a:graphic>
          <a:graphicData uri="http://schemas.openxmlformats.org/drawingml/2006/table">
            <a:tbl>
              <a:tblPr>
                <a:noFill/>
                <a:tableStyleId>{8554302A-EE12-4A59-B90C-5DA35D9742C2}</a:tableStyleId>
              </a:tblPr>
              <a:tblGrid>
                <a:gridCol w="1495425"/>
                <a:gridCol w="2105025"/>
                <a:gridCol w="1828800"/>
                <a:gridCol w="1809750"/>
              </a:tblGrid>
              <a:tr h="491500">
                <a:tc>
                  <a:txBody>
                    <a:bodyPr/>
                    <a:lstStyle/>
                    <a:p>
                      <a:pPr indent="0" lvl="0" marL="0" rtl="0" algn="ctr">
                        <a:lnSpc>
                          <a:spcPct val="115000"/>
                        </a:lnSpc>
                        <a:spcBef>
                          <a:spcPts val="0"/>
                        </a:spcBef>
                        <a:spcAft>
                          <a:spcPts val="0"/>
                        </a:spcAft>
                        <a:buNone/>
                      </a:pPr>
                      <a:r>
                        <a:rPr b="1" lang="en" sz="1200">
                          <a:solidFill>
                            <a:schemeClr val="dk1"/>
                          </a:solidFill>
                          <a:latin typeface="Times New Roman"/>
                          <a:ea typeface="Times New Roman"/>
                          <a:cs typeface="Times New Roman"/>
                          <a:sym typeface="Times New Roman"/>
                        </a:rPr>
                        <a:t>Feature</a:t>
                      </a:r>
                      <a:endParaRPr b="1" sz="12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b="1" lang="en" sz="1200">
                          <a:solidFill>
                            <a:schemeClr val="dk1"/>
                          </a:solidFill>
                          <a:latin typeface="Times New Roman"/>
                          <a:ea typeface="Times New Roman"/>
                          <a:cs typeface="Times New Roman"/>
                          <a:sym typeface="Times New Roman"/>
                        </a:rPr>
                        <a:t>Python</a:t>
                      </a:r>
                      <a:endParaRPr b="1" sz="12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b="1" lang="en" sz="1200">
                          <a:solidFill>
                            <a:schemeClr val="dk1"/>
                          </a:solidFill>
                          <a:latin typeface="Times New Roman"/>
                          <a:ea typeface="Times New Roman"/>
                          <a:cs typeface="Times New Roman"/>
                          <a:sym typeface="Times New Roman"/>
                        </a:rPr>
                        <a:t>R</a:t>
                      </a:r>
                      <a:endParaRPr b="1" sz="12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b="1" lang="en" sz="1200">
                          <a:solidFill>
                            <a:schemeClr val="dk1"/>
                          </a:solidFill>
                          <a:latin typeface="Times New Roman"/>
                          <a:ea typeface="Times New Roman"/>
                          <a:cs typeface="Times New Roman"/>
                          <a:sym typeface="Times New Roman"/>
                        </a:rPr>
                        <a:t>MATLAB</a:t>
                      </a:r>
                      <a:endParaRPr b="1" sz="1200">
                        <a:solidFill>
                          <a:schemeClr val="dk1"/>
                        </a:solidFill>
                        <a:latin typeface="Times New Roman"/>
                        <a:ea typeface="Times New Roman"/>
                        <a:cs typeface="Times New Roman"/>
                        <a:sym typeface="Times New Roman"/>
                      </a:endParaRPr>
                    </a:p>
                  </a:txBody>
                  <a:tcPr marT="91425" marB="91425" marR="91425" marL="91425"/>
                </a:tc>
              </a:tr>
              <a:tr h="398825">
                <a:tc>
                  <a:txBody>
                    <a:bodyPr/>
                    <a:lstStyle/>
                    <a:p>
                      <a:pPr indent="0" lvl="0" marL="0" rtl="0" algn="ctr">
                        <a:spcBef>
                          <a:spcPts val="0"/>
                        </a:spcBef>
                        <a:spcAft>
                          <a:spcPts val="0"/>
                        </a:spcAft>
                        <a:buNone/>
                      </a:pPr>
                      <a:r>
                        <a:rPr b="1" lang="en" sz="1200">
                          <a:solidFill>
                            <a:schemeClr val="dk1"/>
                          </a:solidFill>
                          <a:latin typeface="Times New Roman"/>
                          <a:ea typeface="Times New Roman"/>
                          <a:cs typeface="Times New Roman"/>
                          <a:sym typeface="Times New Roman"/>
                        </a:rPr>
                        <a:t>Ease of Learning</a:t>
                      </a:r>
                      <a:endParaRPr b="1" sz="12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en" sz="1200">
                          <a:solidFill>
                            <a:schemeClr val="dk1"/>
                          </a:solidFill>
                          <a:latin typeface="Times New Roman"/>
                          <a:ea typeface="Times New Roman"/>
                          <a:cs typeface="Times New Roman"/>
                          <a:sym typeface="Times New Roman"/>
                        </a:rPr>
                        <a:t>Easy</a:t>
                      </a:r>
                      <a:endParaRPr sz="12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en" sz="1200">
                          <a:solidFill>
                            <a:schemeClr val="dk1"/>
                          </a:solidFill>
                          <a:latin typeface="Times New Roman"/>
                          <a:ea typeface="Times New Roman"/>
                          <a:cs typeface="Times New Roman"/>
                          <a:sym typeface="Times New Roman"/>
                        </a:rPr>
                        <a:t>Moderate</a:t>
                      </a:r>
                      <a:endParaRPr sz="12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en" sz="1200">
                          <a:solidFill>
                            <a:schemeClr val="dk1"/>
                          </a:solidFill>
                          <a:latin typeface="Times New Roman"/>
                          <a:ea typeface="Times New Roman"/>
                          <a:cs typeface="Times New Roman"/>
                          <a:sym typeface="Times New Roman"/>
                        </a:rPr>
                        <a:t>Moderate</a:t>
                      </a:r>
                      <a:endParaRPr sz="1200">
                        <a:solidFill>
                          <a:schemeClr val="dk1"/>
                        </a:solidFill>
                        <a:latin typeface="Times New Roman"/>
                        <a:ea typeface="Times New Roman"/>
                        <a:cs typeface="Times New Roman"/>
                        <a:sym typeface="Times New Roman"/>
                      </a:endParaRPr>
                    </a:p>
                  </a:txBody>
                  <a:tcPr marT="91425" marB="91425" marR="91425" marL="91425"/>
                </a:tc>
              </a:tr>
              <a:tr h="574250">
                <a:tc>
                  <a:txBody>
                    <a:bodyPr/>
                    <a:lstStyle/>
                    <a:p>
                      <a:pPr indent="0" lvl="0" marL="0" rtl="0" algn="ctr">
                        <a:spcBef>
                          <a:spcPts val="0"/>
                        </a:spcBef>
                        <a:spcAft>
                          <a:spcPts val="0"/>
                        </a:spcAft>
                        <a:buNone/>
                      </a:pPr>
                      <a:r>
                        <a:rPr b="1" lang="en" sz="1200">
                          <a:solidFill>
                            <a:schemeClr val="dk1"/>
                          </a:solidFill>
                          <a:latin typeface="Times New Roman"/>
                          <a:ea typeface="Times New Roman"/>
                          <a:cs typeface="Times New Roman"/>
                          <a:sym typeface="Times New Roman"/>
                        </a:rPr>
                        <a:t>Scalability</a:t>
                      </a:r>
                      <a:endParaRPr b="1" sz="12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en" sz="1200">
                          <a:solidFill>
                            <a:schemeClr val="dk1"/>
                          </a:solidFill>
                          <a:latin typeface="Times New Roman"/>
                          <a:ea typeface="Times New Roman"/>
                          <a:cs typeface="Times New Roman"/>
                          <a:sym typeface="Times New Roman"/>
                        </a:rPr>
                        <a:t>Highly scalable for large systems and big data</a:t>
                      </a:r>
                      <a:endParaRPr sz="12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en" sz="1200">
                          <a:solidFill>
                            <a:schemeClr val="dk1"/>
                          </a:solidFill>
                          <a:latin typeface="Times New Roman"/>
                          <a:ea typeface="Times New Roman"/>
                          <a:cs typeface="Times New Roman"/>
                          <a:sym typeface="Times New Roman"/>
                        </a:rPr>
                        <a:t>Moderate</a:t>
                      </a:r>
                      <a:endParaRPr sz="12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en" sz="1200">
                          <a:solidFill>
                            <a:schemeClr val="dk1"/>
                          </a:solidFill>
                          <a:latin typeface="Times New Roman"/>
                          <a:ea typeface="Times New Roman"/>
                          <a:cs typeface="Times New Roman"/>
                          <a:sym typeface="Times New Roman"/>
                        </a:rPr>
                        <a:t>Moderate</a:t>
                      </a:r>
                      <a:endParaRPr sz="1200">
                        <a:solidFill>
                          <a:schemeClr val="dk1"/>
                        </a:solidFill>
                        <a:latin typeface="Times New Roman"/>
                        <a:ea typeface="Times New Roman"/>
                        <a:cs typeface="Times New Roman"/>
                        <a:sym typeface="Times New Roman"/>
                      </a:endParaRPr>
                    </a:p>
                  </a:txBody>
                  <a:tcPr marT="91425" marB="91425" marR="91425" marL="91425"/>
                </a:tc>
              </a:tr>
              <a:tr h="574250">
                <a:tc>
                  <a:txBody>
                    <a:bodyPr/>
                    <a:lstStyle/>
                    <a:p>
                      <a:pPr indent="0" lvl="0" marL="0" rtl="0" algn="ctr">
                        <a:spcBef>
                          <a:spcPts val="0"/>
                        </a:spcBef>
                        <a:spcAft>
                          <a:spcPts val="0"/>
                        </a:spcAft>
                        <a:buNone/>
                      </a:pPr>
                      <a:r>
                        <a:rPr b="1" lang="en" sz="1200">
                          <a:solidFill>
                            <a:schemeClr val="dk1"/>
                          </a:solidFill>
                          <a:latin typeface="Times New Roman"/>
                          <a:ea typeface="Times New Roman"/>
                          <a:cs typeface="Times New Roman"/>
                          <a:sym typeface="Times New Roman"/>
                        </a:rPr>
                        <a:t>Library Support</a:t>
                      </a:r>
                      <a:endParaRPr b="1" sz="12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en" sz="1200">
                          <a:solidFill>
                            <a:schemeClr val="dk1"/>
                          </a:solidFill>
                          <a:latin typeface="Times New Roman"/>
                          <a:ea typeface="Times New Roman"/>
                          <a:cs typeface="Times New Roman"/>
                          <a:sym typeface="Times New Roman"/>
                        </a:rPr>
                        <a:t>Many Libraries(NumPy, pandas, TensorFlow)</a:t>
                      </a:r>
                      <a:endParaRPr sz="12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en" sz="1200">
                          <a:solidFill>
                            <a:schemeClr val="dk1"/>
                          </a:solidFill>
                          <a:latin typeface="Times New Roman"/>
                          <a:ea typeface="Times New Roman"/>
                          <a:cs typeface="Times New Roman"/>
                          <a:sym typeface="Times New Roman"/>
                        </a:rPr>
                        <a:t>Strong statistical package library</a:t>
                      </a:r>
                      <a:endParaRPr sz="12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en" sz="1200">
                          <a:solidFill>
                            <a:schemeClr val="dk1"/>
                          </a:solidFill>
                          <a:latin typeface="Times New Roman"/>
                          <a:ea typeface="Times New Roman"/>
                          <a:cs typeface="Times New Roman"/>
                          <a:sym typeface="Times New Roman"/>
                        </a:rPr>
                        <a:t>Moderate(Toolbox-based)</a:t>
                      </a:r>
                      <a:endParaRPr sz="1200">
                        <a:solidFill>
                          <a:schemeClr val="dk1"/>
                        </a:solidFill>
                        <a:latin typeface="Times New Roman"/>
                        <a:ea typeface="Times New Roman"/>
                        <a:cs typeface="Times New Roman"/>
                        <a:sym typeface="Times New Roman"/>
                      </a:endParaRPr>
                    </a:p>
                  </a:txBody>
                  <a:tcPr marT="91425" marB="91425" marR="91425" marL="91425"/>
                </a:tc>
              </a:tr>
              <a:tr h="574250">
                <a:tc>
                  <a:txBody>
                    <a:bodyPr/>
                    <a:lstStyle/>
                    <a:p>
                      <a:pPr indent="0" lvl="0" marL="0" rtl="0" algn="ctr">
                        <a:spcBef>
                          <a:spcPts val="0"/>
                        </a:spcBef>
                        <a:spcAft>
                          <a:spcPts val="0"/>
                        </a:spcAft>
                        <a:buNone/>
                      </a:pPr>
                      <a:r>
                        <a:rPr b="1" lang="en" sz="1200">
                          <a:solidFill>
                            <a:schemeClr val="dk1"/>
                          </a:solidFill>
                          <a:latin typeface="Times New Roman"/>
                          <a:ea typeface="Times New Roman"/>
                          <a:cs typeface="Times New Roman"/>
                          <a:sym typeface="Times New Roman"/>
                        </a:rPr>
                        <a:t>Integration</a:t>
                      </a:r>
                      <a:endParaRPr b="1" sz="12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en" sz="1200">
                          <a:solidFill>
                            <a:schemeClr val="dk1"/>
                          </a:solidFill>
                          <a:latin typeface="Times New Roman"/>
                          <a:ea typeface="Times New Roman"/>
                          <a:cs typeface="Times New Roman"/>
                          <a:sym typeface="Times New Roman"/>
                        </a:rPr>
                        <a:t>Excellent with web apps, cloud, APIs</a:t>
                      </a:r>
                      <a:endParaRPr sz="12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en" sz="1200">
                          <a:solidFill>
                            <a:schemeClr val="dk1"/>
                          </a:solidFill>
                          <a:latin typeface="Times New Roman"/>
                          <a:ea typeface="Times New Roman"/>
                          <a:cs typeface="Times New Roman"/>
                          <a:sym typeface="Times New Roman"/>
                        </a:rPr>
                        <a:t>Limited integration(Works with fewer tools)</a:t>
                      </a:r>
                      <a:endParaRPr sz="12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en" sz="1200">
                          <a:solidFill>
                            <a:schemeClr val="dk1"/>
                          </a:solidFill>
                          <a:latin typeface="Times New Roman"/>
                          <a:ea typeface="Times New Roman"/>
                          <a:cs typeface="Times New Roman"/>
                          <a:sym typeface="Times New Roman"/>
                        </a:rPr>
                        <a:t>Mostly standalone(Works mainly by itself)</a:t>
                      </a:r>
                      <a:endParaRPr sz="1200">
                        <a:solidFill>
                          <a:schemeClr val="dk1"/>
                        </a:solidFill>
                        <a:latin typeface="Times New Roman"/>
                        <a:ea typeface="Times New Roman"/>
                        <a:cs typeface="Times New Roman"/>
                        <a:sym typeface="Times New Roman"/>
                      </a:endParaRPr>
                    </a:p>
                  </a:txBody>
                  <a:tcPr marT="91425" marB="91425" marR="91425" marL="91425"/>
                </a:tc>
              </a:tr>
              <a:tr h="765700">
                <a:tc>
                  <a:txBody>
                    <a:bodyPr/>
                    <a:lstStyle/>
                    <a:p>
                      <a:pPr indent="0" lvl="0" marL="0" rtl="0" algn="ctr">
                        <a:spcBef>
                          <a:spcPts val="0"/>
                        </a:spcBef>
                        <a:spcAft>
                          <a:spcPts val="0"/>
                        </a:spcAft>
                        <a:buNone/>
                      </a:pPr>
                      <a:r>
                        <a:rPr b="1" lang="en" sz="1200">
                          <a:solidFill>
                            <a:schemeClr val="dk1"/>
                          </a:solidFill>
                          <a:latin typeface="Times New Roman"/>
                          <a:ea typeface="Times New Roman"/>
                          <a:cs typeface="Times New Roman"/>
                          <a:sym typeface="Times New Roman"/>
                        </a:rPr>
                        <a:t>Use Case Strength</a:t>
                      </a:r>
                      <a:endParaRPr b="1" sz="12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en" sz="1200">
                          <a:solidFill>
                            <a:schemeClr val="dk1"/>
                          </a:solidFill>
                          <a:latin typeface="Times New Roman"/>
                          <a:ea typeface="Times New Roman"/>
                          <a:cs typeface="Times New Roman"/>
                          <a:sym typeface="Times New Roman"/>
                        </a:rPr>
                        <a:t>High (Machine learning, automation, data science)</a:t>
                      </a:r>
                      <a:endParaRPr sz="12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en" sz="1200">
                          <a:solidFill>
                            <a:schemeClr val="dk1"/>
                          </a:solidFill>
                          <a:latin typeface="Times New Roman"/>
                          <a:ea typeface="Times New Roman"/>
                          <a:cs typeface="Times New Roman"/>
                          <a:sym typeface="Times New Roman"/>
                        </a:rPr>
                        <a:t>High (Statistical modeling, research analysis)</a:t>
                      </a:r>
                      <a:endParaRPr sz="12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en" sz="1200">
                          <a:solidFill>
                            <a:schemeClr val="dk1"/>
                          </a:solidFill>
                          <a:latin typeface="Times New Roman"/>
                          <a:ea typeface="Times New Roman"/>
                          <a:cs typeface="Times New Roman"/>
                          <a:sym typeface="Times New Roman"/>
                        </a:rPr>
                        <a:t>High (Numerical computing, simulations)</a:t>
                      </a:r>
                      <a:endParaRPr sz="1200">
                        <a:solidFill>
                          <a:schemeClr val="dk1"/>
                        </a:solidFill>
                        <a:latin typeface="Times New Roman"/>
                        <a:ea typeface="Times New Roman"/>
                        <a:cs typeface="Times New Roman"/>
                        <a:sym typeface="Times New Roman"/>
                      </a:endParaRPr>
                    </a:p>
                  </a:txBody>
                  <a:tcPr marT="91425" marB="91425" marR="91425" marL="91425"/>
                </a:tc>
              </a:tr>
              <a:tr h="398825">
                <a:tc>
                  <a:txBody>
                    <a:bodyPr/>
                    <a:lstStyle/>
                    <a:p>
                      <a:pPr indent="0" lvl="0" marL="0" rtl="0" algn="ctr">
                        <a:spcBef>
                          <a:spcPts val="0"/>
                        </a:spcBef>
                        <a:spcAft>
                          <a:spcPts val="0"/>
                        </a:spcAft>
                        <a:buNone/>
                      </a:pPr>
                      <a:r>
                        <a:rPr b="1" lang="en" sz="1200">
                          <a:solidFill>
                            <a:schemeClr val="dk1"/>
                          </a:solidFill>
                          <a:latin typeface="Times New Roman"/>
                          <a:ea typeface="Times New Roman"/>
                          <a:cs typeface="Times New Roman"/>
                          <a:sym typeface="Times New Roman"/>
                        </a:rPr>
                        <a:t>Memory Efficiency</a:t>
                      </a:r>
                      <a:endParaRPr b="1" sz="12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en" sz="1200">
                          <a:solidFill>
                            <a:schemeClr val="dk1"/>
                          </a:solidFill>
                          <a:latin typeface="Times New Roman"/>
                          <a:ea typeface="Times New Roman"/>
                          <a:cs typeface="Times New Roman"/>
                          <a:sym typeface="Times New Roman"/>
                        </a:rPr>
                        <a:t>Moderate</a:t>
                      </a:r>
                      <a:endParaRPr sz="12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en" sz="1200">
                          <a:solidFill>
                            <a:schemeClr val="dk1"/>
                          </a:solidFill>
                          <a:latin typeface="Times New Roman"/>
                          <a:ea typeface="Times New Roman"/>
                          <a:cs typeface="Times New Roman"/>
                          <a:sym typeface="Times New Roman"/>
                        </a:rPr>
                        <a:t>Moderate</a:t>
                      </a:r>
                      <a:endParaRPr sz="12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en" sz="1200">
                          <a:solidFill>
                            <a:schemeClr val="dk1"/>
                          </a:solidFill>
                          <a:latin typeface="Times New Roman"/>
                          <a:ea typeface="Times New Roman"/>
                          <a:cs typeface="Times New Roman"/>
                          <a:sym typeface="Times New Roman"/>
                        </a:rPr>
                        <a:t>High</a:t>
                      </a:r>
                      <a:endParaRPr sz="1200">
                        <a:solidFill>
                          <a:schemeClr val="dk1"/>
                        </a:solidFill>
                        <a:latin typeface="Times New Roman"/>
                        <a:ea typeface="Times New Roman"/>
                        <a:cs typeface="Times New Roman"/>
                        <a:sym typeface="Times New Roman"/>
                      </a:endParaRPr>
                    </a:p>
                  </a:txBody>
                  <a:tcPr marT="91425" marB="91425" marR="91425" marL="91425"/>
                </a:tc>
              </a:tr>
              <a:tr h="398825">
                <a:tc>
                  <a:txBody>
                    <a:bodyPr/>
                    <a:lstStyle/>
                    <a:p>
                      <a:pPr indent="0" lvl="0" marL="0" rtl="0" algn="ctr">
                        <a:spcBef>
                          <a:spcPts val="0"/>
                        </a:spcBef>
                        <a:spcAft>
                          <a:spcPts val="0"/>
                        </a:spcAft>
                        <a:buNone/>
                      </a:pPr>
                      <a:r>
                        <a:rPr b="1" lang="en" sz="1200">
                          <a:solidFill>
                            <a:schemeClr val="dk1"/>
                          </a:solidFill>
                          <a:latin typeface="Times New Roman"/>
                          <a:ea typeface="Times New Roman"/>
                          <a:cs typeface="Times New Roman"/>
                          <a:sym typeface="Times New Roman"/>
                        </a:rPr>
                        <a:t>Flexibility (Cost)</a:t>
                      </a:r>
                      <a:endParaRPr b="1" sz="12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en" sz="1200">
                          <a:solidFill>
                            <a:schemeClr val="dk1"/>
                          </a:solidFill>
                          <a:latin typeface="Times New Roman"/>
                          <a:ea typeface="Times New Roman"/>
                          <a:cs typeface="Times New Roman"/>
                          <a:sym typeface="Times New Roman"/>
                        </a:rPr>
                        <a:t>Free</a:t>
                      </a:r>
                      <a:endParaRPr sz="12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en" sz="1200">
                          <a:solidFill>
                            <a:schemeClr val="dk1"/>
                          </a:solidFill>
                          <a:latin typeface="Times New Roman"/>
                          <a:ea typeface="Times New Roman"/>
                          <a:cs typeface="Times New Roman"/>
                          <a:sym typeface="Times New Roman"/>
                        </a:rPr>
                        <a:t>Free</a:t>
                      </a:r>
                      <a:endParaRPr sz="12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en" sz="1200">
                          <a:solidFill>
                            <a:schemeClr val="dk1"/>
                          </a:solidFill>
                          <a:latin typeface="Times New Roman"/>
                          <a:ea typeface="Times New Roman"/>
                          <a:cs typeface="Times New Roman"/>
                          <a:sym typeface="Times New Roman"/>
                        </a:rPr>
                        <a:t>Paid</a:t>
                      </a:r>
                      <a:endParaRPr sz="1200">
                        <a:solidFill>
                          <a:schemeClr val="dk1"/>
                        </a:solidFill>
                        <a:latin typeface="Times New Roman"/>
                        <a:ea typeface="Times New Roman"/>
                        <a:cs typeface="Times New Roman"/>
                        <a:sym typeface="Times New Roman"/>
                      </a:endParaRPr>
                    </a:p>
                  </a:txBody>
                  <a:tcPr marT="91425" marB="91425" marR="91425" marL="91425"/>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4"/>
          <p:cNvSpPr txBox="1"/>
          <p:nvPr>
            <p:ph type="title"/>
          </p:nvPr>
        </p:nvSpPr>
        <p:spPr>
          <a:xfrm>
            <a:off x="311700" y="182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Pros &amp; Cons </a:t>
            </a:r>
            <a:endParaRPr/>
          </a:p>
        </p:txBody>
      </p:sp>
      <p:sp>
        <p:nvSpPr>
          <p:cNvPr id="134" name="Google Shape;134;p24"/>
          <p:cNvSpPr txBox="1"/>
          <p:nvPr/>
        </p:nvSpPr>
        <p:spPr>
          <a:xfrm>
            <a:off x="311700" y="755575"/>
            <a:ext cx="2298900" cy="437100"/>
          </a:xfrm>
          <a:prstGeom prst="rect">
            <a:avLst/>
          </a:prstGeom>
          <a:solidFill>
            <a:srgbClr val="D9D9D9"/>
          </a:solidFill>
          <a:ln>
            <a:noFill/>
          </a:ln>
        </p:spPr>
        <p:txBody>
          <a:bodyPr anchorCtr="0" anchor="t" bIns="91425" lIns="91425" spcFirstLastPara="1" rIns="91425" wrap="square" tIns="91425">
            <a:noAutofit/>
          </a:bodyPr>
          <a:lstStyle/>
          <a:p>
            <a:pPr indent="0" lvl="0" marL="457200" rtl="0" algn="l">
              <a:spcBef>
                <a:spcPts val="0"/>
              </a:spcBef>
              <a:spcAft>
                <a:spcPts val="0"/>
              </a:spcAft>
              <a:buNone/>
            </a:pPr>
            <a:r>
              <a:rPr b="1" lang="en" sz="1800">
                <a:solidFill>
                  <a:schemeClr val="lt1"/>
                </a:solidFill>
              </a:rPr>
              <a:t>    Python</a:t>
            </a:r>
            <a:endParaRPr b="1" sz="1800">
              <a:solidFill>
                <a:schemeClr val="lt1"/>
              </a:solidFill>
            </a:endParaRPr>
          </a:p>
        </p:txBody>
      </p:sp>
      <p:sp>
        <p:nvSpPr>
          <p:cNvPr id="135" name="Google Shape;135;p24"/>
          <p:cNvSpPr txBox="1"/>
          <p:nvPr/>
        </p:nvSpPr>
        <p:spPr>
          <a:xfrm>
            <a:off x="311700" y="1192675"/>
            <a:ext cx="2298900" cy="3644100"/>
          </a:xfrm>
          <a:prstGeom prst="rect">
            <a:avLst/>
          </a:prstGeom>
          <a:solidFill>
            <a:srgbClr val="434343"/>
          </a:solidFill>
          <a:ln cap="flat" cmpd="sng" w="9525">
            <a:solidFill>
              <a:srgbClr val="434343"/>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lt2"/>
              </a:solidFill>
            </a:endParaRPr>
          </a:p>
        </p:txBody>
      </p:sp>
      <p:sp>
        <p:nvSpPr>
          <p:cNvPr id="136" name="Google Shape;136;p24"/>
          <p:cNvSpPr txBox="1"/>
          <p:nvPr/>
        </p:nvSpPr>
        <p:spPr>
          <a:xfrm>
            <a:off x="1086725" y="1192675"/>
            <a:ext cx="749100" cy="415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500" u="sng">
                <a:solidFill>
                  <a:srgbClr val="EFEFEF"/>
                </a:solidFill>
              </a:rPr>
              <a:t>Pros</a:t>
            </a:r>
            <a:endParaRPr sz="1500" u="sng">
              <a:solidFill>
                <a:srgbClr val="EFEFEF"/>
              </a:solidFill>
            </a:endParaRPr>
          </a:p>
        </p:txBody>
      </p:sp>
      <p:sp>
        <p:nvSpPr>
          <p:cNvPr id="137" name="Google Shape;137;p24"/>
          <p:cNvSpPr txBox="1"/>
          <p:nvPr/>
        </p:nvSpPr>
        <p:spPr>
          <a:xfrm>
            <a:off x="311825" y="1604525"/>
            <a:ext cx="2298900" cy="1339200"/>
          </a:xfrm>
          <a:prstGeom prst="rect">
            <a:avLst/>
          </a:prstGeom>
          <a:solidFill>
            <a:srgbClr val="F3F3F3"/>
          </a:solid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323850" lvl="0" marL="457200" rtl="0" algn="l">
              <a:spcBef>
                <a:spcPts val="0"/>
              </a:spcBef>
              <a:spcAft>
                <a:spcPts val="0"/>
              </a:spcAft>
              <a:buClr>
                <a:schemeClr val="lt1"/>
              </a:buClr>
              <a:buSzPts val="1500"/>
              <a:buChar char="●"/>
            </a:pPr>
            <a:r>
              <a:rPr lang="en" sz="1500">
                <a:solidFill>
                  <a:schemeClr val="lt1"/>
                </a:solidFill>
              </a:rPr>
              <a:t>Highly versatile</a:t>
            </a:r>
            <a:endParaRPr sz="1500">
              <a:solidFill>
                <a:schemeClr val="lt1"/>
              </a:solidFill>
            </a:endParaRPr>
          </a:p>
          <a:p>
            <a:pPr indent="-323850" lvl="0" marL="457200" rtl="0" algn="l">
              <a:spcBef>
                <a:spcPts val="0"/>
              </a:spcBef>
              <a:spcAft>
                <a:spcPts val="0"/>
              </a:spcAft>
              <a:buClr>
                <a:schemeClr val="lt1"/>
              </a:buClr>
              <a:buSzPts val="1500"/>
              <a:buChar char="●"/>
            </a:pPr>
            <a:r>
              <a:rPr lang="en" sz="1500">
                <a:solidFill>
                  <a:schemeClr val="lt1"/>
                </a:solidFill>
              </a:rPr>
              <a:t>Human readable</a:t>
            </a:r>
            <a:endParaRPr sz="1500">
              <a:solidFill>
                <a:schemeClr val="lt1"/>
              </a:solidFill>
            </a:endParaRPr>
          </a:p>
          <a:p>
            <a:pPr indent="-323850" lvl="0" marL="457200" rtl="0" algn="l">
              <a:spcBef>
                <a:spcPts val="0"/>
              </a:spcBef>
              <a:spcAft>
                <a:spcPts val="0"/>
              </a:spcAft>
              <a:buClr>
                <a:schemeClr val="lt1"/>
              </a:buClr>
              <a:buSzPts val="1500"/>
              <a:buChar char="●"/>
            </a:pPr>
            <a:r>
              <a:rPr lang="en" sz="1500">
                <a:solidFill>
                  <a:schemeClr val="lt1"/>
                </a:solidFill>
              </a:rPr>
              <a:t>Free(Open source)</a:t>
            </a:r>
            <a:endParaRPr sz="1500">
              <a:solidFill>
                <a:schemeClr val="lt1"/>
              </a:solidFill>
            </a:endParaRPr>
          </a:p>
          <a:p>
            <a:pPr indent="-323850" lvl="0" marL="457200" rtl="0" algn="l">
              <a:spcBef>
                <a:spcPts val="0"/>
              </a:spcBef>
              <a:spcAft>
                <a:spcPts val="0"/>
              </a:spcAft>
              <a:buClr>
                <a:schemeClr val="lt1"/>
              </a:buClr>
              <a:buSzPts val="1500"/>
              <a:buChar char="●"/>
            </a:pPr>
            <a:r>
              <a:rPr lang="en" sz="1500">
                <a:solidFill>
                  <a:schemeClr val="lt1"/>
                </a:solidFill>
              </a:rPr>
              <a:t>Strong community</a:t>
            </a:r>
            <a:endParaRPr sz="1500">
              <a:solidFill>
                <a:schemeClr val="lt1"/>
              </a:solidFill>
            </a:endParaRPr>
          </a:p>
          <a:p>
            <a:pPr indent="-323850" lvl="0" marL="457200" rtl="0" algn="l">
              <a:spcBef>
                <a:spcPts val="0"/>
              </a:spcBef>
              <a:spcAft>
                <a:spcPts val="0"/>
              </a:spcAft>
              <a:buClr>
                <a:schemeClr val="lt1"/>
              </a:buClr>
              <a:buSzPts val="1500"/>
              <a:buChar char="●"/>
            </a:pPr>
            <a:r>
              <a:rPr lang="en" sz="1500">
                <a:solidFill>
                  <a:schemeClr val="lt1"/>
                </a:solidFill>
              </a:rPr>
              <a:t>Integration</a:t>
            </a:r>
            <a:endParaRPr sz="1600">
              <a:solidFill>
                <a:schemeClr val="lt1"/>
              </a:solidFill>
            </a:endParaRPr>
          </a:p>
        </p:txBody>
      </p:sp>
      <p:sp>
        <p:nvSpPr>
          <p:cNvPr id="138" name="Google Shape;138;p24"/>
          <p:cNvSpPr txBox="1"/>
          <p:nvPr/>
        </p:nvSpPr>
        <p:spPr>
          <a:xfrm>
            <a:off x="1041775" y="2943725"/>
            <a:ext cx="749100" cy="415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500" u="sng">
                <a:solidFill>
                  <a:srgbClr val="EFEFEF"/>
                </a:solidFill>
              </a:rPr>
              <a:t>Cons</a:t>
            </a:r>
            <a:endParaRPr sz="1500" u="sng">
              <a:solidFill>
                <a:srgbClr val="EFEFEF"/>
              </a:solidFill>
            </a:endParaRPr>
          </a:p>
        </p:txBody>
      </p:sp>
      <p:sp>
        <p:nvSpPr>
          <p:cNvPr id="139" name="Google Shape;139;p24"/>
          <p:cNvSpPr txBox="1"/>
          <p:nvPr/>
        </p:nvSpPr>
        <p:spPr>
          <a:xfrm>
            <a:off x="311825" y="3328325"/>
            <a:ext cx="2298900" cy="1508400"/>
          </a:xfrm>
          <a:prstGeom prst="rect">
            <a:avLst/>
          </a:prstGeom>
          <a:solidFill>
            <a:srgbClr val="F3F3F3"/>
          </a:solidFill>
          <a:ln cap="flat" cmpd="sng" w="9525">
            <a:solidFill>
              <a:schemeClr val="lt1"/>
            </a:solidFill>
            <a:prstDash val="solid"/>
            <a:round/>
            <a:headEnd len="sm" w="sm" type="none"/>
            <a:tailEnd len="sm" w="sm" type="none"/>
          </a:ln>
        </p:spPr>
        <p:txBody>
          <a:bodyPr anchorCtr="0" anchor="t" bIns="91425" lIns="91425" spcFirstLastPara="1" rIns="91425" wrap="square" tIns="91425">
            <a:spAutoFit/>
          </a:bodyPr>
          <a:lstStyle/>
          <a:p>
            <a:pPr indent="-317500" lvl="0" marL="457200" rtl="0" algn="l">
              <a:spcBef>
                <a:spcPts val="0"/>
              </a:spcBef>
              <a:spcAft>
                <a:spcPts val="0"/>
              </a:spcAft>
              <a:buClr>
                <a:schemeClr val="lt1"/>
              </a:buClr>
              <a:buSzPts val="1400"/>
              <a:buChar char="●"/>
            </a:pPr>
            <a:r>
              <a:rPr lang="en">
                <a:solidFill>
                  <a:schemeClr val="lt1"/>
                </a:solidFill>
              </a:rPr>
              <a:t>Slower than compiled languages* </a:t>
            </a:r>
            <a:endParaRPr>
              <a:solidFill>
                <a:schemeClr val="lt1"/>
              </a:solidFill>
            </a:endParaRPr>
          </a:p>
          <a:p>
            <a:pPr indent="-317500" lvl="0" marL="457200" rtl="0" algn="l">
              <a:spcBef>
                <a:spcPts val="0"/>
              </a:spcBef>
              <a:spcAft>
                <a:spcPts val="0"/>
              </a:spcAft>
              <a:buClr>
                <a:schemeClr val="lt1"/>
              </a:buClr>
              <a:buSzPts val="1400"/>
              <a:buChar char="●"/>
            </a:pPr>
            <a:r>
              <a:rPr lang="en">
                <a:solidFill>
                  <a:schemeClr val="lt1"/>
                </a:solidFill>
              </a:rPr>
              <a:t>Managing all dependencies </a:t>
            </a:r>
            <a:endParaRPr>
              <a:solidFill>
                <a:schemeClr val="lt1"/>
              </a:solidFill>
            </a:endParaRPr>
          </a:p>
          <a:p>
            <a:pPr indent="-323850" lvl="0" marL="457200" rtl="0" algn="l">
              <a:spcBef>
                <a:spcPts val="0"/>
              </a:spcBef>
              <a:spcAft>
                <a:spcPts val="0"/>
              </a:spcAft>
              <a:buClr>
                <a:schemeClr val="lt1"/>
              </a:buClr>
              <a:buSzPts val="1500"/>
              <a:buChar char="●"/>
            </a:pPr>
            <a:r>
              <a:rPr lang="en" sz="1500">
                <a:solidFill>
                  <a:schemeClr val="lt1"/>
                </a:solidFill>
              </a:rPr>
              <a:t>Slower computation*</a:t>
            </a:r>
            <a:endParaRPr sz="1500">
              <a:solidFill>
                <a:schemeClr val="lt1"/>
              </a:solidFill>
            </a:endParaRPr>
          </a:p>
        </p:txBody>
      </p:sp>
      <p:sp>
        <p:nvSpPr>
          <p:cNvPr id="140" name="Google Shape;140;p24"/>
          <p:cNvSpPr txBox="1"/>
          <p:nvPr/>
        </p:nvSpPr>
        <p:spPr>
          <a:xfrm>
            <a:off x="3422488" y="755575"/>
            <a:ext cx="2298900" cy="437100"/>
          </a:xfrm>
          <a:prstGeom prst="rect">
            <a:avLst/>
          </a:prstGeom>
          <a:solidFill>
            <a:srgbClr val="D9D9D9"/>
          </a:solidFill>
          <a:ln>
            <a:noFill/>
          </a:ln>
        </p:spPr>
        <p:txBody>
          <a:bodyPr anchorCtr="0" anchor="t" bIns="91425" lIns="91425" spcFirstLastPara="1" rIns="91425" wrap="square" tIns="91425">
            <a:noAutofit/>
          </a:bodyPr>
          <a:lstStyle/>
          <a:p>
            <a:pPr indent="0" lvl="0" marL="457200" rtl="0" algn="l">
              <a:spcBef>
                <a:spcPts val="0"/>
              </a:spcBef>
              <a:spcAft>
                <a:spcPts val="0"/>
              </a:spcAft>
              <a:buNone/>
            </a:pPr>
            <a:r>
              <a:rPr b="1" lang="en" sz="1800">
                <a:solidFill>
                  <a:schemeClr val="lt1"/>
                </a:solidFill>
              </a:rPr>
              <a:t>    MatLab</a:t>
            </a:r>
            <a:endParaRPr b="1" sz="1800">
              <a:solidFill>
                <a:schemeClr val="lt1"/>
              </a:solidFill>
            </a:endParaRPr>
          </a:p>
        </p:txBody>
      </p:sp>
      <p:sp>
        <p:nvSpPr>
          <p:cNvPr id="141" name="Google Shape;141;p24"/>
          <p:cNvSpPr txBox="1"/>
          <p:nvPr/>
        </p:nvSpPr>
        <p:spPr>
          <a:xfrm>
            <a:off x="3422500" y="1192675"/>
            <a:ext cx="2298900" cy="3012900"/>
          </a:xfrm>
          <a:prstGeom prst="rect">
            <a:avLst/>
          </a:prstGeom>
          <a:solidFill>
            <a:srgbClr val="434343"/>
          </a:solid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lt2"/>
              </a:solidFill>
            </a:endParaRPr>
          </a:p>
        </p:txBody>
      </p:sp>
      <p:sp>
        <p:nvSpPr>
          <p:cNvPr id="142" name="Google Shape;142;p24"/>
          <p:cNvSpPr txBox="1"/>
          <p:nvPr/>
        </p:nvSpPr>
        <p:spPr>
          <a:xfrm>
            <a:off x="4197513" y="1192675"/>
            <a:ext cx="749100" cy="415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500" u="sng">
                <a:solidFill>
                  <a:srgbClr val="EFEFEF"/>
                </a:solidFill>
              </a:rPr>
              <a:t>Pros</a:t>
            </a:r>
            <a:endParaRPr sz="1500" u="sng">
              <a:solidFill>
                <a:srgbClr val="EFEFEF"/>
              </a:solidFill>
            </a:endParaRPr>
          </a:p>
        </p:txBody>
      </p:sp>
      <p:sp>
        <p:nvSpPr>
          <p:cNvPr id="143" name="Google Shape;143;p24"/>
          <p:cNvSpPr txBox="1"/>
          <p:nvPr/>
        </p:nvSpPr>
        <p:spPr>
          <a:xfrm>
            <a:off x="3422613" y="1604525"/>
            <a:ext cx="2298900" cy="1262100"/>
          </a:xfrm>
          <a:prstGeom prst="rect">
            <a:avLst/>
          </a:prstGeom>
          <a:solidFill>
            <a:srgbClr val="F3F3F3"/>
          </a:solidFill>
          <a:ln cap="flat" cmpd="sng" w="9525">
            <a:solidFill>
              <a:schemeClr val="lt1"/>
            </a:solidFill>
            <a:prstDash val="solid"/>
            <a:round/>
            <a:headEnd len="sm" w="sm" type="none"/>
            <a:tailEnd len="sm" w="sm" type="none"/>
          </a:ln>
        </p:spPr>
        <p:txBody>
          <a:bodyPr anchorCtr="0" anchor="t" bIns="91425" lIns="91425" spcFirstLastPara="1" rIns="91425" wrap="square" tIns="91425">
            <a:spAutoFit/>
          </a:bodyPr>
          <a:lstStyle/>
          <a:p>
            <a:pPr indent="-317500" lvl="0" marL="457200" rtl="0" algn="l">
              <a:spcBef>
                <a:spcPts val="0"/>
              </a:spcBef>
              <a:spcAft>
                <a:spcPts val="0"/>
              </a:spcAft>
              <a:buClr>
                <a:srgbClr val="212121"/>
              </a:buClr>
              <a:buSzPts val="1400"/>
              <a:buChar char="●"/>
            </a:pPr>
            <a:r>
              <a:rPr lang="en">
                <a:solidFill>
                  <a:srgbClr val="212121"/>
                </a:solidFill>
              </a:rPr>
              <a:t>Specializes in linear algebra engineering computations</a:t>
            </a:r>
            <a:endParaRPr>
              <a:solidFill>
                <a:srgbClr val="212121"/>
              </a:solidFill>
            </a:endParaRPr>
          </a:p>
          <a:p>
            <a:pPr indent="-317500" lvl="0" marL="457200" rtl="0" algn="l">
              <a:spcBef>
                <a:spcPts val="0"/>
              </a:spcBef>
              <a:spcAft>
                <a:spcPts val="0"/>
              </a:spcAft>
              <a:buClr>
                <a:srgbClr val="212121"/>
              </a:buClr>
              <a:buSzPts val="1400"/>
              <a:buChar char="●"/>
            </a:pPr>
            <a:r>
              <a:rPr lang="en">
                <a:solidFill>
                  <a:srgbClr val="212121"/>
                </a:solidFill>
              </a:rPr>
              <a:t>Readable syntax</a:t>
            </a:r>
            <a:endParaRPr>
              <a:solidFill>
                <a:srgbClr val="212121"/>
              </a:solidFill>
            </a:endParaRPr>
          </a:p>
          <a:p>
            <a:pPr indent="-317500" lvl="0" marL="457200" rtl="0" algn="l">
              <a:spcBef>
                <a:spcPts val="0"/>
              </a:spcBef>
              <a:spcAft>
                <a:spcPts val="0"/>
              </a:spcAft>
              <a:buClr>
                <a:srgbClr val="212121"/>
              </a:buClr>
              <a:buSzPts val="1400"/>
              <a:buChar char="●"/>
            </a:pPr>
            <a:r>
              <a:rPr lang="en">
                <a:solidFill>
                  <a:srgbClr val="212121"/>
                </a:solidFill>
              </a:rPr>
              <a:t>Great visualizations</a:t>
            </a:r>
            <a:endParaRPr>
              <a:solidFill>
                <a:srgbClr val="212121"/>
              </a:solidFill>
            </a:endParaRPr>
          </a:p>
        </p:txBody>
      </p:sp>
      <p:sp>
        <p:nvSpPr>
          <p:cNvPr id="144" name="Google Shape;144;p24"/>
          <p:cNvSpPr txBox="1"/>
          <p:nvPr/>
        </p:nvSpPr>
        <p:spPr>
          <a:xfrm>
            <a:off x="4148588" y="2866625"/>
            <a:ext cx="749100" cy="415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500" u="sng">
                <a:solidFill>
                  <a:srgbClr val="EFEFEF"/>
                </a:solidFill>
              </a:rPr>
              <a:t>Cons</a:t>
            </a:r>
            <a:endParaRPr sz="1500" u="sng">
              <a:solidFill>
                <a:srgbClr val="EFEFEF"/>
              </a:solidFill>
            </a:endParaRPr>
          </a:p>
        </p:txBody>
      </p:sp>
      <p:sp>
        <p:nvSpPr>
          <p:cNvPr id="145" name="Google Shape;145;p24"/>
          <p:cNvSpPr txBox="1"/>
          <p:nvPr/>
        </p:nvSpPr>
        <p:spPr>
          <a:xfrm>
            <a:off x="3422613" y="3328325"/>
            <a:ext cx="2298900" cy="877200"/>
          </a:xfrm>
          <a:prstGeom prst="rect">
            <a:avLst/>
          </a:prstGeom>
          <a:solidFill>
            <a:srgbClr val="F3F3F3"/>
          </a:solidFill>
          <a:ln cap="flat" cmpd="sng" w="9525">
            <a:solidFill>
              <a:schemeClr val="lt1"/>
            </a:solidFill>
            <a:prstDash val="solid"/>
            <a:round/>
            <a:headEnd len="sm" w="sm" type="none"/>
            <a:tailEnd len="sm" w="sm" type="none"/>
          </a:ln>
        </p:spPr>
        <p:txBody>
          <a:bodyPr anchorCtr="0" anchor="t" bIns="91425" lIns="91425" spcFirstLastPara="1" rIns="91425" wrap="square" tIns="91425">
            <a:spAutoFit/>
          </a:bodyPr>
          <a:lstStyle/>
          <a:p>
            <a:pPr indent="-317500" lvl="0" marL="457200" rtl="0" algn="l">
              <a:spcBef>
                <a:spcPts val="0"/>
              </a:spcBef>
              <a:spcAft>
                <a:spcPts val="0"/>
              </a:spcAft>
              <a:buClr>
                <a:schemeClr val="lt1"/>
              </a:buClr>
              <a:buSzPts val="1400"/>
              <a:buChar char="●"/>
            </a:pPr>
            <a:r>
              <a:rPr lang="en" sz="1500">
                <a:solidFill>
                  <a:schemeClr val="lt1"/>
                </a:solidFill>
              </a:rPr>
              <a:t>Requires extensive prior knowledge</a:t>
            </a:r>
            <a:endParaRPr sz="1500">
              <a:solidFill>
                <a:schemeClr val="lt1"/>
              </a:solidFill>
            </a:endParaRPr>
          </a:p>
          <a:p>
            <a:pPr indent="-323850" lvl="0" marL="457200" rtl="0" algn="l">
              <a:spcBef>
                <a:spcPts val="0"/>
              </a:spcBef>
              <a:spcAft>
                <a:spcPts val="0"/>
              </a:spcAft>
              <a:buClr>
                <a:schemeClr val="lt1"/>
              </a:buClr>
              <a:buSzPts val="1500"/>
              <a:buChar char="●"/>
            </a:pPr>
            <a:r>
              <a:rPr lang="en" sz="1500">
                <a:solidFill>
                  <a:schemeClr val="lt1"/>
                </a:solidFill>
              </a:rPr>
              <a:t>EXPENSIVE</a:t>
            </a:r>
            <a:endParaRPr sz="1500">
              <a:solidFill>
                <a:schemeClr val="lt1"/>
              </a:solidFill>
            </a:endParaRPr>
          </a:p>
        </p:txBody>
      </p:sp>
      <p:sp>
        <p:nvSpPr>
          <p:cNvPr id="146" name="Google Shape;146;p24"/>
          <p:cNvSpPr txBox="1"/>
          <p:nvPr/>
        </p:nvSpPr>
        <p:spPr>
          <a:xfrm>
            <a:off x="6482045" y="743131"/>
            <a:ext cx="2298900" cy="437100"/>
          </a:xfrm>
          <a:prstGeom prst="rect">
            <a:avLst/>
          </a:prstGeom>
          <a:solidFill>
            <a:srgbClr val="D9D9D9"/>
          </a:solidFill>
          <a:ln>
            <a:noFill/>
          </a:ln>
        </p:spPr>
        <p:txBody>
          <a:bodyPr anchorCtr="0" anchor="t" bIns="91425" lIns="91425" spcFirstLastPara="1" rIns="91425" wrap="square" tIns="91425">
            <a:noAutofit/>
          </a:bodyPr>
          <a:lstStyle/>
          <a:p>
            <a:pPr indent="0" lvl="0" marL="457200" rtl="0" algn="l">
              <a:spcBef>
                <a:spcPts val="0"/>
              </a:spcBef>
              <a:spcAft>
                <a:spcPts val="0"/>
              </a:spcAft>
              <a:buNone/>
            </a:pPr>
            <a:r>
              <a:rPr b="1" lang="en" sz="1800">
                <a:solidFill>
                  <a:schemeClr val="lt1"/>
                </a:solidFill>
              </a:rPr>
              <a:t>       R</a:t>
            </a:r>
            <a:endParaRPr b="1" sz="1800">
              <a:solidFill>
                <a:schemeClr val="lt1"/>
              </a:solidFill>
            </a:endParaRPr>
          </a:p>
        </p:txBody>
      </p:sp>
      <p:sp>
        <p:nvSpPr>
          <p:cNvPr id="147" name="Google Shape;147;p24"/>
          <p:cNvSpPr txBox="1"/>
          <p:nvPr/>
        </p:nvSpPr>
        <p:spPr>
          <a:xfrm>
            <a:off x="6482045" y="1180231"/>
            <a:ext cx="2298900" cy="3474900"/>
          </a:xfrm>
          <a:prstGeom prst="rect">
            <a:avLst/>
          </a:prstGeom>
          <a:solidFill>
            <a:srgbClr val="434343"/>
          </a:solid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lt2"/>
              </a:solidFill>
            </a:endParaRPr>
          </a:p>
        </p:txBody>
      </p:sp>
      <p:sp>
        <p:nvSpPr>
          <p:cNvPr id="148" name="Google Shape;148;p24"/>
          <p:cNvSpPr txBox="1"/>
          <p:nvPr/>
        </p:nvSpPr>
        <p:spPr>
          <a:xfrm>
            <a:off x="7257007" y="1246931"/>
            <a:ext cx="749100" cy="415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500" u="sng">
                <a:solidFill>
                  <a:srgbClr val="EFEFEF"/>
                </a:solidFill>
              </a:rPr>
              <a:t>Pros</a:t>
            </a:r>
            <a:endParaRPr sz="1500" u="sng">
              <a:solidFill>
                <a:srgbClr val="EFEFEF"/>
              </a:solidFill>
            </a:endParaRPr>
          </a:p>
        </p:txBody>
      </p:sp>
      <p:sp>
        <p:nvSpPr>
          <p:cNvPr id="149" name="Google Shape;149;p24"/>
          <p:cNvSpPr txBox="1"/>
          <p:nvPr/>
        </p:nvSpPr>
        <p:spPr>
          <a:xfrm>
            <a:off x="6482170" y="1592081"/>
            <a:ext cx="2298900" cy="1046700"/>
          </a:xfrm>
          <a:prstGeom prst="rect">
            <a:avLst/>
          </a:prstGeom>
          <a:solidFill>
            <a:srgbClr val="F3F3F3"/>
          </a:solidFill>
          <a:ln cap="flat" cmpd="sng" w="9525">
            <a:solidFill>
              <a:schemeClr val="lt1"/>
            </a:solidFill>
            <a:prstDash val="solid"/>
            <a:round/>
            <a:headEnd len="sm" w="sm" type="none"/>
            <a:tailEnd len="sm" w="sm" type="none"/>
          </a:ln>
        </p:spPr>
        <p:txBody>
          <a:bodyPr anchorCtr="0" anchor="t" bIns="91425" lIns="91425" spcFirstLastPara="1" rIns="91425" wrap="square" tIns="91425">
            <a:spAutoFit/>
          </a:bodyPr>
          <a:lstStyle/>
          <a:p>
            <a:pPr indent="-317500" lvl="0" marL="457200" rtl="0" algn="l">
              <a:spcBef>
                <a:spcPts val="0"/>
              </a:spcBef>
              <a:spcAft>
                <a:spcPts val="0"/>
              </a:spcAft>
              <a:buClr>
                <a:schemeClr val="lt1"/>
              </a:buClr>
              <a:buSzPts val="1400"/>
              <a:buChar char="●"/>
            </a:pPr>
            <a:r>
              <a:rPr lang="en">
                <a:solidFill>
                  <a:schemeClr val="lt1"/>
                </a:solidFill>
              </a:rPr>
              <a:t>Specializes in statistical data analysis*</a:t>
            </a:r>
            <a:endParaRPr>
              <a:solidFill>
                <a:schemeClr val="lt1"/>
              </a:solidFill>
            </a:endParaRPr>
          </a:p>
          <a:p>
            <a:pPr indent="-317500" lvl="0" marL="457200" rtl="0" algn="l">
              <a:spcBef>
                <a:spcPts val="0"/>
              </a:spcBef>
              <a:spcAft>
                <a:spcPts val="0"/>
              </a:spcAft>
              <a:buClr>
                <a:schemeClr val="lt1"/>
              </a:buClr>
              <a:buSzPts val="1400"/>
              <a:buChar char="●"/>
            </a:pPr>
            <a:r>
              <a:rPr lang="en">
                <a:solidFill>
                  <a:schemeClr val="lt1"/>
                </a:solidFill>
              </a:rPr>
              <a:t>Free(Open source)</a:t>
            </a:r>
            <a:endParaRPr>
              <a:solidFill>
                <a:schemeClr val="lt1"/>
              </a:solidFill>
            </a:endParaRPr>
          </a:p>
        </p:txBody>
      </p:sp>
      <p:sp>
        <p:nvSpPr>
          <p:cNvPr id="150" name="Google Shape;150;p24"/>
          <p:cNvSpPr txBox="1"/>
          <p:nvPr/>
        </p:nvSpPr>
        <p:spPr>
          <a:xfrm>
            <a:off x="7255632" y="2920881"/>
            <a:ext cx="749100" cy="415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500" u="sng">
                <a:solidFill>
                  <a:srgbClr val="EFEFEF"/>
                </a:solidFill>
              </a:rPr>
              <a:t>Cons</a:t>
            </a:r>
            <a:endParaRPr sz="1500" u="sng">
              <a:solidFill>
                <a:srgbClr val="EFEFEF"/>
              </a:solidFill>
            </a:endParaRPr>
          </a:p>
        </p:txBody>
      </p:sp>
      <p:sp>
        <p:nvSpPr>
          <p:cNvPr id="151" name="Google Shape;151;p24"/>
          <p:cNvSpPr txBox="1"/>
          <p:nvPr/>
        </p:nvSpPr>
        <p:spPr>
          <a:xfrm>
            <a:off x="6482163" y="3315875"/>
            <a:ext cx="2298900" cy="1308300"/>
          </a:xfrm>
          <a:prstGeom prst="rect">
            <a:avLst/>
          </a:prstGeom>
          <a:solidFill>
            <a:srgbClr val="F3F3F3"/>
          </a:solidFill>
          <a:ln cap="flat" cmpd="sng" w="9525">
            <a:solidFill>
              <a:schemeClr val="lt1"/>
            </a:solidFill>
            <a:prstDash val="solid"/>
            <a:round/>
            <a:headEnd len="sm" w="sm" type="none"/>
            <a:tailEnd len="sm" w="sm" type="none"/>
          </a:ln>
        </p:spPr>
        <p:txBody>
          <a:bodyPr anchorCtr="0" anchor="t" bIns="91425" lIns="91425" spcFirstLastPara="1" rIns="91425" wrap="square" tIns="91425">
            <a:spAutoFit/>
          </a:bodyPr>
          <a:lstStyle/>
          <a:p>
            <a:pPr indent="-317500" lvl="0" marL="457200" rtl="0" algn="l">
              <a:spcBef>
                <a:spcPts val="0"/>
              </a:spcBef>
              <a:spcAft>
                <a:spcPts val="0"/>
              </a:spcAft>
              <a:buClr>
                <a:schemeClr val="lt1"/>
              </a:buClr>
              <a:buSzPts val="1400"/>
              <a:buChar char="●"/>
            </a:pPr>
            <a:r>
              <a:rPr lang="en">
                <a:solidFill>
                  <a:schemeClr val="lt1"/>
                </a:solidFill>
              </a:rPr>
              <a:t>Eccentric syntax</a:t>
            </a:r>
            <a:endParaRPr sz="1500">
              <a:solidFill>
                <a:schemeClr val="lt1"/>
              </a:solidFill>
            </a:endParaRPr>
          </a:p>
          <a:p>
            <a:pPr indent="-323850" lvl="0" marL="457200" rtl="0" algn="l">
              <a:spcBef>
                <a:spcPts val="0"/>
              </a:spcBef>
              <a:spcAft>
                <a:spcPts val="0"/>
              </a:spcAft>
              <a:buClr>
                <a:schemeClr val="lt1"/>
              </a:buClr>
              <a:buSzPts val="1500"/>
              <a:buChar char="●"/>
            </a:pPr>
            <a:r>
              <a:rPr lang="en" sz="1500">
                <a:solidFill>
                  <a:schemeClr val="lt1"/>
                </a:solidFill>
              </a:rPr>
              <a:t>Smaller ecosystem despite being open source</a:t>
            </a:r>
            <a:endParaRPr sz="1500">
              <a:solidFill>
                <a:schemeClr val="lt1"/>
              </a:solidFill>
            </a:endParaRPr>
          </a:p>
          <a:p>
            <a:pPr indent="-317500" lvl="0" marL="457200" rtl="0" algn="l">
              <a:spcBef>
                <a:spcPts val="0"/>
              </a:spcBef>
              <a:spcAft>
                <a:spcPts val="0"/>
              </a:spcAft>
              <a:buClr>
                <a:schemeClr val="lt1"/>
              </a:buClr>
              <a:buSzPts val="1400"/>
              <a:buChar char="●"/>
            </a:pPr>
            <a:r>
              <a:rPr lang="en">
                <a:solidFill>
                  <a:schemeClr val="lt1"/>
                </a:solidFill>
              </a:rPr>
              <a:t>Slower computation</a:t>
            </a:r>
            <a:endParaRPr>
              <a:solidFill>
                <a:schemeClr val="lt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Reference</a:t>
            </a:r>
            <a:endParaRPr/>
          </a:p>
        </p:txBody>
      </p:sp>
      <p:sp>
        <p:nvSpPr>
          <p:cNvPr descr="Journal" id="157" name="Google Shape;157;p25"/>
          <p:cNvSpPr txBox="1"/>
          <p:nvPr>
            <p:ph idx="1" type="body"/>
          </p:nvPr>
        </p:nvSpPr>
        <p:spPr>
          <a:xfrm>
            <a:off x="311700" y="1152475"/>
            <a:ext cx="8520600" cy="33876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Clr>
                <a:srgbClr val="C9DAF8"/>
              </a:buClr>
              <a:buSzPts val="1800"/>
              <a:buChar char="-"/>
            </a:pPr>
            <a:r>
              <a:rPr lang="en">
                <a:solidFill>
                  <a:srgbClr val="C9DAF8"/>
                </a:solidFill>
                <a:uFill>
                  <a:noFill/>
                </a:uFill>
                <a:hlinkClick r:id="rId3">
                  <a:extLst>
                    <a:ext uri="{A12FA001-AC4F-418D-AE19-62706E023703}">
                      <ahyp:hlinkClr val="tx"/>
                    </a:ext>
                  </a:extLst>
                </a:hlinkClick>
              </a:rPr>
              <a:t>2026 programming language ranking</a:t>
            </a:r>
            <a:endParaRPr>
              <a:solidFill>
                <a:srgbClr val="C9DAF8"/>
              </a:solidFill>
            </a:endParaRPr>
          </a:p>
          <a:p>
            <a:pPr indent="-342900" lvl="0" marL="457200" rtl="0" algn="l">
              <a:spcBef>
                <a:spcPts val="0"/>
              </a:spcBef>
              <a:spcAft>
                <a:spcPts val="0"/>
              </a:spcAft>
              <a:buClr>
                <a:srgbClr val="C9DAF8"/>
              </a:buClr>
              <a:buSzPts val="1800"/>
              <a:buChar char="-"/>
            </a:pPr>
            <a:r>
              <a:rPr lang="en">
                <a:solidFill>
                  <a:srgbClr val="C9DAF8"/>
                </a:solidFill>
                <a:uFill>
                  <a:noFill/>
                </a:uFill>
                <a:hlinkClick r:id="rId4">
                  <a:extLst>
                    <a:ext uri="{A12FA001-AC4F-418D-AE19-62706E023703}">
                      <ahyp:hlinkClr val="tx"/>
                    </a:ext>
                  </a:extLst>
                </a:hlinkClick>
              </a:rPr>
              <a:t>Python popularity</a:t>
            </a:r>
            <a:endParaRPr>
              <a:solidFill>
                <a:srgbClr val="C9DAF8"/>
              </a:solidFill>
            </a:endParaRPr>
          </a:p>
          <a:p>
            <a:pPr indent="-342900" lvl="0" marL="457200" rtl="0" algn="l">
              <a:spcBef>
                <a:spcPts val="0"/>
              </a:spcBef>
              <a:spcAft>
                <a:spcPts val="0"/>
              </a:spcAft>
              <a:buClr>
                <a:srgbClr val="C9DAF8"/>
              </a:buClr>
              <a:buSzPts val="1800"/>
              <a:buChar char="-"/>
            </a:pPr>
            <a:r>
              <a:rPr lang="en">
                <a:solidFill>
                  <a:srgbClr val="C9DAF8"/>
                </a:solidFill>
                <a:uFill>
                  <a:noFill/>
                </a:uFill>
                <a:hlinkClick r:id="rId5">
                  <a:extLst>
                    <a:ext uri="{A12FA001-AC4F-418D-AE19-62706E023703}">
                      <ahyp:hlinkClr val="tx"/>
                    </a:ext>
                  </a:extLst>
                </a:hlinkClick>
              </a:rPr>
              <a:t>Heatmap in R</a:t>
            </a:r>
            <a:endParaRPr>
              <a:solidFill>
                <a:srgbClr val="C9DAF8"/>
              </a:solidFill>
            </a:endParaRPr>
          </a:p>
          <a:p>
            <a:pPr indent="-342900" lvl="0" marL="457200" rtl="0" algn="l">
              <a:spcBef>
                <a:spcPts val="0"/>
              </a:spcBef>
              <a:spcAft>
                <a:spcPts val="0"/>
              </a:spcAft>
              <a:buClr>
                <a:srgbClr val="C9DAF8"/>
              </a:buClr>
              <a:buSzPts val="1800"/>
              <a:buChar char="-"/>
            </a:pPr>
            <a:r>
              <a:rPr lang="en">
                <a:solidFill>
                  <a:srgbClr val="C9DAF8"/>
                </a:solidFill>
                <a:uFill>
                  <a:noFill/>
                </a:uFill>
                <a:hlinkClick r:id="rId6">
                  <a:extLst>
                    <a:ext uri="{A12FA001-AC4F-418D-AE19-62706E023703}">
                      <ahyp:hlinkClr val="tx"/>
                    </a:ext>
                  </a:extLst>
                </a:hlinkClick>
              </a:rPr>
              <a:t>Companies that uses python</a:t>
            </a:r>
            <a:endParaRPr>
              <a:solidFill>
                <a:srgbClr val="C9DAF8"/>
              </a:solidFill>
            </a:endParaRPr>
          </a:p>
          <a:p>
            <a:pPr indent="-342900" lvl="0" marL="457200" rtl="0" algn="l">
              <a:spcBef>
                <a:spcPts val="0"/>
              </a:spcBef>
              <a:spcAft>
                <a:spcPts val="0"/>
              </a:spcAft>
              <a:buClr>
                <a:srgbClr val="C9DAF8"/>
              </a:buClr>
              <a:buSzPts val="1800"/>
              <a:buChar char="-"/>
            </a:pPr>
            <a:r>
              <a:rPr lang="en">
                <a:solidFill>
                  <a:srgbClr val="C9DAF8"/>
                </a:solidFill>
                <a:uFill>
                  <a:noFill/>
                </a:uFill>
                <a:hlinkClick r:id="rId7">
                  <a:extLst>
                    <a:ext uri="{A12FA001-AC4F-418D-AE19-62706E023703}">
                      <ahyp:hlinkClr val="tx"/>
                    </a:ext>
                  </a:extLst>
                </a:hlinkClick>
              </a:rPr>
              <a:t>matlab applications</a:t>
            </a:r>
            <a:endParaRPr>
              <a:solidFill>
                <a:srgbClr val="C9DAF8"/>
              </a:solidFill>
            </a:endParaRPr>
          </a:p>
          <a:p>
            <a:pPr indent="-342900" lvl="0" marL="457200" rtl="0" algn="l">
              <a:spcBef>
                <a:spcPts val="0"/>
              </a:spcBef>
              <a:spcAft>
                <a:spcPts val="0"/>
              </a:spcAft>
              <a:buClr>
                <a:srgbClr val="C9DAF8"/>
              </a:buClr>
              <a:buSzPts val="1800"/>
              <a:buChar char="-"/>
            </a:pPr>
            <a:r>
              <a:rPr lang="en">
                <a:solidFill>
                  <a:srgbClr val="C9DAF8"/>
                </a:solidFill>
                <a:uFill>
                  <a:noFill/>
                </a:uFill>
                <a:hlinkClick r:id="rId8">
                  <a:extLst>
                    <a:ext uri="{A12FA001-AC4F-418D-AE19-62706E023703}">
                      <ahyp:hlinkClr val="tx"/>
                    </a:ext>
                  </a:extLst>
                </a:hlinkClick>
              </a:rPr>
              <a:t>Matlab help center</a:t>
            </a:r>
            <a:endParaRPr>
              <a:solidFill>
                <a:srgbClr val="C9DAF8"/>
              </a:solidFill>
            </a:endParaRPr>
          </a:p>
          <a:p>
            <a:pPr indent="-342900" lvl="0" marL="457200" rtl="0" algn="l">
              <a:spcBef>
                <a:spcPts val="0"/>
              </a:spcBef>
              <a:spcAft>
                <a:spcPts val="0"/>
              </a:spcAft>
              <a:buClr>
                <a:srgbClr val="C9DAF8"/>
              </a:buClr>
              <a:buSzPts val="1800"/>
              <a:buChar char="-"/>
            </a:pPr>
            <a:r>
              <a:rPr lang="en">
                <a:solidFill>
                  <a:srgbClr val="C9DAF8"/>
                </a:solidFill>
                <a:uFill>
                  <a:noFill/>
                </a:uFill>
                <a:hlinkClick r:id="rId9">
                  <a:extLst>
                    <a:ext uri="{A12FA001-AC4F-418D-AE19-62706E023703}">
                      <ahyp:hlinkClr val="tx"/>
                    </a:ext>
                  </a:extLst>
                </a:hlinkClick>
              </a:rPr>
              <a:t>Web scrap tutor</a:t>
            </a:r>
            <a:endParaRPr>
              <a:solidFill>
                <a:srgbClr val="C9DAF8"/>
              </a:solidFill>
            </a:endParaRPr>
          </a:p>
          <a:p>
            <a:pPr indent="-342900" lvl="0" marL="457200" rtl="0" algn="l">
              <a:spcBef>
                <a:spcPts val="0"/>
              </a:spcBef>
              <a:spcAft>
                <a:spcPts val="0"/>
              </a:spcAft>
              <a:buClr>
                <a:srgbClr val="C9DAF8"/>
              </a:buClr>
              <a:buSzPts val="1800"/>
              <a:buChar char="-"/>
            </a:pPr>
            <a:r>
              <a:rPr lang="en">
                <a:solidFill>
                  <a:srgbClr val="C9DAF8"/>
                </a:solidFill>
                <a:uFill>
                  <a:noFill/>
                </a:uFill>
                <a:hlinkClick r:id="rId10">
                  <a:extLst>
                    <a:ext uri="{A12FA001-AC4F-418D-AE19-62706E023703}">
                      <ahyp:hlinkClr val="tx"/>
                    </a:ext>
                  </a:extLst>
                </a:hlinkClick>
              </a:rPr>
              <a:t>MatLab vs Python vs R</a:t>
            </a:r>
            <a:endParaRPr>
              <a:solidFill>
                <a:srgbClr val="C9DAF8"/>
              </a:solidFill>
            </a:endParaRPr>
          </a:p>
          <a:p>
            <a:pPr indent="-342900" lvl="0" marL="457200" rtl="0" algn="l">
              <a:spcBef>
                <a:spcPts val="0"/>
              </a:spcBef>
              <a:spcAft>
                <a:spcPts val="0"/>
              </a:spcAft>
              <a:buClr>
                <a:srgbClr val="C9DAF8"/>
              </a:buClr>
              <a:buSzPts val="1800"/>
              <a:buChar char="-"/>
            </a:pPr>
            <a:r>
              <a:rPr lang="en">
                <a:solidFill>
                  <a:srgbClr val="C9DAF8"/>
                </a:solidFill>
                <a:uFill>
                  <a:noFill/>
                </a:uFill>
                <a:hlinkClick r:id="rId11">
                  <a:extLst>
                    <a:ext uri="{A12FA001-AC4F-418D-AE19-62706E023703}">
                      <ahyp:hlinkClr val="tx"/>
                    </a:ext>
                  </a:extLst>
                </a:hlinkClick>
              </a:rPr>
              <a:t>API</a:t>
            </a:r>
            <a:endParaRPr>
              <a:solidFill>
                <a:srgbClr val="C9DAF8"/>
              </a:solidFill>
            </a:endParaRPr>
          </a:p>
          <a:p>
            <a:pPr indent="-342900" lvl="0" marL="457200" rtl="0" algn="l">
              <a:spcBef>
                <a:spcPts val="0"/>
              </a:spcBef>
              <a:spcAft>
                <a:spcPts val="0"/>
              </a:spcAft>
              <a:buClr>
                <a:srgbClr val="C9DAF8"/>
              </a:buClr>
              <a:buSzPts val="1800"/>
              <a:buChar char="-"/>
            </a:pPr>
            <a:r>
              <a:rPr lang="en">
                <a:solidFill>
                  <a:srgbClr val="C9DAF8"/>
                </a:solidFill>
                <a:uFill>
                  <a:noFill/>
                </a:uFill>
                <a:hlinkClick r:id="rId12">
                  <a:extLst>
                    <a:ext uri="{A12FA001-AC4F-418D-AE19-62706E023703}">
                      <ahyp:hlinkClr val="tx"/>
                    </a:ext>
                  </a:extLst>
                </a:hlinkClick>
              </a:rPr>
              <a:t>RESTful vs GraphQL</a:t>
            </a:r>
            <a:endParaRPr>
              <a:solidFill>
                <a:srgbClr val="C9DAF8"/>
              </a:solidFill>
            </a:endParaRPr>
          </a:p>
          <a:p>
            <a:pPr indent="0" lvl="0" marL="457200" rtl="0" algn="l">
              <a:spcBef>
                <a:spcPts val="1200"/>
              </a:spcBef>
              <a:spcAft>
                <a:spcPts val="0"/>
              </a:spcAft>
              <a:buNone/>
            </a:pPr>
            <a:r>
              <a:t/>
            </a:r>
            <a:endParaRPr>
              <a:solidFill>
                <a:srgbClr val="C9DAF8"/>
              </a:solidFill>
            </a:endParaRPr>
          </a:p>
          <a:p>
            <a:pPr indent="0" lvl="0" marL="0" rtl="0" algn="l">
              <a:spcBef>
                <a:spcPts val="1200"/>
              </a:spcBef>
              <a:spcAft>
                <a:spcPts val="0"/>
              </a:spcAft>
              <a:buNone/>
            </a:pPr>
            <a:r>
              <a:t/>
            </a:r>
            <a:endParaRPr>
              <a:solidFill>
                <a:srgbClr val="C9DAF8"/>
              </a:solidFill>
            </a:endParaRPr>
          </a:p>
          <a:p>
            <a:pPr indent="0" lvl="0" marL="457200" rtl="0" algn="l">
              <a:spcBef>
                <a:spcPts val="1200"/>
              </a:spcBef>
              <a:spcAft>
                <a:spcPts val="120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6"/>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Q &amp; A</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Dark">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