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0" r:id="rId1"/>
  </p:sldMasterIdLst>
  <p:notesMasterIdLst>
    <p:notesMasterId r:id="rId23"/>
  </p:notesMasterIdLst>
  <p:sldIdLst>
    <p:sldId id="256" r:id="rId2"/>
    <p:sldId id="333" r:id="rId3"/>
    <p:sldId id="257" r:id="rId4"/>
    <p:sldId id="330" r:id="rId5"/>
    <p:sldId id="334" r:id="rId6"/>
    <p:sldId id="264" r:id="rId7"/>
    <p:sldId id="265" r:id="rId8"/>
    <p:sldId id="332" r:id="rId9"/>
    <p:sldId id="336" r:id="rId10"/>
    <p:sldId id="258" r:id="rId11"/>
    <p:sldId id="299" r:id="rId12"/>
    <p:sldId id="337" r:id="rId13"/>
    <p:sldId id="300" r:id="rId14"/>
    <p:sldId id="301" r:id="rId15"/>
    <p:sldId id="338" r:id="rId16"/>
    <p:sldId id="339" r:id="rId17"/>
    <p:sldId id="263" r:id="rId18"/>
    <p:sldId id="340" r:id="rId19"/>
    <p:sldId id="260" r:id="rId20"/>
    <p:sldId id="261" r:id="rId21"/>
    <p:sldId id="262" r:id="rId22"/>
  </p:sldIdLst>
  <p:sldSz cx="12192000" cy="6858000"/>
  <p:notesSz cx="6858000" cy="9144000"/>
  <p:embeddedFontLst>
    <p:embeddedFont>
      <p:font typeface="Abadi" panose="020B0604020104020204" pitchFamily="34" charset="0"/>
      <p:regular r:id="rId24"/>
    </p:embeddedFont>
    <p:embeddedFont>
      <p:font typeface="Play" panose="020B0604020202020204" charset="0"/>
      <p:regular r:id="rId25"/>
      <p:bold r:id="rId26"/>
    </p:embeddedFont>
    <p:embeddedFont>
      <p:font typeface="Tw Cen MT" panose="020B0602020104020603" pitchFamily="34" charset="0"/>
      <p:regular r:id="rId27"/>
      <p:bold r:id="rId28"/>
      <p:italic r:id="rId29"/>
      <p:boldItalic r:id="rId30"/>
    </p:embeddedFont>
    <p:embeddedFont>
      <p:font typeface="Tw Cen MT Condensed" panose="020B0606020104020203" pitchFamily="34" charset="0"/>
      <p:regular r:id="rId31"/>
      <p:bold r:id="rId32"/>
    </p:embeddedFont>
    <p:embeddedFont>
      <p:font typeface="Wingdings 3" panose="05040102010807070707" pitchFamily="18" charset="2"/>
      <p:regular r:id="rId33"/>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34" roundtripDataSignature="AMtx7mjt75nS65C4b5CC1I90BQKR+w21P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5" d="100"/>
          <a:sy n="85" d="100"/>
        </p:scale>
        <p:origin x="147" y="4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3.fntdata"/><Relationship Id="rId21" Type="http://schemas.openxmlformats.org/officeDocument/2006/relationships/slide" Target="slides/slide20.xml"/><Relationship Id="rId34" Type="http://customschemas.google.com/relationships/presentationmetadata" Target="meta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2.fntdata"/><Relationship Id="rId33" Type="http://schemas.openxmlformats.org/officeDocument/2006/relationships/font" Target="fonts/font10.fntdata"/><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6.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1.fntdata"/><Relationship Id="rId32" Type="http://schemas.openxmlformats.org/officeDocument/2006/relationships/font" Target="fonts/font9.fntdata"/><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font" Target="fonts/font5.fntdata"/><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8.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4.fntdata"/><Relationship Id="rId30" Type="http://schemas.openxmlformats.org/officeDocument/2006/relationships/font" Target="fonts/font7.fntdata"/><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diagrams/_rels/data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svg"/><Relationship Id="rId1" Type="http://schemas.openxmlformats.org/officeDocument/2006/relationships/image" Target="../media/image6.png"/><Relationship Id="rId4" Type="http://schemas.openxmlformats.org/officeDocument/2006/relationships/image" Target="../media/image9.svg"/></Relationships>
</file>

<file path=ppt/diagrams/_rels/drawing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svg"/><Relationship Id="rId1" Type="http://schemas.openxmlformats.org/officeDocument/2006/relationships/image" Target="../media/image6.png"/><Relationship Id="rId4" Type="http://schemas.openxmlformats.org/officeDocument/2006/relationships/image" Target="../media/image9.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329A348-0634-45DC-B9EC-2125A855C823}" type="doc">
      <dgm:prSet loTypeId="urn:microsoft.com/office/officeart/2018/2/layout/IconLabelDescriptionList" loCatId="icon" qsTypeId="urn:microsoft.com/office/officeart/2005/8/quickstyle/simple1" qsCatId="simple" csTypeId="urn:microsoft.com/office/officeart/2005/8/colors/accent1_2" csCatId="accent1" phldr="1"/>
      <dgm:spPr/>
      <dgm:t>
        <a:bodyPr/>
        <a:lstStyle/>
        <a:p>
          <a:endParaRPr lang="en-US"/>
        </a:p>
      </dgm:t>
    </dgm:pt>
    <dgm:pt modelId="{2B89FB2B-C192-4FD7-9DE8-6F74BB6A1D3C}">
      <dgm:prSet/>
      <dgm:spPr/>
      <dgm:t>
        <a:bodyPr/>
        <a:lstStyle/>
        <a:p>
          <a:pPr>
            <a:lnSpc>
              <a:spcPct val="100000"/>
            </a:lnSpc>
            <a:defRPr b="1"/>
          </a:pPr>
          <a:r>
            <a:rPr lang="en-US"/>
            <a:t>Project background and context</a:t>
          </a:r>
        </a:p>
      </dgm:t>
    </dgm:pt>
    <dgm:pt modelId="{1BBE4A91-A039-42A4-9179-77C34333AA0A}" type="parTrans" cxnId="{DA89B650-CA0E-4252-ABCD-C0B4E8EE3DA2}">
      <dgm:prSet/>
      <dgm:spPr/>
      <dgm:t>
        <a:bodyPr/>
        <a:lstStyle/>
        <a:p>
          <a:endParaRPr lang="en-US"/>
        </a:p>
      </dgm:t>
    </dgm:pt>
    <dgm:pt modelId="{06D4D74A-A411-44FA-8C63-209E1AD272E1}" type="sibTrans" cxnId="{DA89B650-CA0E-4252-ABCD-C0B4E8EE3DA2}">
      <dgm:prSet/>
      <dgm:spPr/>
      <dgm:t>
        <a:bodyPr/>
        <a:lstStyle/>
        <a:p>
          <a:endParaRPr lang="en-US"/>
        </a:p>
      </dgm:t>
    </dgm:pt>
    <dgm:pt modelId="{63E55710-D8CA-4C64-AE82-0D8473AB689F}">
      <dgm:prSet/>
      <dgm:spPr/>
      <dgm:t>
        <a:bodyPr/>
        <a:lstStyle/>
        <a:p>
          <a:pPr>
            <a:lnSpc>
              <a:spcPct val="100000"/>
            </a:lnSpc>
          </a:pPr>
          <a:r>
            <a:rPr lang="en-US"/>
            <a:t>Space X advertises Falcon 9 rocket launches on its website with a cost of 62 million dollars; other providers cost upward of 165 million dollars each, much of the savings is because Space X can reuse the first stage. Therefore, if we can determine if the first stage will land, we can determine the cost of a launch. This information can be used if an alternate company wants to bid against space X for a rocket launch. This goal of the project is to create a machine learning pipeline to predict if the first stage will land successfully.</a:t>
          </a:r>
        </a:p>
      </dgm:t>
    </dgm:pt>
    <dgm:pt modelId="{FC5B764D-9735-4B4B-9EE1-DB860288D8FD}" type="parTrans" cxnId="{260DA31F-3B4E-4460-A14D-69CB58CDD18F}">
      <dgm:prSet/>
      <dgm:spPr/>
      <dgm:t>
        <a:bodyPr/>
        <a:lstStyle/>
        <a:p>
          <a:endParaRPr lang="en-US"/>
        </a:p>
      </dgm:t>
    </dgm:pt>
    <dgm:pt modelId="{30FC629F-D78C-4592-ADD8-C50B0D9AD961}" type="sibTrans" cxnId="{260DA31F-3B4E-4460-A14D-69CB58CDD18F}">
      <dgm:prSet/>
      <dgm:spPr/>
      <dgm:t>
        <a:bodyPr/>
        <a:lstStyle/>
        <a:p>
          <a:endParaRPr lang="en-US"/>
        </a:p>
      </dgm:t>
    </dgm:pt>
    <dgm:pt modelId="{EECCE85F-EA33-480C-B1EC-509D83CB3620}">
      <dgm:prSet/>
      <dgm:spPr/>
      <dgm:t>
        <a:bodyPr/>
        <a:lstStyle/>
        <a:p>
          <a:pPr>
            <a:lnSpc>
              <a:spcPct val="100000"/>
            </a:lnSpc>
            <a:defRPr b="1"/>
          </a:pPr>
          <a:r>
            <a:rPr lang="en-US"/>
            <a:t>Problems you want to find answers</a:t>
          </a:r>
        </a:p>
      </dgm:t>
    </dgm:pt>
    <dgm:pt modelId="{D5268E21-F8CC-49EC-8318-97E7E0EEFAE9}" type="parTrans" cxnId="{AB746792-24C8-460E-9E3B-8EEB52ACF001}">
      <dgm:prSet/>
      <dgm:spPr/>
      <dgm:t>
        <a:bodyPr/>
        <a:lstStyle/>
        <a:p>
          <a:endParaRPr lang="en-US"/>
        </a:p>
      </dgm:t>
    </dgm:pt>
    <dgm:pt modelId="{63C4308A-2C9E-4E18-AF04-77DE585E11DA}" type="sibTrans" cxnId="{AB746792-24C8-460E-9E3B-8EEB52ACF001}">
      <dgm:prSet/>
      <dgm:spPr/>
      <dgm:t>
        <a:bodyPr/>
        <a:lstStyle/>
        <a:p>
          <a:endParaRPr lang="en-US"/>
        </a:p>
      </dgm:t>
    </dgm:pt>
    <dgm:pt modelId="{8555F9A9-8D97-447A-B8AD-0CB69C8568C2}">
      <dgm:prSet/>
      <dgm:spPr/>
      <dgm:t>
        <a:bodyPr/>
        <a:lstStyle/>
        <a:p>
          <a:pPr>
            <a:lnSpc>
              <a:spcPct val="100000"/>
            </a:lnSpc>
          </a:pPr>
          <a:r>
            <a:rPr lang="en-US"/>
            <a:t>What factors determine if the rocket will land successfully?</a:t>
          </a:r>
        </a:p>
      </dgm:t>
    </dgm:pt>
    <dgm:pt modelId="{8E64E6DE-88DC-46C0-8111-EF2BD9241E3E}" type="parTrans" cxnId="{3B483998-B8BA-4286-A205-99966ABE5156}">
      <dgm:prSet/>
      <dgm:spPr/>
      <dgm:t>
        <a:bodyPr/>
        <a:lstStyle/>
        <a:p>
          <a:endParaRPr lang="en-US"/>
        </a:p>
      </dgm:t>
    </dgm:pt>
    <dgm:pt modelId="{5BB6C077-0AB5-4095-8E41-FA183CDD3A01}" type="sibTrans" cxnId="{3B483998-B8BA-4286-A205-99966ABE5156}">
      <dgm:prSet/>
      <dgm:spPr/>
      <dgm:t>
        <a:bodyPr/>
        <a:lstStyle/>
        <a:p>
          <a:endParaRPr lang="en-US"/>
        </a:p>
      </dgm:t>
    </dgm:pt>
    <dgm:pt modelId="{2035276C-AACB-43AB-AE75-7F03279812A3}">
      <dgm:prSet/>
      <dgm:spPr/>
      <dgm:t>
        <a:bodyPr/>
        <a:lstStyle/>
        <a:p>
          <a:pPr>
            <a:lnSpc>
              <a:spcPct val="100000"/>
            </a:lnSpc>
          </a:pPr>
          <a:r>
            <a:rPr lang="en-US"/>
            <a:t>The interaction amongst various features that determine the success rate of a successful landing.</a:t>
          </a:r>
        </a:p>
      </dgm:t>
    </dgm:pt>
    <dgm:pt modelId="{CC2CB163-002B-458A-BAF8-46B3373FFC59}" type="parTrans" cxnId="{D0611228-228A-49A3-8C49-05C74C239A84}">
      <dgm:prSet/>
      <dgm:spPr/>
      <dgm:t>
        <a:bodyPr/>
        <a:lstStyle/>
        <a:p>
          <a:endParaRPr lang="en-US"/>
        </a:p>
      </dgm:t>
    </dgm:pt>
    <dgm:pt modelId="{1D9F9CB5-A218-4A69-AAA2-ACF88C7FC2D9}" type="sibTrans" cxnId="{D0611228-228A-49A3-8C49-05C74C239A84}">
      <dgm:prSet/>
      <dgm:spPr/>
      <dgm:t>
        <a:bodyPr/>
        <a:lstStyle/>
        <a:p>
          <a:endParaRPr lang="en-US"/>
        </a:p>
      </dgm:t>
    </dgm:pt>
    <dgm:pt modelId="{CAE69CF6-7897-4C72-91A2-20AA1FE59F4A}">
      <dgm:prSet/>
      <dgm:spPr/>
      <dgm:t>
        <a:bodyPr/>
        <a:lstStyle/>
        <a:p>
          <a:pPr>
            <a:lnSpc>
              <a:spcPct val="100000"/>
            </a:lnSpc>
          </a:pPr>
          <a:r>
            <a:rPr lang="en-US"/>
            <a:t>What operating conditions needs to be in place to ensure a successful landing program.</a:t>
          </a:r>
        </a:p>
      </dgm:t>
    </dgm:pt>
    <dgm:pt modelId="{83D6CCF3-7DF1-4276-872A-18940F2975A0}" type="parTrans" cxnId="{9D8894C6-74F8-49E3-8F53-A0786956551D}">
      <dgm:prSet/>
      <dgm:spPr/>
      <dgm:t>
        <a:bodyPr/>
        <a:lstStyle/>
        <a:p>
          <a:endParaRPr lang="en-US"/>
        </a:p>
      </dgm:t>
    </dgm:pt>
    <dgm:pt modelId="{9BEC06EC-B870-48B1-97C4-974724215E18}" type="sibTrans" cxnId="{9D8894C6-74F8-49E3-8F53-A0786956551D}">
      <dgm:prSet/>
      <dgm:spPr/>
      <dgm:t>
        <a:bodyPr/>
        <a:lstStyle/>
        <a:p>
          <a:endParaRPr lang="en-US"/>
        </a:p>
      </dgm:t>
    </dgm:pt>
    <dgm:pt modelId="{4AB44885-47D2-4D25-B5EE-8D10A749807A}" type="pres">
      <dgm:prSet presAssocID="{9329A348-0634-45DC-B9EC-2125A855C823}" presName="root" presStyleCnt="0">
        <dgm:presLayoutVars>
          <dgm:dir/>
          <dgm:resizeHandles val="exact"/>
        </dgm:presLayoutVars>
      </dgm:prSet>
      <dgm:spPr/>
    </dgm:pt>
    <dgm:pt modelId="{691CF9F3-3C8D-49C0-9FB4-AC97DA58374B}" type="pres">
      <dgm:prSet presAssocID="{2B89FB2B-C192-4FD7-9DE8-6F74BB6A1D3C}" presName="compNode" presStyleCnt="0"/>
      <dgm:spPr/>
    </dgm:pt>
    <dgm:pt modelId="{6A2841D3-700B-452E-970D-293946099BD1}" type="pres">
      <dgm:prSet presAssocID="{2B89FB2B-C192-4FD7-9DE8-6F74BB6A1D3C}"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Rocket"/>
        </a:ext>
      </dgm:extLst>
    </dgm:pt>
    <dgm:pt modelId="{0F6F7B17-084F-4345-88E0-5751C0BBC0E7}" type="pres">
      <dgm:prSet presAssocID="{2B89FB2B-C192-4FD7-9DE8-6F74BB6A1D3C}" presName="iconSpace" presStyleCnt="0"/>
      <dgm:spPr/>
    </dgm:pt>
    <dgm:pt modelId="{A0C6FAA1-C554-48F1-9F99-194E2DB83508}" type="pres">
      <dgm:prSet presAssocID="{2B89FB2B-C192-4FD7-9DE8-6F74BB6A1D3C}" presName="parTx" presStyleLbl="revTx" presStyleIdx="0" presStyleCnt="4">
        <dgm:presLayoutVars>
          <dgm:chMax val="0"/>
          <dgm:chPref val="0"/>
        </dgm:presLayoutVars>
      </dgm:prSet>
      <dgm:spPr/>
    </dgm:pt>
    <dgm:pt modelId="{8C371C27-6E09-4C8A-A3F2-E74FFC8140D3}" type="pres">
      <dgm:prSet presAssocID="{2B89FB2B-C192-4FD7-9DE8-6F74BB6A1D3C}" presName="txSpace" presStyleCnt="0"/>
      <dgm:spPr/>
    </dgm:pt>
    <dgm:pt modelId="{F326FD0E-9115-4B39-AD95-C1C3D6CD392D}" type="pres">
      <dgm:prSet presAssocID="{2B89FB2B-C192-4FD7-9DE8-6F74BB6A1D3C}" presName="desTx" presStyleLbl="revTx" presStyleIdx="1" presStyleCnt="4">
        <dgm:presLayoutVars/>
      </dgm:prSet>
      <dgm:spPr/>
    </dgm:pt>
    <dgm:pt modelId="{2945F945-2FAD-4B1C-A86F-0B52B5A06E4C}" type="pres">
      <dgm:prSet presAssocID="{06D4D74A-A411-44FA-8C63-209E1AD272E1}" presName="sibTrans" presStyleCnt="0"/>
      <dgm:spPr/>
    </dgm:pt>
    <dgm:pt modelId="{9E0E0035-DE31-42E0-AEA5-BEFFD109AA95}" type="pres">
      <dgm:prSet presAssocID="{EECCE85F-EA33-480C-B1EC-509D83CB3620}" presName="compNode" presStyleCnt="0"/>
      <dgm:spPr/>
    </dgm:pt>
    <dgm:pt modelId="{EA8699E0-9E10-475F-80DF-F252CE0EA1DC}" type="pres">
      <dgm:prSet presAssocID="{EECCE85F-EA33-480C-B1EC-509D83CB3620}"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Astronaut"/>
        </a:ext>
      </dgm:extLst>
    </dgm:pt>
    <dgm:pt modelId="{C52B32D6-12F1-4B68-8074-1614EDA432E4}" type="pres">
      <dgm:prSet presAssocID="{EECCE85F-EA33-480C-B1EC-509D83CB3620}" presName="iconSpace" presStyleCnt="0"/>
      <dgm:spPr/>
    </dgm:pt>
    <dgm:pt modelId="{55E689B1-62D0-4E5F-B6DB-44A89076D325}" type="pres">
      <dgm:prSet presAssocID="{EECCE85F-EA33-480C-B1EC-509D83CB3620}" presName="parTx" presStyleLbl="revTx" presStyleIdx="2" presStyleCnt="4">
        <dgm:presLayoutVars>
          <dgm:chMax val="0"/>
          <dgm:chPref val="0"/>
        </dgm:presLayoutVars>
      </dgm:prSet>
      <dgm:spPr/>
    </dgm:pt>
    <dgm:pt modelId="{48A23A82-143A-4B3E-86F5-6C5A78436A68}" type="pres">
      <dgm:prSet presAssocID="{EECCE85F-EA33-480C-B1EC-509D83CB3620}" presName="txSpace" presStyleCnt="0"/>
      <dgm:spPr/>
    </dgm:pt>
    <dgm:pt modelId="{451815B3-B47B-4C57-8D0F-3AB76E6DE66C}" type="pres">
      <dgm:prSet presAssocID="{EECCE85F-EA33-480C-B1EC-509D83CB3620}" presName="desTx" presStyleLbl="revTx" presStyleIdx="3" presStyleCnt="4">
        <dgm:presLayoutVars/>
      </dgm:prSet>
      <dgm:spPr/>
    </dgm:pt>
  </dgm:ptLst>
  <dgm:cxnLst>
    <dgm:cxn modelId="{260DA31F-3B4E-4460-A14D-69CB58CDD18F}" srcId="{2B89FB2B-C192-4FD7-9DE8-6F74BB6A1D3C}" destId="{63E55710-D8CA-4C64-AE82-0D8473AB689F}" srcOrd="0" destOrd="0" parTransId="{FC5B764D-9735-4B4B-9EE1-DB860288D8FD}" sibTransId="{30FC629F-D78C-4592-ADD8-C50B0D9AD961}"/>
    <dgm:cxn modelId="{D0611228-228A-49A3-8C49-05C74C239A84}" srcId="{EECCE85F-EA33-480C-B1EC-509D83CB3620}" destId="{2035276C-AACB-43AB-AE75-7F03279812A3}" srcOrd="1" destOrd="0" parTransId="{CC2CB163-002B-458A-BAF8-46B3373FFC59}" sibTransId="{1D9F9CB5-A218-4A69-AAA2-ACF88C7FC2D9}"/>
    <dgm:cxn modelId="{B502D062-84D8-4868-B664-CFC69C535668}" type="presOf" srcId="{CAE69CF6-7897-4C72-91A2-20AA1FE59F4A}" destId="{451815B3-B47B-4C57-8D0F-3AB76E6DE66C}" srcOrd="0" destOrd="2" presId="urn:microsoft.com/office/officeart/2018/2/layout/IconLabelDescriptionList"/>
    <dgm:cxn modelId="{71EC7A66-055C-4969-8567-C2F57A74A49D}" type="presOf" srcId="{9329A348-0634-45DC-B9EC-2125A855C823}" destId="{4AB44885-47D2-4D25-B5EE-8D10A749807A}" srcOrd="0" destOrd="0" presId="urn:microsoft.com/office/officeart/2018/2/layout/IconLabelDescriptionList"/>
    <dgm:cxn modelId="{DA89B650-CA0E-4252-ABCD-C0B4E8EE3DA2}" srcId="{9329A348-0634-45DC-B9EC-2125A855C823}" destId="{2B89FB2B-C192-4FD7-9DE8-6F74BB6A1D3C}" srcOrd="0" destOrd="0" parTransId="{1BBE4A91-A039-42A4-9179-77C34333AA0A}" sibTransId="{06D4D74A-A411-44FA-8C63-209E1AD272E1}"/>
    <dgm:cxn modelId="{5765E277-8D9F-439A-B8D0-CC63243F5217}" type="presOf" srcId="{8555F9A9-8D97-447A-B8AD-0CB69C8568C2}" destId="{451815B3-B47B-4C57-8D0F-3AB76E6DE66C}" srcOrd="0" destOrd="0" presId="urn:microsoft.com/office/officeart/2018/2/layout/IconLabelDescriptionList"/>
    <dgm:cxn modelId="{C05B6E88-FA99-4DB9-8D96-7A6F8B3086E0}" type="presOf" srcId="{2B89FB2B-C192-4FD7-9DE8-6F74BB6A1D3C}" destId="{A0C6FAA1-C554-48F1-9F99-194E2DB83508}" srcOrd="0" destOrd="0" presId="urn:microsoft.com/office/officeart/2018/2/layout/IconLabelDescriptionList"/>
    <dgm:cxn modelId="{AB746792-24C8-460E-9E3B-8EEB52ACF001}" srcId="{9329A348-0634-45DC-B9EC-2125A855C823}" destId="{EECCE85F-EA33-480C-B1EC-509D83CB3620}" srcOrd="1" destOrd="0" parTransId="{D5268E21-F8CC-49EC-8318-97E7E0EEFAE9}" sibTransId="{63C4308A-2C9E-4E18-AF04-77DE585E11DA}"/>
    <dgm:cxn modelId="{3B483998-B8BA-4286-A205-99966ABE5156}" srcId="{EECCE85F-EA33-480C-B1EC-509D83CB3620}" destId="{8555F9A9-8D97-447A-B8AD-0CB69C8568C2}" srcOrd="0" destOrd="0" parTransId="{8E64E6DE-88DC-46C0-8111-EF2BD9241E3E}" sibTransId="{5BB6C077-0AB5-4095-8E41-FA183CDD3A01}"/>
    <dgm:cxn modelId="{9D8894C6-74F8-49E3-8F53-A0786956551D}" srcId="{EECCE85F-EA33-480C-B1EC-509D83CB3620}" destId="{CAE69CF6-7897-4C72-91A2-20AA1FE59F4A}" srcOrd="2" destOrd="0" parTransId="{83D6CCF3-7DF1-4276-872A-18940F2975A0}" sibTransId="{9BEC06EC-B870-48B1-97C4-974724215E18}"/>
    <dgm:cxn modelId="{73AF47D1-C536-4F8D-B375-9D1FBA94579D}" type="presOf" srcId="{2035276C-AACB-43AB-AE75-7F03279812A3}" destId="{451815B3-B47B-4C57-8D0F-3AB76E6DE66C}" srcOrd="0" destOrd="1" presId="urn:microsoft.com/office/officeart/2018/2/layout/IconLabelDescriptionList"/>
    <dgm:cxn modelId="{02734EDA-AEFA-42DF-8CF5-6341991BF68E}" type="presOf" srcId="{EECCE85F-EA33-480C-B1EC-509D83CB3620}" destId="{55E689B1-62D0-4E5F-B6DB-44A89076D325}" srcOrd="0" destOrd="0" presId="urn:microsoft.com/office/officeart/2018/2/layout/IconLabelDescriptionList"/>
    <dgm:cxn modelId="{4B0634F1-E09F-40E9-998B-4539289AC6F3}" type="presOf" srcId="{63E55710-D8CA-4C64-AE82-0D8473AB689F}" destId="{F326FD0E-9115-4B39-AD95-C1C3D6CD392D}" srcOrd="0" destOrd="0" presId="urn:microsoft.com/office/officeart/2018/2/layout/IconLabelDescriptionList"/>
    <dgm:cxn modelId="{BEFCF829-5AE5-4622-BBDD-CA945A520C66}" type="presParOf" srcId="{4AB44885-47D2-4D25-B5EE-8D10A749807A}" destId="{691CF9F3-3C8D-49C0-9FB4-AC97DA58374B}" srcOrd="0" destOrd="0" presId="urn:microsoft.com/office/officeart/2018/2/layout/IconLabelDescriptionList"/>
    <dgm:cxn modelId="{4BA8A8FA-79AB-4F5D-B522-83AC2A1A2E4D}" type="presParOf" srcId="{691CF9F3-3C8D-49C0-9FB4-AC97DA58374B}" destId="{6A2841D3-700B-452E-970D-293946099BD1}" srcOrd="0" destOrd="0" presId="urn:microsoft.com/office/officeart/2018/2/layout/IconLabelDescriptionList"/>
    <dgm:cxn modelId="{125996FB-A183-4B40-AFB4-FCA13EA552B0}" type="presParOf" srcId="{691CF9F3-3C8D-49C0-9FB4-AC97DA58374B}" destId="{0F6F7B17-084F-4345-88E0-5751C0BBC0E7}" srcOrd="1" destOrd="0" presId="urn:microsoft.com/office/officeart/2018/2/layout/IconLabelDescriptionList"/>
    <dgm:cxn modelId="{77B1027F-1C3A-4617-A5B1-52C51CD84EE0}" type="presParOf" srcId="{691CF9F3-3C8D-49C0-9FB4-AC97DA58374B}" destId="{A0C6FAA1-C554-48F1-9F99-194E2DB83508}" srcOrd="2" destOrd="0" presId="urn:microsoft.com/office/officeart/2018/2/layout/IconLabelDescriptionList"/>
    <dgm:cxn modelId="{9054BD8D-BA5C-4E84-A363-FA686D5ABFDD}" type="presParOf" srcId="{691CF9F3-3C8D-49C0-9FB4-AC97DA58374B}" destId="{8C371C27-6E09-4C8A-A3F2-E74FFC8140D3}" srcOrd="3" destOrd="0" presId="urn:microsoft.com/office/officeart/2018/2/layout/IconLabelDescriptionList"/>
    <dgm:cxn modelId="{ACAC58AC-5B48-4884-976E-1E11C09C64E1}" type="presParOf" srcId="{691CF9F3-3C8D-49C0-9FB4-AC97DA58374B}" destId="{F326FD0E-9115-4B39-AD95-C1C3D6CD392D}" srcOrd="4" destOrd="0" presId="urn:microsoft.com/office/officeart/2018/2/layout/IconLabelDescriptionList"/>
    <dgm:cxn modelId="{9EFE03D8-C5E7-4A36-8AA6-91A8F2C0627F}" type="presParOf" srcId="{4AB44885-47D2-4D25-B5EE-8D10A749807A}" destId="{2945F945-2FAD-4B1C-A86F-0B52B5A06E4C}" srcOrd="1" destOrd="0" presId="urn:microsoft.com/office/officeart/2018/2/layout/IconLabelDescriptionList"/>
    <dgm:cxn modelId="{606F0461-00B5-4756-A384-EE2EAEA97799}" type="presParOf" srcId="{4AB44885-47D2-4D25-B5EE-8D10A749807A}" destId="{9E0E0035-DE31-42E0-AEA5-BEFFD109AA95}" srcOrd="2" destOrd="0" presId="urn:microsoft.com/office/officeart/2018/2/layout/IconLabelDescriptionList"/>
    <dgm:cxn modelId="{99C7588D-1A67-4164-8503-6D3A3973962C}" type="presParOf" srcId="{9E0E0035-DE31-42E0-AEA5-BEFFD109AA95}" destId="{EA8699E0-9E10-475F-80DF-F252CE0EA1DC}" srcOrd="0" destOrd="0" presId="urn:microsoft.com/office/officeart/2018/2/layout/IconLabelDescriptionList"/>
    <dgm:cxn modelId="{E71E7F6A-6D60-4579-A819-82AEA2DAAF32}" type="presParOf" srcId="{9E0E0035-DE31-42E0-AEA5-BEFFD109AA95}" destId="{C52B32D6-12F1-4B68-8074-1614EDA432E4}" srcOrd="1" destOrd="0" presId="urn:microsoft.com/office/officeart/2018/2/layout/IconLabelDescriptionList"/>
    <dgm:cxn modelId="{084F1021-E183-471D-BF23-4880DE6FEF44}" type="presParOf" srcId="{9E0E0035-DE31-42E0-AEA5-BEFFD109AA95}" destId="{55E689B1-62D0-4E5F-B6DB-44A89076D325}" srcOrd="2" destOrd="0" presId="urn:microsoft.com/office/officeart/2018/2/layout/IconLabelDescriptionList"/>
    <dgm:cxn modelId="{9377C967-87FA-4F77-9605-1CE62FC5085E}" type="presParOf" srcId="{9E0E0035-DE31-42E0-AEA5-BEFFD109AA95}" destId="{48A23A82-143A-4B3E-86F5-6C5A78436A68}" srcOrd="3" destOrd="0" presId="urn:microsoft.com/office/officeart/2018/2/layout/IconLabelDescriptionList"/>
    <dgm:cxn modelId="{8F06BF17-66C1-4193-B1F6-AF97B52865FF}" type="presParOf" srcId="{9E0E0035-DE31-42E0-AEA5-BEFFD109AA95}" destId="{451815B3-B47B-4C57-8D0F-3AB76E6DE66C}" srcOrd="4" destOrd="0" presId="urn:microsoft.com/office/officeart/2018/2/layout/IconLabelDescription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A2841D3-700B-452E-970D-293946099BD1}">
      <dsp:nvSpPr>
        <dsp:cNvPr id="0" name=""/>
        <dsp:cNvSpPr/>
      </dsp:nvSpPr>
      <dsp:spPr>
        <a:xfrm>
          <a:off x="189767" y="0"/>
          <a:ext cx="1510523" cy="1289557"/>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0C6FAA1-C554-48F1-9F99-194E2DB83508}">
      <dsp:nvSpPr>
        <dsp:cNvPr id="0" name=""/>
        <dsp:cNvSpPr/>
      </dsp:nvSpPr>
      <dsp:spPr>
        <a:xfrm>
          <a:off x="189767" y="1454567"/>
          <a:ext cx="4315781" cy="55266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977900">
            <a:lnSpc>
              <a:spcPct val="100000"/>
            </a:lnSpc>
            <a:spcBef>
              <a:spcPct val="0"/>
            </a:spcBef>
            <a:spcAft>
              <a:spcPct val="35000"/>
            </a:spcAft>
            <a:buNone/>
            <a:defRPr b="1"/>
          </a:pPr>
          <a:r>
            <a:rPr lang="en-US" sz="2200" kern="1200"/>
            <a:t>Project background and context</a:t>
          </a:r>
        </a:p>
      </dsp:txBody>
      <dsp:txXfrm>
        <a:off x="189767" y="1454567"/>
        <a:ext cx="4315781" cy="552667"/>
      </dsp:txXfrm>
    </dsp:sp>
    <dsp:sp modelId="{F326FD0E-9115-4B39-AD95-C1C3D6CD392D}">
      <dsp:nvSpPr>
        <dsp:cNvPr id="0" name=""/>
        <dsp:cNvSpPr/>
      </dsp:nvSpPr>
      <dsp:spPr>
        <a:xfrm>
          <a:off x="189767" y="2083983"/>
          <a:ext cx="4315781" cy="241101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755650">
            <a:lnSpc>
              <a:spcPct val="100000"/>
            </a:lnSpc>
            <a:spcBef>
              <a:spcPct val="0"/>
            </a:spcBef>
            <a:spcAft>
              <a:spcPct val="35000"/>
            </a:spcAft>
            <a:buNone/>
          </a:pPr>
          <a:r>
            <a:rPr lang="en-US" sz="1700" kern="1200"/>
            <a:t>Space X advertises Falcon 9 rocket launches on its website with a cost of 62 million dollars; other providers cost upward of 165 million dollars each, much of the savings is because Space X can reuse the first stage. Therefore, if we can determine if the first stage will land, we can determine the cost of a launch. This information can be used if an alternate company wants to bid against space X for a rocket launch. This goal of the project is to create a machine learning pipeline to predict if the first stage will land successfully.</a:t>
          </a:r>
        </a:p>
      </dsp:txBody>
      <dsp:txXfrm>
        <a:off x="189767" y="2083983"/>
        <a:ext cx="4315781" cy="2411013"/>
      </dsp:txXfrm>
    </dsp:sp>
    <dsp:sp modelId="{EA8699E0-9E10-475F-80DF-F252CE0EA1DC}">
      <dsp:nvSpPr>
        <dsp:cNvPr id="0" name=""/>
        <dsp:cNvSpPr/>
      </dsp:nvSpPr>
      <dsp:spPr>
        <a:xfrm>
          <a:off x="5260810" y="0"/>
          <a:ext cx="1510523" cy="1289557"/>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55E689B1-62D0-4E5F-B6DB-44A89076D325}">
      <dsp:nvSpPr>
        <dsp:cNvPr id="0" name=""/>
        <dsp:cNvSpPr/>
      </dsp:nvSpPr>
      <dsp:spPr>
        <a:xfrm>
          <a:off x="5260810" y="1454567"/>
          <a:ext cx="4315781" cy="55266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977900">
            <a:lnSpc>
              <a:spcPct val="100000"/>
            </a:lnSpc>
            <a:spcBef>
              <a:spcPct val="0"/>
            </a:spcBef>
            <a:spcAft>
              <a:spcPct val="35000"/>
            </a:spcAft>
            <a:buNone/>
            <a:defRPr b="1"/>
          </a:pPr>
          <a:r>
            <a:rPr lang="en-US" sz="2200" kern="1200"/>
            <a:t>Problems you want to find answers</a:t>
          </a:r>
        </a:p>
      </dsp:txBody>
      <dsp:txXfrm>
        <a:off x="5260810" y="1454567"/>
        <a:ext cx="4315781" cy="552667"/>
      </dsp:txXfrm>
    </dsp:sp>
    <dsp:sp modelId="{451815B3-B47B-4C57-8D0F-3AB76E6DE66C}">
      <dsp:nvSpPr>
        <dsp:cNvPr id="0" name=""/>
        <dsp:cNvSpPr/>
      </dsp:nvSpPr>
      <dsp:spPr>
        <a:xfrm>
          <a:off x="5260810" y="2083983"/>
          <a:ext cx="4315781" cy="241101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755650">
            <a:lnSpc>
              <a:spcPct val="100000"/>
            </a:lnSpc>
            <a:spcBef>
              <a:spcPct val="0"/>
            </a:spcBef>
            <a:spcAft>
              <a:spcPct val="35000"/>
            </a:spcAft>
            <a:buNone/>
          </a:pPr>
          <a:r>
            <a:rPr lang="en-US" sz="1700" kern="1200"/>
            <a:t>What factors determine if the rocket will land successfully?</a:t>
          </a:r>
        </a:p>
        <a:p>
          <a:pPr marL="0" lvl="0" indent="0" algn="l" defTabSz="755650">
            <a:lnSpc>
              <a:spcPct val="100000"/>
            </a:lnSpc>
            <a:spcBef>
              <a:spcPct val="0"/>
            </a:spcBef>
            <a:spcAft>
              <a:spcPct val="35000"/>
            </a:spcAft>
            <a:buNone/>
          </a:pPr>
          <a:r>
            <a:rPr lang="en-US" sz="1700" kern="1200"/>
            <a:t>The interaction amongst various features that determine the success rate of a successful landing.</a:t>
          </a:r>
        </a:p>
        <a:p>
          <a:pPr marL="0" lvl="0" indent="0" algn="l" defTabSz="755650">
            <a:lnSpc>
              <a:spcPct val="100000"/>
            </a:lnSpc>
            <a:spcBef>
              <a:spcPct val="0"/>
            </a:spcBef>
            <a:spcAft>
              <a:spcPct val="35000"/>
            </a:spcAft>
            <a:buNone/>
          </a:pPr>
          <a:r>
            <a:rPr lang="en-US" sz="1700" kern="1200"/>
            <a:t>What operating conditions needs to be in place to ensure a successful landing program.</a:t>
          </a:r>
        </a:p>
      </dsp:txBody>
      <dsp:txXfrm>
        <a:off x="5260810" y="2083983"/>
        <a:ext cx="4315781" cy="2411013"/>
      </dsp:txXfrm>
    </dsp:sp>
  </dsp:spTree>
</dsp:drawing>
</file>

<file path=ppt/diagrams/layout1.xml><?xml version="1.0" encoding="utf-8"?>
<dgm:layoutDef xmlns:dgm="http://schemas.openxmlformats.org/drawingml/2006/diagram" xmlns:a="http://schemas.openxmlformats.org/drawingml/2006/main" uniqueId="urn:microsoft.com/office/officeart/2018/2/layout/IconLabelDescriptionList">
  <dgm:title val="Icon Label Description List"/>
  <dgm:desc val="Use to show non-sequential or grouped chunks of information. The placeholder holds an icon or small picture, and corresponding text boxes show Level 1 and Level 2 text respectively. Works well for minimal Level 1 text accompanied by lengthier Level two text."/>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if>
      <dgm:else name="Name2">
        <dgm:alg type="lin">
          <dgm:param type="linDir" val="fromR"/>
        </dgm:alg>
      </dgm:else>
    </dgm:choose>
    <dgm:shape xmlns:r="http://schemas.openxmlformats.org/officeDocument/2006/relationships" r:blip="">
      <dgm:adjLst/>
    </dgm:shape>
    <dgm:presOf/>
    <dgm:constrLst>
      <dgm:constr type="h" for="ch" forName="compNode" refType="h" fact="0.45"/>
      <dgm:constr type="w" for="ch" forName="compNode" val="120"/>
      <dgm:constr type="w" for="ch" forName="sibTrans" refType="w" refFor="ch" refForName="compNode" fact="0.175"/>
      <dgm:constr type="primFontSz" for="des" forName="parTx" val="36"/>
      <dgm:constr type="primFontSz" for="des" forName="desTx" refType="primFontSz" refFor="des" refForName="parTx" op="lte" fact="0.75"/>
      <dgm:constr type="h" for="des" forName="compNode" op="equ"/>
      <dgm:constr type="h" for="des" forName="iconRect" op="equ"/>
      <dgm:constr type="w" for="des" forName="iconRect" op="equ"/>
      <dgm:constr type="h" for="des" forName="iconSpace" op="equ"/>
      <dgm:constr type="h" for="des" forName="parTx" op="equ"/>
      <dgm:constr type="h" for="des" forName="txSpace" op="equ"/>
      <dgm:constr type="h" for="des" forName="desTx" op="equ"/>
    </dgm:constrLst>
    <dgm:ruleLst>
      <dgm:rule type="w" for="ch" forName="compNode" val="0" fact="NaN" max="NaN"/>
    </dgm:ruleLst>
    <dgm:forEach name="Name3" axis="ch" ptType="node">
      <dgm:layoutNode name="compNode">
        <dgm:alg type="composite"/>
        <dgm:shape xmlns:r="http://schemas.openxmlformats.org/officeDocument/2006/relationships" r:blip="">
          <dgm:adjLst/>
        </dgm:shape>
        <dgm:presOf axis="self"/>
        <dgm:constrLst>
          <dgm:constr type="w" for="ch" forName="iconRect" refType="w" fact="0.35"/>
          <dgm:constr type="h" for="ch" forName="iconRect" refType="w" refFor="ch" refForName="iconRect"/>
          <dgm:constr type="l" for="ch" forName="iconRect"/>
          <dgm:constr type="t" for="ch" forName="iconRect"/>
          <dgm:constr type="w" for="ch" forName="iconSpace" refType="w"/>
          <dgm:constr type="h" for="ch" forName="iconSpace" refType="h" fact="0.043"/>
          <dgm:constr type="l" for="ch" forName="iconSpace"/>
          <dgm:constr type="t" for="ch" forName="iconSpace" refType="b" refFor="ch" refForName="iconRect"/>
          <dgm:constr type="w" for="ch" forName="parTx" refType="w"/>
          <dgm:constr type="h" for="ch" forName="parTx" refType="w" fact="0.15"/>
          <dgm:constr type="l" for="ch" forName="parTx"/>
          <dgm:constr type="t" for="ch" forName="parTx" refType="b" refFor="ch" refForName="iconSpace"/>
          <dgm:constr type="h" for="ch" forName="txSpace" refType="h" fact="0.02"/>
          <dgm:constr type="w" for="ch" forName="txSpace" refType="w"/>
          <dgm:constr type="l" for="ch" forName="txSpace"/>
          <dgm:constr type="t" for="ch" forName="txSpace" refType="b" refFor="ch" refForName="parTx"/>
          <dgm:constr type="w" for="ch" forName="desTx" refType="w"/>
          <dgm:constr type="l" for="ch" forName="desTx"/>
          <dgm:constr type="t" for="ch" forName="desTx" refType="b" refFor="ch" refForName="txSpace"/>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iconSpace">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4" fact="NaN" max="NaN"/>
            <dgm:rule type="h" val="INF" fact="NaN" max="NaN"/>
          </dgm:ruleLst>
        </dgm:layoutNode>
        <dgm:layoutNode name="txSpace">
          <dgm:alg type="sp"/>
          <dgm:shape xmlns:r="http://schemas.openxmlformats.org/officeDocument/2006/relationships" r:blip="">
            <dgm:adjLst/>
          </dgm:shape>
          <dgm:presOf/>
          <dgm:constrLst/>
          <dgm:ruleLst/>
        </dgm:layoutNode>
        <dgm:layoutNode name="desTx" styleLbl="revTx">
          <dgm:varLst/>
          <dgm:alg type="tx">
            <dgm:param type="stBulletLvl" val="0"/>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des" ptType="node"/>
          <dgm:constrLst>
            <dgm:constr type="secFontSz" refType="primFontSz"/>
            <dgm:constr type="lMarg"/>
            <dgm:constr type="rMarg"/>
            <dgm:constr type="tMarg"/>
            <dgm:constr type="bMarg"/>
          </dgm:constrLst>
          <dgm:ruleLst>
            <dgm:rule type="primFontSz" val="NaN" fact="NaN" max="17"/>
            <dgm:rule type="h" val="INF" fact="NaN" max="NaN"/>
          </dgm:ruleLst>
        </dgm:layoutNode>
      </dgm:layoutNode>
      <dgm:forEach name="Name4"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L="914400" marR="0" lvl="1"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2pPr>
            <a:lvl3pPr marL="1371600" marR="0" lvl="2"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3pPr>
            <a:lvl4pPr marL="1828800" marR="0" lvl="3"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4pPr>
            <a:lvl5pPr marL="2286000" marR="0" lvl="4"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5pPr>
            <a:lvl6pPr marL="2743200" marR="0" lvl="5"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6pPr>
            <a:lvl7pPr marL="3200400" marR="0" lvl="6"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7pPr>
            <a:lvl8pPr marL="3657600" marR="0" lvl="7"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8pPr>
            <a:lvl9pPr marL="4114800" marR="0" lvl="8"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Arial"/>
                <a:ea typeface="Arial"/>
                <a:cs typeface="Arial"/>
                <a:sym typeface="Arial"/>
              </a:rPr>
              <a:t>‹#›</a:t>
            </a:fld>
            <a:endParaRPr sz="1200" b="0" i="0" u="none" strike="noStrike" cap="none">
              <a:solidFill>
                <a:schemeClr val="dk1"/>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p:cNvGrpSpPr/>
        <p:nvPr/>
      </p:nvGrpSpPr>
      <p:grpSpPr>
        <a:xfrm>
          <a:off x="0" y="0"/>
          <a:ext cx="0" cy="0"/>
          <a:chOff x="0" y="0"/>
          <a:chExt cx="0" cy="0"/>
        </a:xfrm>
      </p:grpSpPr>
      <p:sp>
        <p:nvSpPr>
          <p:cNvPr id="97" name="Google Shape;97;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8" name="Google Shape;98;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EBDA0E2-FEBD-4B65-8F16-724CF984F377}" type="slidenum">
              <a:rPr lang="en-US" smtClean="0"/>
              <a:t>4</a:t>
            </a:fld>
            <a:endParaRPr lang="en-US" dirty="0"/>
          </a:p>
        </p:txBody>
      </p:sp>
    </p:spTree>
    <p:extLst>
      <p:ext uri="{BB962C8B-B14F-4D97-AF65-F5344CB8AC3E}">
        <p14:creationId xmlns:p14="http://schemas.microsoft.com/office/powerpoint/2010/main" val="42083152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8" name="Google Shape;118;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endParaRPr lang="en-US"/>
          </a:p>
        </p:txBody>
      </p:sp>
      <p:sp>
        <p:nvSpPr>
          <p:cNvPr id="4" name="Slide Number Placeholder 3"/>
          <p:cNvSpPr>
            <a:spLocks noGrp="1"/>
          </p:cNvSpPr>
          <p:nvPr>
            <p:ph type="sldNum" sz="quarter" idx="5"/>
          </p:nvPr>
        </p:nvSpPr>
        <p:spPr/>
        <p:txBody>
          <a:bodyPr/>
          <a:lstStyle/>
          <a:p>
            <a:fld id="{EEBDA0E2-FEBD-4B65-8F16-724CF984F377}" type="slidenum">
              <a:rPr lang="en-US" smtClean="0"/>
              <a:t>11</a:t>
            </a:fld>
            <a:endParaRPr lang="en-US"/>
          </a:p>
        </p:txBody>
      </p:sp>
    </p:spTree>
    <p:extLst>
      <p:ext uri="{BB962C8B-B14F-4D97-AF65-F5344CB8AC3E}">
        <p14:creationId xmlns:p14="http://schemas.microsoft.com/office/powerpoint/2010/main" val="422627503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
        <p:cNvGrpSpPr/>
        <p:nvPr/>
      </p:nvGrpSpPr>
      <p:grpSpPr>
        <a:xfrm>
          <a:off x="0" y="0"/>
          <a:ext cx="0" cy="0"/>
          <a:chOff x="0" y="0"/>
          <a:chExt cx="0" cy="0"/>
        </a:xfrm>
      </p:grpSpPr>
      <p:sp>
        <p:nvSpPr>
          <p:cNvPr id="139" name="Google Shape;139;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0" name="Google Shape;140;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7"/>
        <p:cNvGrpSpPr/>
        <p:nvPr/>
      </p:nvGrpSpPr>
      <p:grpSpPr>
        <a:xfrm>
          <a:off x="0" y="0"/>
          <a:ext cx="0" cy="0"/>
          <a:chOff x="0" y="0"/>
          <a:chExt cx="0" cy="0"/>
        </a:xfrm>
      </p:grpSpPr>
      <p:sp>
        <p:nvSpPr>
          <p:cNvPr id="148" name="Google Shape;148;p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9" name="Google Shape;149;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p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7" name="Google Shape;157;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10" name="Rectangle 9"/>
          <p:cNvSpPr/>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457200" y="4960137"/>
            <a:ext cx="7772400" cy="1463040"/>
          </a:xfrm>
        </p:spPr>
        <p:txBody>
          <a:bodyPr anchor="ctr">
            <a:normAutofit/>
          </a:bodyPr>
          <a:lstStyle>
            <a:lvl1pPr algn="r">
              <a:defRPr sz="5000" spc="200" baseline="0"/>
            </a:lvl1pPr>
          </a:lstStyle>
          <a:p>
            <a:r>
              <a:rPr lang="en-US"/>
              <a:t>Click to edit Master title style</a:t>
            </a:r>
            <a:endParaRPr lang="en-US" dirty="0"/>
          </a:p>
        </p:txBody>
      </p:sp>
      <p:sp>
        <p:nvSpPr>
          <p:cNvPr id="3" name="Subtitle 2"/>
          <p:cNvSpPr>
            <a:spLocks noGrp="1"/>
          </p:cNvSpPr>
          <p:nvPr>
            <p:ph type="subTitle" idx="1"/>
          </p:nvPr>
        </p:nvSpPr>
        <p:spPr>
          <a:xfrm>
            <a:off x="8610600" y="4960137"/>
            <a:ext cx="3200400" cy="1463040"/>
          </a:xfrm>
        </p:spPr>
        <p:txBody>
          <a:bodyPr lIns="91440" rIns="91440" anchor="ctr">
            <a:normAutofit/>
          </a:bodyPr>
          <a:lstStyle>
            <a:lvl1pPr marL="0" indent="0" algn="l">
              <a:lnSpc>
                <a:spcPct val="100000"/>
              </a:lnSpc>
              <a:spcBef>
                <a:spcPts val="0"/>
              </a:spcBef>
              <a:buNone/>
              <a:defRPr sz="1800">
                <a:solidFill>
                  <a:schemeClr val="tx1">
                    <a:lumMod val="95000"/>
                    <a:lumOff val="5000"/>
                  </a:schemeClr>
                </a:solidFill>
              </a:defRPr>
            </a:lvl1pPr>
            <a:lvl2pPr marL="457200" indent="0" algn="ctr">
              <a:buNone/>
              <a:defRPr sz="1800"/>
            </a:lvl2pPr>
            <a:lvl3pPr marL="914400" indent="0" algn="ctr">
              <a:buNone/>
              <a:defRPr sz="1800"/>
            </a:lvl3pPr>
            <a:lvl4pPr marL="1371600" indent="0" algn="ctr">
              <a:buNone/>
              <a:defRPr sz="1800"/>
            </a:lvl4pPr>
            <a:lvl5pPr marL="1828800" indent="0" algn="ctr">
              <a:buNone/>
              <a:defRPr sz="1800"/>
            </a:lvl5pPr>
            <a:lvl6pPr marL="2286000" indent="0" algn="ctr">
              <a:buNone/>
              <a:defRPr sz="1800"/>
            </a:lvl6pPr>
            <a:lvl7pPr marL="2743200" indent="0" algn="ctr">
              <a:buNone/>
              <a:defRPr sz="1800"/>
            </a:lvl7pPr>
            <a:lvl8pPr marL="3200400" indent="0" algn="ctr">
              <a:buNone/>
              <a:defRPr sz="1800"/>
            </a:lvl8pPr>
            <a:lvl9pPr marL="3657600" indent="0" algn="ctr">
              <a:buNone/>
              <a:defRPr sz="18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lgn="l">
              <a:defRPr/>
            </a:lvl1p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cxnSp>
        <p:nvCxnSpPr>
          <p:cNvPr id="8" name="Straight Connecto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838276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5500573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9" name="Rectangle 8"/>
          <p:cNvSpPr/>
          <p:nvPr/>
        </p:nvSpPr>
        <p:spPr>
          <a:xfrm>
            <a:off x="0" y="0"/>
            <a:ext cx="12192000" cy="4572001"/>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4960137"/>
            <a:ext cx="7772400" cy="1463040"/>
          </a:xfrm>
        </p:spPr>
        <p:txBody>
          <a:bodyPr anchor="ctr">
            <a:normAutofit/>
          </a:bodyPr>
          <a:lstStyle>
            <a:lvl1pPr algn="r">
              <a:defRPr sz="5000" b="0" spc="200" baseline="0"/>
            </a:lvl1pPr>
          </a:lstStyle>
          <a:p>
            <a:r>
              <a:rPr lang="en-US"/>
              <a:t>Click to edit Master title style</a:t>
            </a:r>
            <a:endParaRPr lang="en-US" dirty="0"/>
          </a:p>
        </p:txBody>
      </p:sp>
      <p:sp>
        <p:nvSpPr>
          <p:cNvPr id="3" name="Text Placeholder 2"/>
          <p:cNvSpPr>
            <a:spLocks noGrp="1"/>
          </p:cNvSpPr>
          <p:nvPr>
            <p:ph type="body" idx="1"/>
          </p:nvPr>
        </p:nvSpPr>
        <p:spPr>
          <a:xfrm>
            <a:off x="8610600" y="4960137"/>
            <a:ext cx="3200400" cy="1463040"/>
          </a:xfrm>
        </p:spPr>
        <p:txBody>
          <a:bodyPr lIns="91440" rIns="9144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cxnSp>
        <p:nvCxnSpPr>
          <p:cNvPr id="8" name="Straight Connecto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747872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024128" y="585216"/>
            <a:ext cx="9720072" cy="1499616"/>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24127" y="2286000"/>
            <a:ext cx="475488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989320" y="2286000"/>
            <a:ext cx="475488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9522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024128" y="2179636"/>
            <a:ext cx="4754880" cy="822960"/>
          </a:xfrm>
        </p:spPr>
        <p:txBody>
          <a:bodyPr lIns="137160" rIns="137160" anchor="ctr">
            <a:normAutofit/>
          </a:bodyPr>
          <a:lstStyle>
            <a:lvl1pPr marL="0" indent="0">
              <a:spcBef>
                <a:spcPts val="0"/>
              </a:spcBef>
              <a:spcAft>
                <a:spcPts val="0"/>
              </a:spcAft>
              <a:buNone/>
              <a:defRPr sz="2300" b="0" cap="none" baseline="0">
                <a:solidFill>
                  <a:schemeClr val="accent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24128" y="2967788"/>
            <a:ext cx="4754880" cy="33415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990888" y="2179636"/>
            <a:ext cx="4754880" cy="822960"/>
          </a:xfrm>
        </p:spPr>
        <p:txBody>
          <a:bodyPr lIns="137160" rIns="137160" anchor="ctr">
            <a:normAutofit/>
          </a:bodyPr>
          <a:lstStyle>
            <a:lvl1pPr marL="0" indent="0">
              <a:spcBef>
                <a:spcPts val="0"/>
              </a:spcBef>
              <a:spcAft>
                <a:spcPts val="0"/>
              </a:spcAft>
              <a:buNone/>
              <a:defRPr lang="en-US" sz="2300" b="0" kern="1200" cap="none" baseline="0" dirty="0">
                <a:solidFill>
                  <a:schemeClr val="accent1"/>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800"/>
              </a:spcBef>
              <a:buNone/>
            </a:pPr>
            <a:r>
              <a:rPr lang="en-US"/>
              <a:t>Click to edit Master text styles</a:t>
            </a:r>
          </a:p>
        </p:txBody>
      </p:sp>
      <p:sp>
        <p:nvSpPr>
          <p:cNvPr id="6" name="Content Placeholder 5"/>
          <p:cNvSpPr>
            <a:spLocks noGrp="1"/>
          </p:cNvSpPr>
          <p:nvPr>
            <p:ph sz="quarter" idx="4"/>
          </p:nvPr>
        </p:nvSpPr>
        <p:spPr>
          <a:xfrm>
            <a:off x="5990888" y="2967788"/>
            <a:ext cx="4754880" cy="33415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1407134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1639345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56783764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Title 7"/>
          <p:cNvSpPr>
            <a:spLocks noGrp="1"/>
          </p:cNvSpPr>
          <p:nvPr>
            <p:ph type="title"/>
          </p:nvPr>
        </p:nvSpPr>
        <p:spPr>
          <a:xfrm>
            <a:off x="1024128" y="471509"/>
            <a:ext cx="4389120" cy="1737360"/>
          </a:xfrm>
        </p:spPr>
        <p:txBody>
          <a:bodyPr>
            <a:noAutofit/>
          </a:bodyPr>
          <a:lstStyle>
            <a:lvl1pPr>
              <a:lnSpc>
                <a:spcPct val="80000"/>
              </a:lnSpc>
              <a:defRPr sz="4000"/>
            </a:lvl1pPr>
          </a:lstStyle>
          <a:p>
            <a:r>
              <a:rPr lang="en-US"/>
              <a:t>Click to edit Master title style</a:t>
            </a:r>
            <a:endParaRPr lang="en-US" dirty="0"/>
          </a:p>
        </p:txBody>
      </p:sp>
      <p:sp>
        <p:nvSpPr>
          <p:cNvPr id="3" name="Content Placeholder 2"/>
          <p:cNvSpPr>
            <a:spLocks noGrp="1"/>
          </p:cNvSpPr>
          <p:nvPr>
            <p:ph idx="1"/>
          </p:nvPr>
        </p:nvSpPr>
        <p:spPr>
          <a:xfrm>
            <a:off x="5715000" y="822960"/>
            <a:ext cx="5678424" cy="5184648"/>
          </a:xfrm>
        </p:spPr>
        <p:txBody>
          <a:bodyPr/>
          <a:lstStyle>
            <a:lvl1pPr>
              <a:defRPr sz="2400"/>
            </a:lvl1pPr>
            <a:lvl2pPr>
              <a:defRPr sz="20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024128" y="2257506"/>
            <a:ext cx="4389120" cy="3762294"/>
          </a:xfrm>
        </p:spPr>
        <p:txBody>
          <a:bodyPr lIns="91440" rIns="91440">
            <a:normAutofit/>
          </a:bodyPr>
          <a:lstStyle>
            <a:lvl1pPr marL="0" indent="0">
              <a:lnSpc>
                <a:spcPct val="108000"/>
              </a:lnSpc>
              <a:spcBef>
                <a:spcPts val="600"/>
              </a:spcBef>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4337341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4960138"/>
            <a:ext cx="7772400" cy="1463040"/>
          </a:xfrm>
        </p:spPr>
        <p:txBody>
          <a:bodyPr anchor="ctr">
            <a:normAutofit/>
          </a:bodyPr>
          <a:lstStyle>
            <a:lvl1pPr algn="r">
              <a:defRPr sz="5000" spc="200" baseline="0"/>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1"/>
            <a:ext cx="12188952" cy="4572000"/>
          </a:xfrm>
          <a:solidFill>
            <a:schemeClr val="accent1">
              <a:lumMod val="60000"/>
              <a:lumOff val="40000"/>
            </a:schemeClr>
          </a:solidFill>
        </p:spPr>
        <p:txBody>
          <a:bodyPr lIns="457200" tIns="365760" rIns="45720" bIns="4572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610600" y="4960138"/>
            <a:ext cx="3200400" cy="1463040"/>
          </a:xfrm>
        </p:spPr>
        <p:txBody>
          <a:bodyPr lIns="91440" rIns="9144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cxnSp>
        <p:nvCxnSpPr>
          <p:cNvPr id="8" name="Straight Connector 7"/>
          <p:cNvCxnSpPr/>
          <p:nvPr/>
        </p:nvCxnSpPr>
        <p:spPr>
          <a:xfrm flipV="1">
            <a:off x="8386843" y="5264106"/>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54904112"/>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112574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762000"/>
            <a:ext cx="2628900" cy="5410200"/>
          </a:xfrm>
        </p:spPr>
        <p:txBody>
          <a:bodyPr vert="eaVert" lIns="45720" tIns="91440" rIns="45720" bIns="91440"/>
          <a:lstStyle/>
          <a:p>
            <a:r>
              <a:rPr lang="en-US"/>
              <a:t>Click to edit Master title style</a:t>
            </a:r>
            <a:endParaRPr lang="en-US" dirty="0"/>
          </a:p>
        </p:txBody>
      </p:sp>
      <p:sp>
        <p:nvSpPr>
          <p:cNvPr id="3" name="Vertical Text Placeholder 2"/>
          <p:cNvSpPr>
            <a:spLocks noGrp="1"/>
          </p:cNvSpPr>
          <p:nvPr>
            <p:ph type="body" orient="vert" idx="1"/>
          </p:nvPr>
        </p:nvSpPr>
        <p:spPr>
          <a:xfrm>
            <a:off x="990601" y="762000"/>
            <a:ext cx="7581900" cy="54102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cxnSp>
        <p:nvCxnSpPr>
          <p:cNvPr id="7" name="Straight Connector 6"/>
          <p:cNvCxnSpPr/>
          <p:nvPr/>
        </p:nvCxnSpPr>
        <p:spPr>
          <a:xfrm rot="5400000" flipV="1">
            <a:off x="10058400" y="59263"/>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0429262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Picture with Caption" type="picTx">
  <p:cSld name="1_Picture with Caption">
    <p:spTree>
      <p:nvGrpSpPr>
        <p:cNvPr id="1" name="Shape 65"/>
        <p:cNvGrpSpPr/>
        <p:nvPr/>
      </p:nvGrpSpPr>
      <p:grpSpPr>
        <a:xfrm>
          <a:off x="0" y="0"/>
          <a:ext cx="0" cy="0"/>
          <a:chOff x="0" y="0"/>
          <a:chExt cx="0" cy="0"/>
        </a:xfrm>
      </p:grpSpPr>
      <p:sp>
        <p:nvSpPr>
          <p:cNvPr id="66" name="Google Shape;66;p17"/>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Play"/>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7" name="Google Shape;67;p17"/>
          <p:cNvSpPr>
            <a:spLocks noGrp="1"/>
          </p:cNvSpPr>
          <p:nvPr>
            <p:ph type="pic" idx="2"/>
          </p:nvPr>
        </p:nvSpPr>
        <p:spPr>
          <a:xfrm>
            <a:off x="5183188" y="987425"/>
            <a:ext cx="6172200" cy="4873625"/>
          </a:xfrm>
          <a:prstGeom prst="rect">
            <a:avLst/>
          </a:prstGeom>
          <a:noFill/>
          <a:ln>
            <a:noFill/>
          </a:ln>
        </p:spPr>
      </p:sp>
      <p:sp>
        <p:nvSpPr>
          <p:cNvPr id="68" name="Google Shape;68;p17"/>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9" name="Google Shape;69;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0" name="Google Shape;70;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1" name="Google Shape;71;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9382879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Title Slide">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92FDF747-B622-7F48-9215-C3A606BDEB98}"/>
              </a:ext>
            </a:extLst>
          </p:cNvPr>
          <p:cNvSpPr>
            <a:spLocks noGrp="1"/>
          </p:cNvSpPr>
          <p:nvPr>
            <p:ph type="sldNum" sz="quarter" idx="12"/>
          </p:nvPr>
        </p:nvSpPr>
        <p:spPr/>
        <p:txBody>
          <a:bodyPr/>
          <a:lstStyle/>
          <a:p>
            <a:fld id="{A190C97C-0095-2443-AC12-FA4CBA4ACD4D}" type="slidenum">
              <a:rPr lang="en-US" smtClean="0"/>
              <a:t>‹#›</a:t>
            </a:fld>
            <a:endParaRPr lang="en-US"/>
          </a:p>
        </p:txBody>
      </p:sp>
    </p:spTree>
    <p:extLst>
      <p:ext uri="{BB962C8B-B14F-4D97-AF65-F5344CB8AC3E}">
        <p14:creationId xmlns:p14="http://schemas.microsoft.com/office/powerpoint/2010/main" val="2591761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24128" y="585216"/>
            <a:ext cx="9720072" cy="1499616"/>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24128" y="2286000"/>
            <a:ext cx="9720073" cy="4023360"/>
          </a:xfrm>
          <a:prstGeom prst="rect">
            <a:avLst/>
          </a:prstGeom>
        </p:spPr>
        <p:txBody>
          <a:bodyPr vert="horz" lIns="45720" tIns="45720" rIns="4572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24129" y="6470704"/>
            <a:ext cx="2154143"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endParaRPr lang="en-US"/>
          </a:p>
        </p:txBody>
      </p:sp>
      <p:sp>
        <p:nvSpPr>
          <p:cNvPr id="5" name="Footer Placeholder 4"/>
          <p:cNvSpPr>
            <a:spLocks noGrp="1"/>
          </p:cNvSpPr>
          <p:nvPr>
            <p:ph type="ftr" sz="quarter" idx="3"/>
          </p:nvPr>
        </p:nvSpPr>
        <p:spPr>
          <a:xfrm>
            <a:off x="4842932" y="6470704"/>
            <a:ext cx="5901459" cy="274320"/>
          </a:xfrm>
          <a:prstGeom prst="rect">
            <a:avLst/>
          </a:prstGeom>
        </p:spPr>
        <p:txBody>
          <a:bodyPr vert="horz" lIns="91440" tIns="45720" rIns="91440" bIns="45720" rtlCol="0" anchor="ctr"/>
          <a:lstStyle>
            <a:lvl1pPr algn="r">
              <a:defRPr sz="1000" cap="all" baseline="0">
                <a:solidFill>
                  <a:schemeClr val="tx1">
                    <a:lumMod val="95000"/>
                    <a:lumOff val="5000"/>
                  </a:schemeClr>
                </a:solidFill>
                <a:latin typeface="+mj-lt"/>
              </a:defRPr>
            </a:lvl1pPr>
          </a:lstStyle>
          <a:p>
            <a:endParaRPr lang="en-US"/>
          </a:p>
        </p:txBody>
      </p:sp>
      <p:sp>
        <p:nvSpPr>
          <p:cNvPr id="6" name="Slide Number Placeholder 5"/>
          <p:cNvSpPr>
            <a:spLocks noGrp="1"/>
          </p:cNvSpPr>
          <p:nvPr>
            <p:ph type="sldNum" sz="quarter" idx="4"/>
          </p:nvPr>
        </p:nvSpPr>
        <p:spPr>
          <a:xfrm>
            <a:off x="10837333" y="6470704"/>
            <a:ext cx="973667"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pPr marL="0" lvl="0" indent="0" algn="r" rtl="0">
              <a:spcBef>
                <a:spcPts val="0"/>
              </a:spcBef>
              <a:spcAft>
                <a:spcPts val="0"/>
              </a:spcAft>
              <a:buNone/>
            </a:pPr>
            <a:fld id="{00000000-1234-1234-1234-123412341234}" type="slidenum">
              <a:rPr lang="en-US" smtClean="0"/>
              <a:t>‹#›</a:t>
            </a:fld>
            <a:endParaRPr lang="en-US"/>
          </a:p>
        </p:txBody>
      </p:sp>
      <p:cxnSp>
        <p:nvCxnSpPr>
          <p:cNvPr id="7" name="Straight Connector 6"/>
          <p:cNvCxnSpPr/>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7554192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hf sldNum="0" hdr="0" ftr="0" dt="0"/>
  <p:txStyles>
    <p:titleStyle>
      <a:lvl1pPr algn="l" defTabSz="914400" rtl="0" eaLnBrk="1" latinLnBrk="0" hangingPunct="1">
        <a:lnSpc>
          <a:spcPct val="80000"/>
        </a:lnSpc>
        <a:spcBef>
          <a:spcPct val="0"/>
        </a:spcBef>
        <a:buNone/>
        <a:defRPr sz="5000" kern="1200" cap="all" spc="100" baseline="0">
          <a:solidFill>
            <a:schemeClr val="tx1">
              <a:lumMod val="95000"/>
              <a:lumOff val="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hyperlink" Target="https://www.youtube.com/watch?v=UrYLYV7WSHM" TargetMode="External"/><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7"/>
        <p:cNvGrpSpPr/>
        <p:nvPr/>
      </p:nvGrpSpPr>
      <p:grpSpPr>
        <a:xfrm>
          <a:off x="0" y="0"/>
          <a:ext cx="0" cy="0"/>
          <a:chOff x="0" y="0"/>
          <a:chExt cx="0" cy="0"/>
        </a:xfrm>
      </p:grpSpPr>
      <p:sp>
        <p:nvSpPr>
          <p:cNvPr id="88" name="Google Shape;88;p1"/>
          <p:cNvSpPr/>
          <p:nvPr/>
        </p:nvSpPr>
        <p:spPr>
          <a:xfrm>
            <a:off x="3048" y="0"/>
            <a:ext cx="12188952" cy="6858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89" name="Google Shape;89;p1"/>
          <p:cNvSpPr/>
          <p:nvPr/>
        </p:nvSpPr>
        <p:spPr>
          <a:xfrm>
            <a:off x="0" y="0"/>
            <a:ext cx="12192000" cy="6858000"/>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Arial"/>
              <a:ea typeface="Arial"/>
              <a:cs typeface="Arial"/>
              <a:sym typeface="Arial"/>
            </a:endParaRPr>
          </a:p>
        </p:txBody>
      </p:sp>
      <p:sp>
        <p:nvSpPr>
          <p:cNvPr id="90" name="Google Shape;90;p1"/>
          <p:cNvSpPr/>
          <p:nvPr/>
        </p:nvSpPr>
        <p:spPr>
          <a:xfrm>
            <a:off x="0" y="0"/>
            <a:ext cx="12192000" cy="68580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91" name="Google Shape;91;p1"/>
          <p:cNvSpPr/>
          <p:nvPr/>
        </p:nvSpPr>
        <p:spPr>
          <a:xfrm>
            <a:off x="2815929" y="148929"/>
            <a:ext cx="6560142" cy="6560142"/>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92" name="Google Shape;92;p1"/>
          <p:cNvSpPr txBox="1">
            <a:spLocks noGrp="1"/>
          </p:cNvSpPr>
          <p:nvPr>
            <p:ph type="ctrTitle"/>
          </p:nvPr>
        </p:nvSpPr>
        <p:spPr>
          <a:xfrm>
            <a:off x="3315031" y="1380754"/>
            <a:ext cx="5561938" cy="2513516"/>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Clr>
                <a:schemeClr val="dk1"/>
              </a:buClr>
              <a:buSzPts val="6000"/>
              <a:buFont typeface="Play"/>
              <a:buNone/>
            </a:pPr>
            <a:r>
              <a:rPr lang="en-US" dirty="0"/>
              <a:t>Data Science Consulting </a:t>
            </a:r>
            <a:endParaRPr dirty="0"/>
          </a:p>
        </p:txBody>
      </p:sp>
      <p:sp>
        <p:nvSpPr>
          <p:cNvPr id="93" name="Google Shape;93;p1"/>
          <p:cNvSpPr txBox="1">
            <a:spLocks noGrp="1"/>
          </p:cNvSpPr>
          <p:nvPr>
            <p:ph type="subTitle" idx="1"/>
          </p:nvPr>
        </p:nvSpPr>
        <p:spPr>
          <a:xfrm>
            <a:off x="3315031" y="4076802"/>
            <a:ext cx="5561938" cy="1534587"/>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Clr>
                <a:schemeClr val="dk1"/>
              </a:buClr>
              <a:buSzPts val="2400"/>
              <a:buNone/>
            </a:pPr>
            <a:r>
              <a:rPr lang="en-US"/>
              <a:t>Presented by {Team Name, Name of student}</a:t>
            </a:r>
            <a:endParaRPr/>
          </a:p>
          <a:p>
            <a:pPr marL="0" lvl="0" indent="0" algn="ctr" rtl="0">
              <a:lnSpc>
                <a:spcPct val="90000"/>
              </a:lnSpc>
              <a:spcBef>
                <a:spcPts val="1000"/>
              </a:spcBef>
              <a:spcAft>
                <a:spcPts val="0"/>
              </a:spcAft>
              <a:buClr>
                <a:schemeClr val="dk1"/>
              </a:buClr>
              <a:buSzPts val="2400"/>
              <a:buNone/>
            </a:pPr>
            <a:r>
              <a:rPr lang="en-US"/>
              <a:t>Date {}</a:t>
            </a:r>
            <a:endParaRPr/>
          </a:p>
        </p:txBody>
      </p:sp>
      <p:sp>
        <p:nvSpPr>
          <p:cNvPr id="94" name="Google Shape;94;p1"/>
          <p:cNvSpPr/>
          <p:nvPr/>
        </p:nvSpPr>
        <p:spPr>
          <a:xfrm rot="-1577571" flipH="1">
            <a:off x="2494119" y="6170"/>
            <a:ext cx="6816262" cy="6816262"/>
          </a:xfrm>
          <a:prstGeom prst="arc">
            <a:avLst>
              <a:gd name="adj1" fmla="val 16200000"/>
              <a:gd name="adj2" fmla="val 20093138"/>
            </a:avLst>
          </a:prstGeom>
          <a:noFill/>
          <a:ln w="127000" cap="rnd" cmpd="sng">
            <a:solidFill>
              <a:schemeClr val="accent4">
                <a:alpha val="94901"/>
              </a:schemeClr>
            </a:solidFill>
            <a:prstDash val="dash"/>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Arial"/>
              <a:ea typeface="Arial"/>
              <a:cs typeface="Arial"/>
              <a:sym typeface="Arial"/>
            </a:endParaRPr>
          </a:p>
        </p:txBody>
      </p:sp>
      <p:sp>
        <p:nvSpPr>
          <p:cNvPr id="95" name="Google Shape;95;p1"/>
          <p:cNvSpPr/>
          <p:nvPr/>
        </p:nvSpPr>
        <p:spPr>
          <a:xfrm>
            <a:off x="8200995" y="5310973"/>
            <a:ext cx="705948" cy="686798"/>
          </a:xfrm>
          <a:prstGeom prst="ellipse">
            <a:avLst/>
          </a:prstGeom>
          <a:solidFill>
            <a:schemeClr val="accent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BE194971-2F2D-44B0-8AE6-FF2DCCEE0A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Oval 5">
            <a:extLst>
              <a:ext uri="{FF2B5EF4-FFF2-40B4-BE49-F238E27FC236}">
                <a16:creationId xmlns:a16="http://schemas.microsoft.com/office/drawing/2014/main" id="{1FF9A61E-EB11-4C46-82E1-3E00A3B4B4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11" name="Straight Connector 10">
            <a:extLst>
              <a:ext uri="{FF2B5EF4-FFF2-40B4-BE49-F238E27FC236}">
                <a16:creationId xmlns:a16="http://schemas.microsoft.com/office/drawing/2014/main" id="{5E564EB3-35F2-4EFF-87DC-642DC020526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useBgFill="1">
        <p:nvSpPr>
          <p:cNvPr id="13" name="Rectangle 12">
            <a:extLst>
              <a:ext uri="{FF2B5EF4-FFF2-40B4-BE49-F238E27FC236}">
                <a16:creationId xmlns:a16="http://schemas.microsoft.com/office/drawing/2014/main" id="{A540FAC9-3505-49ED-9B06-A0F8C14853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726" cy="685897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9879B3CD-E329-42F5-B136-BA1F37EC053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05464" y="484632"/>
            <a:ext cx="7453538" cy="5880916"/>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dirty="0">
              <a:solidFill>
                <a:prstClr val="white"/>
              </a:solidFill>
            </a:endParaRPr>
          </a:p>
        </p:txBody>
      </p:sp>
      <p:sp>
        <p:nvSpPr>
          <p:cNvPr id="2" name="Title 1">
            <a:extLst>
              <a:ext uri="{FF2B5EF4-FFF2-40B4-BE49-F238E27FC236}">
                <a16:creationId xmlns:a16="http://schemas.microsoft.com/office/drawing/2014/main" id="{7BB8364D-5DEB-CD74-0296-A2F231D06CC0}"/>
              </a:ext>
            </a:extLst>
          </p:cNvPr>
          <p:cNvSpPr>
            <a:spLocks noGrp="1"/>
          </p:cNvSpPr>
          <p:nvPr>
            <p:ph type="title"/>
          </p:nvPr>
        </p:nvSpPr>
        <p:spPr>
          <a:xfrm>
            <a:off x="990096" y="977900"/>
            <a:ext cx="6539558" cy="3327734"/>
          </a:xfrm>
        </p:spPr>
        <p:txBody>
          <a:bodyPr vert="horz" lIns="91440" tIns="45720" rIns="91440" bIns="45720" rtlCol="0" anchor="b">
            <a:normAutofit/>
          </a:bodyPr>
          <a:lstStyle/>
          <a:p>
            <a:pPr algn="r"/>
            <a:r>
              <a:rPr lang="en-US" sz="5400" spc="200"/>
              <a:t>Agenda</a:t>
            </a:r>
            <a:endParaRPr lang="en-US" sz="5400" spc="200" dirty="0"/>
          </a:p>
        </p:txBody>
      </p:sp>
      <p:cxnSp>
        <p:nvCxnSpPr>
          <p:cNvPr id="17" name="Straight Connector 16">
            <a:extLst>
              <a:ext uri="{FF2B5EF4-FFF2-40B4-BE49-F238E27FC236}">
                <a16:creationId xmlns:a16="http://schemas.microsoft.com/office/drawing/2014/main" id="{51B042EF-3024-4C57-B282-1B30607FB7C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2158680" y="4476657"/>
            <a:ext cx="5370974" cy="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19" name="Rectangle 18">
            <a:extLst>
              <a:ext uri="{FF2B5EF4-FFF2-40B4-BE49-F238E27FC236}">
                <a16:creationId xmlns:a16="http://schemas.microsoft.com/office/drawing/2014/main" id="{EA0B4097-B645-43E0-A2B5-B8D688E745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119870" y="484632"/>
            <a:ext cx="3584224" cy="5880916"/>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dirty="0">
              <a:solidFill>
                <a:prstClr val="white"/>
              </a:solidFill>
            </a:endParaRPr>
          </a:p>
        </p:txBody>
      </p:sp>
    </p:spTree>
    <p:extLst>
      <p:ext uri="{BB962C8B-B14F-4D97-AF65-F5344CB8AC3E}">
        <p14:creationId xmlns:p14="http://schemas.microsoft.com/office/powerpoint/2010/main" val="1791688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9"/>
        <p:cNvGrpSpPr/>
        <p:nvPr/>
      </p:nvGrpSpPr>
      <p:grpSpPr>
        <a:xfrm>
          <a:off x="0" y="0"/>
          <a:ext cx="0" cy="0"/>
          <a:chOff x="0" y="0"/>
          <a:chExt cx="0" cy="0"/>
        </a:xfrm>
      </p:grpSpPr>
      <p:sp>
        <p:nvSpPr>
          <p:cNvPr id="100" name="Google Shape;100;p2"/>
          <p:cNvSpPr/>
          <p:nvPr/>
        </p:nvSpPr>
        <p:spPr>
          <a:xfrm>
            <a:off x="0" y="0"/>
            <a:ext cx="12192000" cy="6858000"/>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01" name="Google Shape;101;p2"/>
          <p:cNvSpPr txBox="1">
            <a:spLocks noGrp="1"/>
          </p:cNvSpPr>
          <p:nvPr>
            <p:ph type="title"/>
          </p:nvPr>
        </p:nvSpPr>
        <p:spPr>
          <a:xfrm>
            <a:off x="838200" y="459863"/>
            <a:ext cx="10515600" cy="1004594"/>
          </a:xfrm>
          <a:prstGeom prst="rect">
            <a:avLst/>
          </a:prstGeom>
          <a:noFill/>
          <a:ln>
            <a:noFill/>
          </a:ln>
        </p:spPr>
        <p:txBody>
          <a:bodyPr spcFirstLastPara="1" wrap="square" lIns="91425" tIns="45700" rIns="91425" bIns="45700" anchor="ctr" anchorCtr="0">
            <a:normAutofit/>
          </a:bodyPr>
          <a:lstStyle/>
          <a:p>
            <a:pPr marL="0" lvl="0" indent="0" algn="ctr" rtl="0">
              <a:lnSpc>
                <a:spcPct val="90000"/>
              </a:lnSpc>
              <a:spcBef>
                <a:spcPts val="0"/>
              </a:spcBef>
              <a:spcAft>
                <a:spcPts val="0"/>
              </a:spcAft>
              <a:buClr>
                <a:srgbClr val="FFFFFF"/>
              </a:buClr>
              <a:buSzPts val="4400"/>
              <a:buFont typeface="Play"/>
              <a:buNone/>
            </a:pPr>
            <a:r>
              <a:rPr lang="en-US" dirty="0">
                <a:solidFill>
                  <a:srgbClr val="FFFFFF"/>
                </a:solidFill>
              </a:rPr>
              <a:t>Outline Option 1</a:t>
            </a:r>
            <a:endParaRPr dirty="0"/>
          </a:p>
        </p:txBody>
      </p:sp>
      <p:sp>
        <p:nvSpPr>
          <p:cNvPr id="102" name="Google Shape;102;p2"/>
          <p:cNvSpPr/>
          <p:nvPr/>
        </p:nvSpPr>
        <p:spPr>
          <a:xfrm>
            <a:off x="579496" y="1587970"/>
            <a:ext cx="11033008" cy="4768380"/>
          </a:xfrm>
          <a:prstGeom prst="roundRect">
            <a:avLst>
              <a:gd name="adj" fmla="val 3174"/>
            </a:avLst>
          </a:prstGeom>
          <a:solidFill>
            <a:schemeClr val="lt1">
              <a:alpha val="94901"/>
            </a:scheme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grpSp>
        <p:nvGrpSpPr>
          <p:cNvPr id="103" name="Google Shape;103;p2"/>
          <p:cNvGrpSpPr/>
          <p:nvPr/>
        </p:nvGrpSpPr>
        <p:grpSpPr>
          <a:xfrm>
            <a:off x="913968" y="2379079"/>
            <a:ext cx="10364063" cy="3195001"/>
            <a:chOff x="75768" y="578168"/>
            <a:chExt cx="10364063" cy="3195001"/>
          </a:xfrm>
        </p:grpSpPr>
        <p:sp>
          <p:nvSpPr>
            <p:cNvPr id="104" name="Google Shape;104;p2"/>
            <p:cNvSpPr/>
            <p:nvPr/>
          </p:nvSpPr>
          <p:spPr>
            <a:xfrm>
              <a:off x="679050" y="578168"/>
              <a:ext cx="1887187" cy="1887187"/>
            </a:xfrm>
            <a:prstGeom prst="ellipse">
              <a:avLst/>
            </a:prstGeom>
            <a:solidFill>
              <a:srgbClr val="E9713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 name="Google Shape;105;p2"/>
            <p:cNvSpPr/>
            <p:nvPr/>
          </p:nvSpPr>
          <p:spPr>
            <a:xfrm>
              <a:off x="1081237" y="980356"/>
              <a:ext cx="1082812" cy="1082812"/>
            </a:xfrm>
            <a:prstGeom prst="rect">
              <a:avLst/>
            </a:prstGeom>
            <a:blipFill rotWithShape="1">
              <a:blip r:embed="rId3">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 name="Google Shape;106;p2"/>
            <p:cNvSpPr/>
            <p:nvPr/>
          </p:nvSpPr>
          <p:spPr>
            <a:xfrm>
              <a:off x="75768" y="3053169"/>
              <a:ext cx="3093750" cy="72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 name="Google Shape;107;p2"/>
            <p:cNvSpPr txBox="1"/>
            <p:nvPr/>
          </p:nvSpPr>
          <p:spPr>
            <a:xfrm>
              <a:off x="75768" y="3053169"/>
              <a:ext cx="3093750" cy="720000"/>
            </a:xfrm>
            <a:prstGeom prst="rect">
              <a:avLst/>
            </a:prstGeom>
            <a:noFill/>
            <a:ln>
              <a:noFill/>
            </a:ln>
          </p:spPr>
          <p:txBody>
            <a:bodyPr spcFirstLastPara="1" wrap="square" lIns="0" tIns="0" rIns="0" bIns="0" anchor="t" anchorCtr="0">
              <a:noAutofit/>
            </a:bodyPr>
            <a:lstStyle/>
            <a:p>
              <a:pPr marL="0" marR="0" lvl="0" indent="0" algn="ctr" rtl="0">
                <a:lnSpc>
                  <a:spcPct val="90000"/>
                </a:lnSpc>
                <a:spcBef>
                  <a:spcPts val="0"/>
                </a:spcBef>
                <a:spcAft>
                  <a:spcPts val="0"/>
                </a:spcAft>
                <a:buClr>
                  <a:schemeClr val="dk1"/>
                </a:buClr>
                <a:buSzPts val="1700"/>
                <a:buFont typeface="Arial"/>
                <a:buNone/>
              </a:pPr>
              <a:r>
                <a:rPr lang="en-US" sz="1700" b="0" i="0" u="none" strike="noStrike" cap="none" dirty="0">
                  <a:solidFill>
                    <a:schemeClr val="dk1"/>
                  </a:solidFill>
                  <a:latin typeface="Arial"/>
                  <a:ea typeface="Arial"/>
                  <a:cs typeface="Arial"/>
                  <a:sym typeface="Arial"/>
                </a:rPr>
                <a:t>WHAT IS THE Problem? What is the unknown? Why is the A-B product interesting</a:t>
              </a:r>
              <a:r>
                <a:rPr lang="en-US" sz="1700" dirty="0">
                  <a:solidFill>
                    <a:schemeClr val="dk1"/>
                  </a:solidFill>
                  <a:latin typeface="Arial"/>
                  <a:ea typeface="Arial"/>
                  <a:cs typeface="Arial"/>
                  <a:sym typeface="Arial"/>
                </a:rPr>
                <a:t>, </a:t>
              </a:r>
              <a:r>
                <a:rPr lang="en-US" sz="1700" b="0" i="0" u="none" strike="noStrike" cap="none" dirty="0">
                  <a:solidFill>
                    <a:schemeClr val="dk1"/>
                  </a:solidFill>
                  <a:latin typeface="Arial"/>
                  <a:ea typeface="Arial"/>
                  <a:cs typeface="Arial"/>
                  <a:sym typeface="Arial"/>
                </a:rPr>
                <a:t>Different?</a:t>
              </a:r>
              <a:endParaRPr dirty="0"/>
            </a:p>
          </p:txBody>
        </p:sp>
        <p:sp>
          <p:nvSpPr>
            <p:cNvPr id="108" name="Google Shape;108;p2"/>
            <p:cNvSpPr/>
            <p:nvPr/>
          </p:nvSpPr>
          <p:spPr>
            <a:xfrm>
              <a:off x="4314206" y="578168"/>
              <a:ext cx="1887187" cy="1887187"/>
            </a:xfrm>
            <a:prstGeom prst="ellipse">
              <a:avLst/>
            </a:prstGeom>
            <a:solidFill>
              <a:srgbClr val="176B2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109;p2"/>
            <p:cNvSpPr/>
            <p:nvPr/>
          </p:nvSpPr>
          <p:spPr>
            <a:xfrm>
              <a:off x="4716393" y="980356"/>
              <a:ext cx="1082812" cy="1082812"/>
            </a:xfrm>
            <a:prstGeom prst="rect">
              <a:avLst/>
            </a:prstGeom>
            <a:blipFill rotWithShape="1">
              <a:blip r:embed="rId4">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2"/>
            <p:cNvSpPr/>
            <p:nvPr/>
          </p:nvSpPr>
          <p:spPr>
            <a:xfrm>
              <a:off x="3710925" y="3053169"/>
              <a:ext cx="3093750" cy="72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111;p2"/>
            <p:cNvSpPr txBox="1"/>
            <p:nvPr/>
          </p:nvSpPr>
          <p:spPr>
            <a:xfrm>
              <a:off x="3710925" y="3053169"/>
              <a:ext cx="3093750" cy="720000"/>
            </a:xfrm>
            <a:prstGeom prst="rect">
              <a:avLst/>
            </a:prstGeom>
            <a:noFill/>
            <a:ln>
              <a:noFill/>
            </a:ln>
          </p:spPr>
          <p:txBody>
            <a:bodyPr spcFirstLastPara="1" wrap="square" lIns="0" tIns="0" rIns="0" bIns="0" anchor="t" anchorCtr="0">
              <a:noAutofit/>
            </a:bodyPr>
            <a:lstStyle/>
            <a:p>
              <a:pPr marL="0" marR="0" lvl="0" indent="0" algn="ctr" rtl="0">
                <a:lnSpc>
                  <a:spcPct val="90000"/>
                </a:lnSpc>
                <a:spcBef>
                  <a:spcPts val="0"/>
                </a:spcBef>
                <a:spcAft>
                  <a:spcPts val="0"/>
                </a:spcAft>
                <a:buClr>
                  <a:schemeClr val="dk1"/>
                </a:buClr>
                <a:buSzPts val="1700"/>
                <a:buFont typeface="Arial"/>
                <a:buNone/>
              </a:pPr>
              <a:r>
                <a:rPr lang="en-US" sz="1700" dirty="0">
                  <a:solidFill>
                    <a:schemeClr val="dk1"/>
                  </a:solidFill>
                </a:rPr>
                <a:t>WHO </a:t>
              </a:r>
              <a:r>
                <a:rPr lang="en-US" sz="1700" b="0" i="0" u="none" strike="noStrike" cap="none" dirty="0">
                  <a:solidFill>
                    <a:schemeClr val="dk1"/>
                  </a:solidFill>
                  <a:latin typeface="Arial"/>
                  <a:ea typeface="Arial"/>
                  <a:cs typeface="Arial"/>
                  <a:sym typeface="Arial"/>
                </a:rPr>
                <a:t>NEEDS IT? Who is the stakeholder? What is your proposed process</a:t>
              </a:r>
              <a:endParaRPr dirty="0"/>
            </a:p>
          </p:txBody>
        </p:sp>
        <p:sp>
          <p:nvSpPr>
            <p:cNvPr id="112" name="Google Shape;112;p2"/>
            <p:cNvSpPr/>
            <p:nvPr/>
          </p:nvSpPr>
          <p:spPr>
            <a:xfrm>
              <a:off x="7949362" y="578168"/>
              <a:ext cx="1887187" cy="1887187"/>
            </a:xfrm>
            <a:prstGeom prst="ellipse">
              <a:avLst/>
            </a:prstGeom>
            <a:solidFill>
              <a:srgbClr val="0C9E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113;p2"/>
            <p:cNvSpPr/>
            <p:nvPr/>
          </p:nvSpPr>
          <p:spPr>
            <a:xfrm>
              <a:off x="8351550" y="980356"/>
              <a:ext cx="1082812" cy="1082812"/>
            </a:xfrm>
            <a:prstGeom prst="rect">
              <a:avLst/>
            </a:pr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2"/>
            <p:cNvSpPr/>
            <p:nvPr/>
          </p:nvSpPr>
          <p:spPr>
            <a:xfrm>
              <a:off x="7346081" y="3053169"/>
              <a:ext cx="3093750" cy="72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 name="Google Shape;115;p2"/>
            <p:cNvSpPr txBox="1"/>
            <p:nvPr/>
          </p:nvSpPr>
          <p:spPr>
            <a:xfrm>
              <a:off x="7346081" y="3053169"/>
              <a:ext cx="3093750" cy="720000"/>
            </a:xfrm>
            <a:prstGeom prst="rect">
              <a:avLst/>
            </a:prstGeom>
            <a:noFill/>
            <a:ln>
              <a:noFill/>
            </a:ln>
          </p:spPr>
          <p:txBody>
            <a:bodyPr spcFirstLastPara="1" wrap="square" lIns="0" tIns="0" rIns="0" bIns="0" anchor="t" anchorCtr="0">
              <a:noAutofit/>
            </a:bodyPr>
            <a:lstStyle/>
            <a:p>
              <a:pPr marL="0" marR="0" lvl="0" indent="0" algn="ctr" rtl="0">
                <a:lnSpc>
                  <a:spcPct val="90000"/>
                </a:lnSpc>
                <a:spcBef>
                  <a:spcPts val="0"/>
                </a:spcBef>
                <a:spcAft>
                  <a:spcPts val="0"/>
                </a:spcAft>
                <a:buClr>
                  <a:schemeClr val="dk1"/>
                </a:buClr>
                <a:buSzPts val="1700"/>
                <a:buFont typeface="Arial"/>
                <a:buNone/>
              </a:pPr>
              <a:r>
                <a:rPr lang="en-US" sz="1700" dirty="0">
                  <a:solidFill>
                    <a:schemeClr val="dk1"/>
                  </a:solidFill>
                </a:rPr>
                <a:t>What is your proposed solution? How to measure your success </a:t>
              </a:r>
              <a:r>
                <a:rPr lang="en-US" sz="1700" dirty="0" err="1">
                  <a:solidFill>
                    <a:schemeClr val="dk1"/>
                  </a:solidFill>
                </a:rPr>
                <a:t>creterias</a:t>
              </a:r>
              <a:r>
                <a:rPr lang="en-US" sz="1700" dirty="0">
                  <a:solidFill>
                    <a:schemeClr val="dk1"/>
                  </a:solidFill>
                </a:rPr>
                <a:t>? what sort of analysis/learning/statics are you performing? </a:t>
              </a:r>
              <a:endParaRPr dirty="0"/>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2403FD9-22AB-4833-9FE0-E1E67C96862D}"/>
              </a:ext>
            </a:extLst>
          </p:cNvPr>
          <p:cNvSpPr>
            <a:spLocks noGrp="1"/>
          </p:cNvSpPr>
          <p:nvPr>
            <p:ph type="sldNum" sz="quarter" idx="12"/>
          </p:nvPr>
        </p:nvSpPr>
        <p:spPr/>
        <p:txBody>
          <a:bodyPr anchor="ctr">
            <a:normAutofit/>
          </a:bodyPr>
          <a:lstStyle/>
          <a:p>
            <a:fld id="{5075537C-CA84-1446-933C-8E9D027F9201}" type="slidenum">
              <a:rPr lang="en-US" smtClean="0"/>
              <a:pPr/>
              <a:t>4</a:t>
            </a:fld>
            <a:endParaRPr lang="en-US" dirty="0"/>
          </a:p>
        </p:txBody>
      </p:sp>
      <p:sp>
        <p:nvSpPr>
          <p:cNvPr id="10" name="Content Placeholder 2">
            <a:extLst>
              <a:ext uri="{FF2B5EF4-FFF2-40B4-BE49-F238E27FC236}">
                <a16:creationId xmlns:a16="http://schemas.microsoft.com/office/drawing/2014/main" id="{79EF1473-3ADD-43F1-A495-57AAB7FD902F}"/>
              </a:ext>
            </a:extLst>
          </p:cNvPr>
          <p:cNvSpPr txBox="1">
            <a:spLocks/>
          </p:cNvSpPr>
          <p:nvPr/>
        </p:nvSpPr>
        <p:spPr>
          <a:xfrm>
            <a:off x="958697" y="2113240"/>
            <a:ext cx="5167086" cy="3320824"/>
          </a:xfrm>
          <a:prstGeom prst="rect">
            <a:avLst/>
          </a:prstGeom>
        </p:spPr>
        <p:txBody>
          <a:bodyPr lIns="91440" tIns="45720" rIns="91440" bIns="45720" anchor="t">
            <a:normAutofit/>
          </a:bodyPr>
          <a:lstStyle>
            <a:lvl1pPr marL="228600" indent="-228600" algn="l" defTabSz="914400" rtl="0" eaLnBrk="1" latinLnBrk="0" hangingPunct="1">
              <a:lnSpc>
                <a:spcPct val="90000"/>
              </a:lnSpc>
              <a:spcBef>
                <a:spcPts val="1000"/>
              </a:spcBef>
              <a:buFont typeface="Arial"/>
              <a:buChar char="•"/>
              <a:defRPr sz="2800" kern="1200">
                <a:solidFill>
                  <a:srgbClr val="0070C0"/>
                </a:solidFill>
                <a:latin typeface="IBM Plex Mono Text" panose="020B0509050203000203" pitchFamily="49" charset="0"/>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rgbClr val="0070C0"/>
                </a:solidFill>
                <a:latin typeface="IBM Plex Mono Text" panose="020B0509050203000203" pitchFamily="49" charset="0"/>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rgbClr val="0070C0"/>
                </a:solidFill>
                <a:latin typeface="IBM Plex Mono Text" panose="020B0509050203000203" pitchFamily="49" charset="0"/>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rgbClr val="0070C0"/>
                </a:solidFill>
                <a:latin typeface="IBM Plex Mono Text" panose="020B0509050203000203" pitchFamily="49" charset="0"/>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rgbClr val="0070C0"/>
                </a:solidFill>
                <a:latin typeface="IBM Plex Mono Text" panose="020B0509050203000203" pitchFamily="49" charset="0"/>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nSpc>
                <a:spcPct val="100000"/>
              </a:lnSpc>
              <a:spcBef>
                <a:spcPts val="1400"/>
              </a:spcBef>
            </a:pPr>
            <a:r>
              <a:rPr lang="en-US" sz="2200" dirty="0">
                <a:solidFill>
                  <a:schemeClr val="accent3">
                    <a:lumMod val="25000"/>
                  </a:schemeClr>
                </a:solidFill>
                <a:latin typeface="Abadi"/>
              </a:rPr>
              <a:t>Introduction</a:t>
            </a:r>
          </a:p>
          <a:p>
            <a:pPr>
              <a:lnSpc>
                <a:spcPct val="100000"/>
              </a:lnSpc>
              <a:spcBef>
                <a:spcPts val="1400"/>
              </a:spcBef>
            </a:pPr>
            <a:r>
              <a:rPr lang="en-US" sz="2200" dirty="0">
                <a:solidFill>
                  <a:schemeClr val="accent3">
                    <a:lumMod val="25000"/>
                  </a:schemeClr>
                </a:solidFill>
                <a:latin typeface="Abadi"/>
              </a:rPr>
              <a:t>Methodology</a:t>
            </a:r>
          </a:p>
          <a:p>
            <a:pPr>
              <a:lnSpc>
                <a:spcPct val="100000"/>
              </a:lnSpc>
              <a:spcBef>
                <a:spcPts val="1400"/>
              </a:spcBef>
            </a:pPr>
            <a:r>
              <a:rPr lang="en-US" sz="2200" dirty="0">
                <a:solidFill>
                  <a:schemeClr val="accent3">
                    <a:lumMod val="25000"/>
                  </a:schemeClr>
                </a:solidFill>
                <a:latin typeface="Abadi"/>
              </a:rPr>
              <a:t>Data</a:t>
            </a:r>
          </a:p>
          <a:p>
            <a:pPr>
              <a:lnSpc>
                <a:spcPct val="100000"/>
              </a:lnSpc>
              <a:spcBef>
                <a:spcPts val="1400"/>
              </a:spcBef>
            </a:pPr>
            <a:r>
              <a:rPr lang="en-US" sz="2200" dirty="0">
                <a:solidFill>
                  <a:schemeClr val="accent3">
                    <a:lumMod val="25000"/>
                  </a:schemeClr>
                </a:solidFill>
                <a:latin typeface="Abadi"/>
              </a:rPr>
              <a:t>BI</a:t>
            </a:r>
          </a:p>
          <a:p>
            <a:pPr>
              <a:lnSpc>
                <a:spcPct val="100000"/>
              </a:lnSpc>
              <a:spcBef>
                <a:spcPts val="1400"/>
              </a:spcBef>
            </a:pPr>
            <a:r>
              <a:rPr lang="en-US" sz="2200" dirty="0">
                <a:solidFill>
                  <a:schemeClr val="accent3">
                    <a:lumMod val="25000"/>
                  </a:schemeClr>
                </a:solidFill>
                <a:latin typeface="Abadi"/>
              </a:rPr>
              <a:t>Appendix</a:t>
            </a:r>
          </a:p>
        </p:txBody>
      </p:sp>
      <p:sp>
        <p:nvSpPr>
          <p:cNvPr id="19" name="Title 1">
            <a:extLst>
              <a:ext uri="{FF2B5EF4-FFF2-40B4-BE49-F238E27FC236}">
                <a16:creationId xmlns:a16="http://schemas.microsoft.com/office/drawing/2014/main" id="{6CA66F18-AF00-434A-AB3C-61097BEAE5FA}"/>
              </a:ext>
            </a:extLst>
          </p:cNvPr>
          <p:cNvSpPr txBox="1">
            <a:spLocks/>
          </p:cNvSpPr>
          <p:nvPr/>
        </p:nvSpPr>
        <p:spPr>
          <a:xfrm>
            <a:off x="770011" y="538650"/>
            <a:ext cx="10515600" cy="549049"/>
          </a:xfrm>
          <a:prstGeom prst="rect">
            <a:avLst/>
          </a:prstGeom>
        </p:spPr>
        <p:txBody>
          <a:bodyPr vert="horz" lIns="91440" tIns="45720" rIns="91440" bIns="45720" rtlCol="0" anchor="ctr">
            <a:normAutofit fontScale="92500" lnSpcReduction="20000"/>
          </a:bodyPr>
          <a:lstStyle>
            <a:lvl1pPr algn="l" defTabSz="914400" rtl="0" eaLnBrk="1" latinLnBrk="0" hangingPunct="1">
              <a:lnSpc>
                <a:spcPct val="90000"/>
              </a:lnSpc>
              <a:spcBef>
                <a:spcPct val="0"/>
              </a:spcBef>
              <a:buNone/>
              <a:defRPr sz="4000" kern="1200">
                <a:solidFill>
                  <a:srgbClr val="005493"/>
                </a:solidFill>
                <a:latin typeface="IBM Plex Mono SemiBold" panose="020B0709050203000203" pitchFamily="49" charset="0"/>
                <a:ea typeface="IBM Plex Mono SemiBold" panose="020B0709050203000203" pitchFamily="49" charset="0"/>
                <a:cs typeface="IBM Plex Mono SemiBold" panose="020B0709050203000203" pitchFamily="49" charset="0"/>
              </a:defRPr>
            </a:lvl1pPr>
          </a:lstStyle>
          <a:p>
            <a:r>
              <a:rPr lang="en-US" dirty="0">
                <a:solidFill>
                  <a:srgbClr val="0B49CB"/>
                </a:solidFill>
                <a:latin typeface="Abadi"/>
              </a:rPr>
              <a:t>Outline 2</a:t>
            </a:r>
          </a:p>
        </p:txBody>
      </p:sp>
    </p:spTree>
    <p:extLst>
      <p:ext uri="{BB962C8B-B14F-4D97-AF65-F5344CB8AC3E}">
        <p14:creationId xmlns:p14="http://schemas.microsoft.com/office/powerpoint/2010/main" val="7240380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BE194971-2F2D-44B0-8AE6-FF2DCCEE0A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Oval 5">
            <a:extLst>
              <a:ext uri="{FF2B5EF4-FFF2-40B4-BE49-F238E27FC236}">
                <a16:creationId xmlns:a16="http://schemas.microsoft.com/office/drawing/2014/main" id="{1FF9A61E-EB11-4C46-82E1-3E00A3B4B4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11" name="Straight Connector 10">
            <a:extLst>
              <a:ext uri="{FF2B5EF4-FFF2-40B4-BE49-F238E27FC236}">
                <a16:creationId xmlns:a16="http://schemas.microsoft.com/office/drawing/2014/main" id="{5E564EB3-35F2-4EFF-87DC-642DC020526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useBgFill="1">
        <p:nvSpPr>
          <p:cNvPr id="13" name="Rectangle 12">
            <a:extLst>
              <a:ext uri="{FF2B5EF4-FFF2-40B4-BE49-F238E27FC236}">
                <a16:creationId xmlns:a16="http://schemas.microsoft.com/office/drawing/2014/main" id="{4BA0C938-1486-4635-9F6C-44D521FA6A4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942A7ABB-6A86-4A02-A072-FA82CDCE53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6928" y="484632"/>
            <a:ext cx="11244036" cy="5880916"/>
          </a:xfrm>
          <a:prstGeom prst="rect">
            <a:avLst/>
          </a:prstGeom>
          <a:solidFill>
            <a:schemeClr val="bg2"/>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E2D6348-C47C-4909-6832-E43C8A5A9BC2}"/>
              </a:ext>
            </a:extLst>
          </p:cNvPr>
          <p:cNvSpPr>
            <a:spLocks noGrp="1"/>
          </p:cNvSpPr>
          <p:nvPr>
            <p:ph type="title"/>
          </p:nvPr>
        </p:nvSpPr>
        <p:spPr>
          <a:xfrm>
            <a:off x="4365356" y="806365"/>
            <a:ext cx="7020747" cy="5229630"/>
          </a:xfrm>
        </p:spPr>
        <p:txBody>
          <a:bodyPr vert="horz" lIns="91440" tIns="45720" rIns="91440" bIns="45720" rtlCol="0" anchor="ctr">
            <a:normAutofit/>
          </a:bodyPr>
          <a:lstStyle/>
          <a:p>
            <a:r>
              <a:rPr lang="en-US" sz="6600" spc="200"/>
              <a:t>Introduction and Problem Statement</a:t>
            </a:r>
          </a:p>
        </p:txBody>
      </p:sp>
      <p:cxnSp>
        <p:nvCxnSpPr>
          <p:cNvPr id="17" name="Straight Connector 16">
            <a:extLst>
              <a:ext uri="{FF2B5EF4-FFF2-40B4-BE49-F238E27FC236}">
                <a16:creationId xmlns:a16="http://schemas.microsoft.com/office/drawing/2014/main" id="{B6916720-6D22-4D4B-BC19-23008C7DD48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059935" y="1600200"/>
            <a:ext cx="0" cy="36576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7152910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870FEA-4B9A-7B75-6BEF-016E2131257C}"/>
              </a:ext>
            </a:extLst>
          </p:cNvPr>
          <p:cNvSpPr>
            <a:spLocks noGrp="1"/>
          </p:cNvSpPr>
          <p:nvPr>
            <p:ph type="title"/>
          </p:nvPr>
        </p:nvSpPr>
        <p:spPr>
          <a:xfrm>
            <a:off x="1024128" y="585216"/>
            <a:ext cx="8018272" cy="1499616"/>
          </a:xfrm>
        </p:spPr>
        <p:txBody>
          <a:bodyPr>
            <a:normAutofit/>
          </a:bodyPr>
          <a:lstStyle/>
          <a:p>
            <a:r>
              <a:rPr lang="en-US" dirty="0"/>
              <a:t>Your Company/Team/Industry #1</a:t>
            </a:r>
          </a:p>
        </p:txBody>
      </p:sp>
      <p:sp>
        <p:nvSpPr>
          <p:cNvPr id="3" name="Content Placeholder 2">
            <a:extLst>
              <a:ext uri="{FF2B5EF4-FFF2-40B4-BE49-F238E27FC236}">
                <a16:creationId xmlns:a16="http://schemas.microsoft.com/office/drawing/2014/main" id="{9A39081E-F6A6-B339-6069-914D526B720F}"/>
              </a:ext>
            </a:extLst>
          </p:cNvPr>
          <p:cNvSpPr>
            <a:spLocks noGrp="1"/>
          </p:cNvSpPr>
          <p:nvPr>
            <p:ph idx="1"/>
          </p:nvPr>
        </p:nvSpPr>
        <p:spPr>
          <a:xfrm>
            <a:off x="1024128" y="2286000"/>
            <a:ext cx="8018271" cy="4023360"/>
          </a:xfrm>
        </p:spPr>
        <p:txBody>
          <a:bodyPr>
            <a:normAutofit/>
          </a:bodyPr>
          <a:lstStyle/>
          <a:p>
            <a:r>
              <a:rPr lang="en-US" sz="1400" b="1" dirty="0"/>
              <a:t>City College Ads Tech Universe</a:t>
            </a:r>
            <a:r>
              <a:rPr lang="en-US" sz="1400" dirty="0"/>
              <a:t> is a cutting-edge digital marketing company focused on optimizing short video ad campaigns across major social media platforms using the latest advancements in data science and machine learning. Our mission is to revolutionize the way social influencers and brands reach their target audiences by providing data-driven insights and high-performance ad strategies.</a:t>
            </a:r>
          </a:p>
          <a:p>
            <a:r>
              <a:rPr lang="en-US" sz="1400" dirty="0"/>
              <a:t>At </a:t>
            </a:r>
            <a:r>
              <a:rPr lang="en-US" sz="1400" b="1" dirty="0"/>
              <a:t>City College Ads Tech Universe</a:t>
            </a:r>
            <a:r>
              <a:rPr lang="en-US" sz="1400" dirty="0"/>
              <a:t>, we specialize in A/B testing across platforms like TikTok, Instagram, YouTube, and more. Through our advanced machine learning algorithms, we analyze audience behavior, engagement metrics, and conversion rates to determine which ad creatives, messaging, and formats work best. Our platform not only tracks real-time performance but also evolves with changing trends, ensuring that your ad strategies stay ahead of the curve.</a:t>
            </a:r>
          </a:p>
          <a:p>
            <a:r>
              <a:rPr lang="en-US" sz="1400" dirty="0"/>
              <a:t>But we don’t stop there—our proprietary AI recommendation engine goes beyond standard analytics. By predicting future consumer preferences and identifying emerging market trends, </a:t>
            </a:r>
            <a:r>
              <a:rPr lang="en-US" sz="1400" b="1" dirty="0"/>
              <a:t>City College Ads Tech Universe</a:t>
            </a:r>
            <a:r>
              <a:rPr lang="en-US" sz="1400" dirty="0"/>
              <a:t> delivers unparalleled insights that empower influencers to craft resonant content, brands to amplify their message, and ultimately drive growth.</a:t>
            </a:r>
          </a:p>
          <a:p>
            <a:r>
              <a:rPr lang="en-US" sz="1400" dirty="0"/>
              <a:t>Whether you're a rising influencer looking to build your digital presence or a brand ready to unlock new heights, our customized advertising strategies will transform your campaign performance. Our technology does the heavy lifting, enabling you to focus on what matters most—creating impactful, authentic content</a:t>
            </a:r>
          </a:p>
        </p:txBody>
      </p:sp>
      <p:sp>
        <p:nvSpPr>
          <p:cNvPr id="8" name="Rectangle 7">
            <a:extLst>
              <a:ext uri="{FF2B5EF4-FFF2-40B4-BE49-F238E27FC236}">
                <a16:creationId xmlns:a16="http://schemas.microsoft.com/office/drawing/2014/main" id="{77D7B666-D5E6-48CE-B26A-FB5E5C34AF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583348" y="325601"/>
            <a:ext cx="2286920" cy="390807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Rectangle 9">
            <a:extLst>
              <a:ext uri="{FF2B5EF4-FFF2-40B4-BE49-F238E27FC236}">
                <a16:creationId xmlns:a16="http://schemas.microsoft.com/office/drawing/2014/main" id="{F6EE670A-A41A-44AD-BC1C-2090365EB5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583348" y="4394539"/>
            <a:ext cx="2286920" cy="2029724"/>
          </a:xfrm>
          <a:prstGeom prst="rect">
            <a:avLst/>
          </a:prstGeom>
          <a:solidFill>
            <a:schemeClr val="tx2">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19429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4038CB10-1F5C-4D54-9DF7-12586DE5B00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27546" y="4572000"/>
            <a:ext cx="7058307" cy="1964266"/>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C647072-8310-11BE-F240-EBCD5C42A586}"/>
              </a:ext>
            </a:extLst>
          </p:cNvPr>
          <p:cNvSpPr>
            <a:spLocks noGrp="1"/>
          </p:cNvSpPr>
          <p:nvPr>
            <p:ph type="title"/>
          </p:nvPr>
        </p:nvSpPr>
        <p:spPr>
          <a:xfrm>
            <a:off x="524256" y="4767072"/>
            <a:ext cx="6594189" cy="1625210"/>
          </a:xfrm>
        </p:spPr>
        <p:txBody>
          <a:bodyPr>
            <a:normAutofit/>
          </a:bodyPr>
          <a:lstStyle/>
          <a:p>
            <a:pPr algn="r"/>
            <a:br>
              <a:rPr lang="en-US" sz="2400" dirty="0">
                <a:solidFill>
                  <a:srgbClr val="FFFFFF"/>
                </a:solidFill>
              </a:rPr>
            </a:br>
            <a:r>
              <a:rPr lang="en-US" sz="2400" dirty="0">
                <a:solidFill>
                  <a:srgbClr val="FFFFFF"/>
                </a:solidFill>
              </a:rPr>
              <a:t>(</a:t>
            </a:r>
            <a:r>
              <a:rPr lang="en-US" sz="2400" b="1" dirty="0">
                <a:solidFill>
                  <a:srgbClr val="FFFFFF"/>
                </a:solidFill>
              </a:rPr>
              <a:t>Consulting Project </a:t>
            </a:r>
            <a:r>
              <a:rPr lang="en-US" sz="2400" b="1" dirty="0" err="1">
                <a:solidFill>
                  <a:srgbClr val="FFFFFF"/>
                </a:solidFill>
              </a:rPr>
              <a:t>Title:</a:t>
            </a:r>
            <a:r>
              <a:rPr lang="en-US" sz="2400" dirty="0" err="1">
                <a:solidFill>
                  <a:srgbClr val="FFFFFF"/>
                </a:solidFill>
              </a:rPr>
              <a:t>Forecasting</a:t>
            </a:r>
            <a:r>
              <a:rPr lang="en-US" sz="2400" dirty="0">
                <a:solidFill>
                  <a:srgbClr val="FFFFFF"/>
                </a:solidFill>
              </a:rPr>
              <a:t> Oil and Gold Price Movements Based on U.S. Presidential Election Outcomes and Policy Debates)</a:t>
            </a:r>
          </a:p>
        </p:txBody>
      </p:sp>
      <p:pic>
        <p:nvPicPr>
          <p:cNvPr id="10" name="Picture 9">
            <a:extLst>
              <a:ext uri="{FF2B5EF4-FFF2-40B4-BE49-F238E27FC236}">
                <a16:creationId xmlns:a16="http://schemas.microsoft.com/office/drawing/2014/main" id="{01C68F8C-5E8F-3046-E3AF-9B73EFF16F56}"/>
              </a:ext>
            </a:extLst>
          </p:cNvPr>
          <p:cNvPicPr>
            <a:picLocks noChangeAspect="1"/>
          </p:cNvPicPr>
          <p:nvPr/>
        </p:nvPicPr>
        <p:blipFill>
          <a:blip r:embed="rId2"/>
          <a:srcRect t="1369" r="1" b="1"/>
          <a:stretch/>
        </p:blipFill>
        <p:spPr>
          <a:xfrm>
            <a:off x="327547" y="321733"/>
            <a:ext cx="7058306" cy="4107392"/>
          </a:xfrm>
          <a:prstGeom prst="rect">
            <a:avLst/>
          </a:prstGeom>
        </p:spPr>
      </p:pic>
      <p:sp>
        <p:nvSpPr>
          <p:cNvPr id="17" name="Rectangle 16">
            <a:extLst>
              <a:ext uri="{FF2B5EF4-FFF2-40B4-BE49-F238E27FC236}">
                <a16:creationId xmlns:a16="http://schemas.microsoft.com/office/drawing/2014/main" id="{73ED6512-6858-4552-B699-9A97FE9A4E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34655" y="321732"/>
            <a:ext cx="4335613" cy="6214534"/>
          </a:xfrm>
          <a:prstGeom prst="rect">
            <a:avLst/>
          </a:prstGeom>
          <a:solidFill>
            <a:srgbClr val="40404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8400A938-B3FD-76C1-20E9-02FD3CCD51F3}"/>
              </a:ext>
            </a:extLst>
          </p:cNvPr>
          <p:cNvSpPr>
            <a:spLocks noGrp="1"/>
          </p:cNvSpPr>
          <p:nvPr>
            <p:ph idx="1"/>
          </p:nvPr>
        </p:nvSpPr>
        <p:spPr>
          <a:xfrm>
            <a:off x="8029319" y="917725"/>
            <a:ext cx="3424739" cy="4852362"/>
          </a:xfrm>
        </p:spPr>
        <p:txBody>
          <a:bodyPr anchor="ctr">
            <a:normAutofit/>
          </a:bodyPr>
          <a:lstStyle/>
          <a:p>
            <a:r>
              <a:rPr lang="en-US" sz="2000">
                <a:solidFill>
                  <a:srgbClr val="FFFFFF"/>
                </a:solidFill>
              </a:rPr>
              <a:t>The prices of oil and gold are highly sensitive to global political and economic events, including U.S. presidential elections. Key policy changes driven by the political party in power can significantly impact global markets, and investors need accurate insights into how these commodities will respond immediately following the election. This project seeks to predict how oil and gold prices will trend depending on whether the Republican Party or the Democratic Party wins the 2024 U.S. presidential election.</a:t>
            </a:r>
          </a:p>
        </p:txBody>
      </p:sp>
    </p:spTree>
    <p:extLst>
      <p:ext uri="{BB962C8B-B14F-4D97-AF65-F5344CB8AC3E}">
        <p14:creationId xmlns:p14="http://schemas.microsoft.com/office/powerpoint/2010/main" val="28764964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2403FD9-22AB-4833-9FE0-E1E67C96862D}"/>
              </a:ext>
            </a:extLst>
          </p:cNvPr>
          <p:cNvSpPr>
            <a:spLocks noGrp="1"/>
          </p:cNvSpPr>
          <p:nvPr>
            <p:ph type="sldNum" sz="quarter" idx="12"/>
          </p:nvPr>
        </p:nvSpPr>
        <p:spPr/>
        <p:txBody>
          <a:bodyPr anchor="ctr">
            <a:normAutofit/>
          </a:bodyPr>
          <a:lstStyle/>
          <a:p>
            <a:pPr>
              <a:spcAft>
                <a:spcPts val="600"/>
              </a:spcAft>
            </a:pPr>
            <a:fld id="{5075537C-CA84-1446-933C-8E9D027F9201}" type="slidenum">
              <a:rPr lang="en-US" smtClean="0"/>
              <a:pPr>
                <a:spcAft>
                  <a:spcPts val="600"/>
                </a:spcAft>
              </a:pPr>
              <a:t>8</a:t>
            </a:fld>
            <a:endParaRPr lang="en-US" dirty="0"/>
          </a:p>
        </p:txBody>
      </p:sp>
      <p:sp>
        <p:nvSpPr>
          <p:cNvPr id="19" name="Title 1">
            <a:extLst>
              <a:ext uri="{FF2B5EF4-FFF2-40B4-BE49-F238E27FC236}">
                <a16:creationId xmlns:a16="http://schemas.microsoft.com/office/drawing/2014/main" id="{6CA66F18-AF00-434A-AB3C-61097BEAE5FA}"/>
              </a:ext>
            </a:extLst>
          </p:cNvPr>
          <p:cNvSpPr txBox="1">
            <a:spLocks/>
          </p:cNvSpPr>
          <p:nvPr/>
        </p:nvSpPr>
        <p:spPr>
          <a:xfrm>
            <a:off x="828068" y="538650"/>
            <a:ext cx="10530114" cy="549049"/>
          </a:xfrm>
          <a:prstGeom prst="rect">
            <a:avLst/>
          </a:prstGeom>
        </p:spPr>
        <p:txBody>
          <a:bodyPr vert="horz" lIns="91440" tIns="45720" rIns="91440" bIns="45720" rtlCol="0" anchor="ctr">
            <a:normAutofit fontScale="92500" lnSpcReduction="20000"/>
          </a:bodyPr>
          <a:lstStyle>
            <a:lvl1pPr algn="l" defTabSz="914400" rtl="0" eaLnBrk="1" latinLnBrk="0" hangingPunct="1">
              <a:lnSpc>
                <a:spcPct val="90000"/>
              </a:lnSpc>
              <a:spcBef>
                <a:spcPct val="0"/>
              </a:spcBef>
              <a:buNone/>
              <a:defRPr sz="4000" kern="1200">
                <a:solidFill>
                  <a:srgbClr val="005493"/>
                </a:solidFill>
                <a:latin typeface="IBM Plex Mono SemiBold" panose="020B0709050203000203" pitchFamily="49" charset="0"/>
                <a:ea typeface="IBM Plex Mono SemiBold" panose="020B0709050203000203" pitchFamily="49" charset="0"/>
                <a:cs typeface="IBM Plex Mono SemiBold" panose="020B0709050203000203" pitchFamily="49" charset="0"/>
              </a:defRPr>
            </a:lvl1pPr>
          </a:lstStyle>
          <a:p>
            <a:r>
              <a:rPr lang="en-US">
                <a:solidFill>
                  <a:srgbClr val="0B49CB"/>
                </a:solidFill>
                <a:latin typeface="Abadi"/>
              </a:rPr>
              <a:t>Introduction and Problem #2</a:t>
            </a:r>
            <a:endParaRPr lang="en-US" dirty="0">
              <a:solidFill>
                <a:srgbClr val="0B49CB"/>
              </a:solidFill>
            </a:endParaRPr>
          </a:p>
        </p:txBody>
      </p:sp>
      <p:graphicFrame>
        <p:nvGraphicFramePr>
          <p:cNvPr id="27" name="Content Placeholder 2">
            <a:extLst>
              <a:ext uri="{FF2B5EF4-FFF2-40B4-BE49-F238E27FC236}">
                <a16:creationId xmlns:a16="http://schemas.microsoft.com/office/drawing/2014/main" id="{943FB7D9-241F-015E-C270-6337EB2F9C90}"/>
              </a:ext>
            </a:extLst>
          </p:cNvPr>
          <p:cNvGraphicFramePr/>
          <p:nvPr/>
        </p:nvGraphicFramePr>
        <p:xfrm>
          <a:off x="828068" y="1530575"/>
          <a:ext cx="9766360" cy="449499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5600613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BE194971-2F2D-44B0-8AE6-FF2DCCEE0A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Oval 5">
            <a:extLst>
              <a:ext uri="{FF2B5EF4-FFF2-40B4-BE49-F238E27FC236}">
                <a16:creationId xmlns:a16="http://schemas.microsoft.com/office/drawing/2014/main" id="{1FF9A61E-EB11-4C46-82E1-3E00A3B4B4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11" name="Straight Connector 10">
            <a:extLst>
              <a:ext uri="{FF2B5EF4-FFF2-40B4-BE49-F238E27FC236}">
                <a16:creationId xmlns:a16="http://schemas.microsoft.com/office/drawing/2014/main" id="{5E564EB3-35F2-4EFF-87DC-642DC020526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useBgFill="1">
        <p:nvSpPr>
          <p:cNvPr id="13" name="Rectangle 12">
            <a:extLst>
              <a:ext uri="{FF2B5EF4-FFF2-40B4-BE49-F238E27FC236}">
                <a16:creationId xmlns:a16="http://schemas.microsoft.com/office/drawing/2014/main" id="{A540FAC9-3505-49ED-9B06-A0F8C14853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726" cy="685897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9879B3CD-E329-42F5-B136-BA1F37EC053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05464" y="484632"/>
            <a:ext cx="7453538" cy="5880916"/>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dirty="0">
              <a:solidFill>
                <a:prstClr val="white"/>
              </a:solidFill>
            </a:endParaRPr>
          </a:p>
        </p:txBody>
      </p:sp>
      <p:sp>
        <p:nvSpPr>
          <p:cNvPr id="2" name="Title 1">
            <a:extLst>
              <a:ext uri="{FF2B5EF4-FFF2-40B4-BE49-F238E27FC236}">
                <a16:creationId xmlns:a16="http://schemas.microsoft.com/office/drawing/2014/main" id="{29FD275A-4258-5353-5D93-B107E8947249}"/>
              </a:ext>
            </a:extLst>
          </p:cNvPr>
          <p:cNvSpPr>
            <a:spLocks noGrp="1"/>
          </p:cNvSpPr>
          <p:nvPr>
            <p:ph type="title"/>
          </p:nvPr>
        </p:nvSpPr>
        <p:spPr>
          <a:xfrm>
            <a:off x="990096" y="977900"/>
            <a:ext cx="6539558" cy="3327734"/>
          </a:xfrm>
        </p:spPr>
        <p:txBody>
          <a:bodyPr vert="horz" lIns="91440" tIns="45720" rIns="91440" bIns="45720" rtlCol="0" anchor="b">
            <a:normAutofit/>
          </a:bodyPr>
          <a:lstStyle/>
          <a:p>
            <a:pPr algn="r"/>
            <a:r>
              <a:rPr lang="en-US" sz="5400" spc="200" dirty="0"/>
              <a:t>Method and Process</a:t>
            </a:r>
          </a:p>
        </p:txBody>
      </p:sp>
      <p:cxnSp>
        <p:nvCxnSpPr>
          <p:cNvPr id="17" name="Straight Connector 16">
            <a:extLst>
              <a:ext uri="{FF2B5EF4-FFF2-40B4-BE49-F238E27FC236}">
                <a16:creationId xmlns:a16="http://schemas.microsoft.com/office/drawing/2014/main" id="{51B042EF-3024-4C57-B282-1B30607FB7C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2158680" y="4476657"/>
            <a:ext cx="5370974" cy="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19" name="Rectangle 18">
            <a:extLst>
              <a:ext uri="{FF2B5EF4-FFF2-40B4-BE49-F238E27FC236}">
                <a16:creationId xmlns:a16="http://schemas.microsoft.com/office/drawing/2014/main" id="{EA0B4097-B645-43E0-A2B5-B8D688E745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119870" y="484632"/>
            <a:ext cx="3584224" cy="5880916"/>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dirty="0">
              <a:solidFill>
                <a:prstClr val="white"/>
              </a:solidFill>
            </a:endParaRPr>
          </a:p>
        </p:txBody>
      </p:sp>
    </p:spTree>
    <p:extLst>
      <p:ext uri="{BB962C8B-B14F-4D97-AF65-F5344CB8AC3E}">
        <p14:creationId xmlns:p14="http://schemas.microsoft.com/office/powerpoint/2010/main" val="17455717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19"/>
        <p:cNvGrpSpPr/>
        <p:nvPr/>
      </p:nvGrpSpPr>
      <p:grpSpPr>
        <a:xfrm>
          <a:off x="0" y="0"/>
          <a:ext cx="0" cy="0"/>
          <a:chOff x="0" y="0"/>
          <a:chExt cx="0" cy="0"/>
        </a:xfrm>
      </p:grpSpPr>
      <p:sp>
        <p:nvSpPr>
          <p:cNvPr id="120" name="Google Shape;120;p3"/>
          <p:cNvSpPr/>
          <p:nvPr/>
        </p:nvSpPr>
        <p:spPr>
          <a:xfrm>
            <a:off x="3048" y="0"/>
            <a:ext cx="12188952" cy="6858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21" name="Google Shape;121;p3"/>
          <p:cNvSpPr/>
          <p:nvPr/>
        </p:nvSpPr>
        <p:spPr>
          <a:xfrm>
            <a:off x="1" y="0"/>
            <a:ext cx="4167271" cy="6858000"/>
          </a:xfrm>
          <a:custGeom>
            <a:avLst/>
            <a:gdLst/>
            <a:ahLst/>
            <a:cxnLst/>
            <a:rect l="l" t="t" r="r" b="b"/>
            <a:pathLst>
              <a:path w="4167271" h="6858000" extrusionOk="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22" name="Google Shape;122;p3"/>
          <p:cNvSpPr txBox="1">
            <a:spLocks noGrp="1"/>
          </p:cNvSpPr>
          <p:nvPr>
            <p:ph type="title"/>
          </p:nvPr>
        </p:nvSpPr>
        <p:spPr>
          <a:xfrm>
            <a:off x="357275" y="1708362"/>
            <a:ext cx="3810000" cy="3351600"/>
          </a:xfrm>
          <a:prstGeom prst="rect">
            <a:avLst/>
          </a:prstGeom>
          <a:noFill/>
          <a:ln>
            <a:noFill/>
          </a:ln>
        </p:spPr>
        <p:txBody>
          <a:bodyPr spcFirstLastPara="1" wrap="square" lIns="91425" tIns="45700" rIns="91425" bIns="45700" anchor="ctr" anchorCtr="0">
            <a:normAutofit fontScale="90000"/>
          </a:bodyPr>
          <a:lstStyle/>
          <a:p>
            <a:pPr marL="0" lvl="0" indent="0" algn="l" rtl="0">
              <a:lnSpc>
                <a:spcPct val="90000"/>
              </a:lnSpc>
              <a:spcBef>
                <a:spcPts val="0"/>
              </a:spcBef>
              <a:spcAft>
                <a:spcPts val="0"/>
              </a:spcAft>
              <a:buClr>
                <a:srgbClr val="FFFFFF"/>
              </a:buClr>
              <a:buSzPct val="100000"/>
              <a:buFont typeface="Play"/>
              <a:buNone/>
            </a:pPr>
            <a:r>
              <a:rPr lang="en-US" dirty="0">
                <a:solidFill>
                  <a:srgbClr val="FFFFFF"/>
                </a:solidFill>
              </a:rPr>
              <a:t>How (describe functional requirement/story telling/Our Approach)</a:t>
            </a:r>
            <a:endParaRPr dirty="0"/>
          </a:p>
        </p:txBody>
      </p:sp>
      <p:sp>
        <p:nvSpPr>
          <p:cNvPr id="124" name="Google Shape;124;p3"/>
          <p:cNvSpPr txBox="1">
            <a:spLocks noGrp="1"/>
          </p:cNvSpPr>
          <p:nvPr>
            <p:ph idx="1"/>
          </p:nvPr>
        </p:nvSpPr>
        <p:spPr>
          <a:xfrm>
            <a:off x="4447308" y="591345"/>
            <a:ext cx="7058425" cy="1769460"/>
          </a:xfrm>
          <a:prstGeom prst="rect">
            <a:avLst/>
          </a:prstGeom>
          <a:noFill/>
          <a:ln>
            <a:noFill/>
          </a:ln>
        </p:spPr>
        <p:txBody>
          <a:bodyPr spcFirstLastPara="1" wrap="square" lIns="91425" tIns="45700" rIns="91425" bIns="45700" anchor="ctr" anchorCtr="0">
            <a:normAutofit/>
          </a:bodyPr>
          <a:lstStyle/>
          <a:p>
            <a:pPr marL="228600" lvl="0" indent="-228600" algn="l" rtl="0">
              <a:lnSpc>
                <a:spcPct val="90000"/>
              </a:lnSpc>
              <a:spcBef>
                <a:spcPts val="0"/>
              </a:spcBef>
              <a:spcAft>
                <a:spcPts val="0"/>
              </a:spcAft>
              <a:buClr>
                <a:schemeClr val="dk1"/>
              </a:buClr>
              <a:buSzPts val="2600"/>
              <a:buChar char="•"/>
            </a:pPr>
            <a:r>
              <a:rPr lang="en-US" sz="2600" dirty="0"/>
              <a:t>Example: How are you going to get the data, where are you storing them, how are you extracting them, how are you cleaning, how are you visualize, how can stakeholder use and see it</a:t>
            </a:r>
            <a:endParaRPr dirty="0"/>
          </a:p>
          <a:p>
            <a:pPr marL="0" lvl="0" indent="0" algn="l" rtl="0">
              <a:lnSpc>
                <a:spcPct val="90000"/>
              </a:lnSpc>
              <a:spcBef>
                <a:spcPts val="1000"/>
              </a:spcBef>
              <a:spcAft>
                <a:spcPts val="0"/>
              </a:spcAft>
              <a:buNone/>
            </a:pPr>
            <a:endParaRPr lang="en-US" sz="2600" dirty="0"/>
          </a:p>
          <a:p>
            <a:pPr marL="0" lvl="0" indent="0" algn="l" rtl="0">
              <a:lnSpc>
                <a:spcPct val="90000"/>
              </a:lnSpc>
              <a:spcBef>
                <a:spcPts val="1000"/>
              </a:spcBef>
              <a:spcAft>
                <a:spcPts val="0"/>
              </a:spcAft>
              <a:buNone/>
            </a:pPr>
            <a:endParaRPr sz="2600" dirty="0"/>
          </a:p>
        </p:txBody>
      </p:sp>
      <p:sp>
        <p:nvSpPr>
          <p:cNvPr id="123" name="Google Shape;123;p3"/>
          <p:cNvSpPr/>
          <p:nvPr/>
        </p:nvSpPr>
        <p:spPr>
          <a:xfrm rot="10800000" flipH="1">
            <a:off x="7550402" y="2455479"/>
            <a:ext cx="4083433" cy="4083433"/>
          </a:xfrm>
          <a:prstGeom prst="arc">
            <a:avLst>
              <a:gd name="adj1" fmla="val 16200000"/>
              <a:gd name="adj2" fmla="val 0"/>
            </a:avLst>
          </a:prstGeom>
          <a:noFill/>
          <a:ln w="127000" cap="rnd" cmpd="sng">
            <a:solidFill>
              <a:schemeClr val="accent4"/>
            </a:solidFill>
            <a:prstDash val="dash"/>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Arial"/>
              <a:ea typeface="Arial"/>
              <a:cs typeface="Arial"/>
              <a:sym typeface="Arial"/>
            </a:endParaRPr>
          </a:p>
        </p:txBody>
      </p:sp>
      <p:pic>
        <p:nvPicPr>
          <p:cNvPr id="125" name="Google Shape;125;p3"/>
          <p:cNvPicPr preferRelativeResize="0"/>
          <p:nvPr/>
        </p:nvPicPr>
        <p:blipFill>
          <a:blip r:embed="rId3">
            <a:alphaModFix/>
          </a:blip>
          <a:stretch>
            <a:fillRect/>
          </a:stretch>
        </p:blipFill>
        <p:spPr>
          <a:xfrm>
            <a:off x="4521499" y="2360805"/>
            <a:ext cx="6906500" cy="317027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18" name="Straight Connector 17">
            <a:extLst>
              <a:ext uri="{FF2B5EF4-FFF2-40B4-BE49-F238E27FC236}">
                <a16:creationId xmlns:a16="http://schemas.microsoft.com/office/drawing/2014/main" id="{B821C225-5C4D-4168-90AF-3D263D72CBA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3" name="Title 1">
            <a:extLst>
              <a:ext uri="{FF2B5EF4-FFF2-40B4-BE49-F238E27FC236}">
                <a16:creationId xmlns:a16="http://schemas.microsoft.com/office/drawing/2014/main" id="{13C62649-0825-4926-8E2A-2EBCCFE00ECC}"/>
              </a:ext>
            </a:extLst>
          </p:cNvPr>
          <p:cNvSpPr txBox="1">
            <a:spLocks/>
          </p:cNvSpPr>
          <p:nvPr/>
        </p:nvSpPr>
        <p:spPr>
          <a:xfrm>
            <a:off x="1024128" y="585216"/>
            <a:ext cx="8018272" cy="149961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000" kern="1200">
                <a:solidFill>
                  <a:srgbClr val="005493"/>
                </a:solidFill>
                <a:latin typeface="IBM Plex Mono SemiBold" panose="020B0709050203000203" pitchFamily="49" charset="0"/>
                <a:ea typeface="IBM Plex Mono SemiBold" panose="020B0709050203000203" pitchFamily="49" charset="0"/>
                <a:cs typeface="IBM Plex Mono SemiBold" panose="020B0709050203000203" pitchFamily="49" charset="0"/>
              </a:defRPr>
            </a:lvl1pPr>
          </a:lstStyle>
          <a:p>
            <a:pPr>
              <a:lnSpc>
                <a:spcPct val="80000"/>
              </a:lnSpc>
              <a:spcAft>
                <a:spcPts val="600"/>
              </a:spcAft>
            </a:pPr>
            <a:r>
              <a:rPr lang="en-US" sz="5000" cap="all" spc="100">
                <a:solidFill>
                  <a:schemeClr val="tx1">
                    <a:lumMod val="95000"/>
                    <a:lumOff val="5000"/>
                  </a:schemeClr>
                </a:solidFill>
                <a:latin typeface="+mj-lt"/>
                <a:ea typeface="+mj-ea"/>
                <a:cs typeface="+mj-cs"/>
              </a:rPr>
              <a:t>Methodology</a:t>
            </a:r>
          </a:p>
        </p:txBody>
      </p:sp>
      <p:sp>
        <p:nvSpPr>
          <p:cNvPr id="7" name="Content Placeholder 2">
            <a:extLst>
              <a:ext uri="{FF2B5EF4-FFF2-40B4-BE49-F238E27FC236}">
                <a16:creationId xmlns:a16="http://schemas.microsoft.com/office/drawing/2014/main" id="{0BFEC426-B615-E549-83E5-140FD588BC64}"/>
              </a:ext>
            </a:extLst>
          </p:cNvPr>
          <p:cNvSpPr txBox="1">
            <a:spLocks/>
          </p:cNvSpPr>
          <p:nvPr/>
        </p:nvSpPr>
        <p:spPr>
          <a:xfrm>
            <a:off x="1024128" y="2286000"/>
            <a:ext cx="8018271" cy="4023360"/>
          </a:xfrm>
          <a:prstGeom prst="rect">
            <a:avLst/>
          </a:prstGeom>
        </p:spPr>
        <p:txBody>
          <a:bodyPr vert="horz" lIns="45720" tIns="45720" rIns="45720" bIns="45720" rtlCol="0">
            <a:normAutofit/>
          </a:bodyPr>
          <a:lstStyle>
            <a:lvl1pPr marL="228600" indent="-228600" algn="l" defTabSz="914400" rtl="0" eaLnBrk="1" latinLnBrk="0" hangingPunct="1">
              <a:lnSpc>
                <a:spcPct val="90000"/>
              </a:lnSpc>
              <a:spcBef>
                <a:spcPts val="1000"/>
              </a:spcBef>
              <a:buFont typeface="Arial"/>
              <a:buChar char="•"/>
              <a:defRPr sz="2800" kern="1200">
                <a:solidFill>
                  <a:srgbClr val="0070C0"/>
                </a:solidFill>
                <a:latin typeface="IBM Plex Mono Text" panose="020B0509050203000203" pitchFamily="49" charset="0"/>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rgbClr val="0070C0"/>
                </a:solidFill>
                <a:latin typeface="IBM Plex Mono Text" panose="020B0509050203000203" pitchFamily="49" charset="0"/>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rgbClr val="0070C0"/>
                </a:solidFill>
                <a:latin typeface="IBM Plex Mono Text" panose="020B0509050203000203" pitchFamily="49" charset="0"/>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rgbClr val="0070C0"/>
                </a:solidFill>
                <a:latin typeface="IBM Plex Mono Text" panose="020B0509050203000203" pitchFamily="49" charset="0"/>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rgbClr val="0070C0"/>
                </a:solidFill>
                <a:latin typeface="IBM Plex Mono Text" panose="020B0509050203000203" pitchFamily="49" charset="0"/>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indent="0">
              <a:spcBef>
                <a:spcPts val="1400"/>
              </a:spcBef>
              <a:buClr>
                <a:schemeClr val="accent1"/>
              </a:buClr>
              <a:buNone/>
            </a:pPr>
            <a:r>
              <a:rPr lang="en-US" sz="1300">
                <a:solidFill>
                  <a:schemeClr val="tx1"/>
                </a:solidFill>
                <a:latin typeface="+mn-lt"/>
              </a:rPr>
              <a:t>Executive Summary</a:t>
            </a:r>
          </a:p>
          <a:p>
            <a:pPr>
              <a:spcBef>
                <a:spcPts val="1400"/>
              </a:spcBef>
              <a:buClr>
                <a:schemeClr val="accent1"/>
              </a:buClr>
            </a:pPr>
            <a:r>
              <a:rPr lang="en-US" sz="1300">
                <a:solidFill>
                  <a:schemeClr val="tx1"/>
                </a:solidFill>
                <a:latin typeface="+mn-lt"/>
              </a:rPr>
              <a:t>Data collection methodology:</a:t>
            </a:r>
          </a:p>
          <a:p>
            <a:pPr lvl="1">
              <a:spcBef>
                <a:spcPts val="1400"/>
              </a:spcBef>
              <a:buClr>
                <a:schemeClr val="accent1"/>
              </a:buClr>
            </a:pPr>
            <a:r>
              <a:rPr lang="en-US" sz="1300">
                <a:solidFill>
                  <a:schemeClr val="tx1"/>
                </a:solidFill>
                <a:latin typeface="+mn-lt"/>
              </a:rPr>
              <a:t>Data was collected using SpaceX API and web scraping from Wikipedia. </a:t>
            </a:r>
          </a:p>
          <a:p>
            <a:pPr>
              <a:spcBef>
                <a:spcPts val="1400"/>
              </a:spcBef>
              <a:buClr>
                <a:schemeClr val="accent1"/>
              </a:buClr>
            </a:pPr>
            <a:r>
              <a:rPr lang="en-US" sz="1300">
                <a:solidFill>
                  <a:schemeClr val="tx1"/>
                </a:solidFill>
                <a:latin typeface="+mn-lt"/>
              </a:rPr>
              <a:t>Perform data wrangling</a:t>
            </a:r>
          </a:p>
          <a:p>
            <a:pPr lvl="1">
              <a:spcBef>
                <a:spcPts val="1400"/>
              </a:spcBef>
              <a:buClr>
                <a:schemeClr val="accent1"/>
              </a:buClr>
            </a:pPr>
            <a:r>
              <a:rPr lang="en-US" sz="1300">
                <a:solidFill>
                  <a:schemeClr val="tx1"/>
                </a:solidFill>
                <a:latin typeface="+mn-lt"/>
              </a:rPr>
              <a:t>One-hot encoding was applied to categorical features</a:t>
            </a:r>
          </a:p>
          <a:p>
            <a:pPr>
              <a:spcBef>
                <a:spcPts val="1400"/>
              </a:spcBef>
              <a:buClr>
                <a:schemeClr val="accent1"/>
              </a:buClr>
            </a:pPr>
            <a:r>
              <a:rPr lang="en-US" sz="1300">
                <a:solidFill>
                  <a:schemeClr val="tx1"/>
                </a:solidFill>
                <a:latin typeface="+mn-lt"/>
              </a:rPr>
              <a:t>Perform exploratory data analysis (EDA) using visualization and SQL</a:t>
            </a:r>
          </a:p>
          <a:p>
            <a:pPr>
              <a:spcBef>
                <a:spcPts val="1400"/>
              </a:spcBef>
              <a:buClr>
                <a:schemeClr val="accent1"/>
              </a:buClr>
            </a:pPr>
            <a:r>
              <a:rPr lang="en-US" sz="1300">
                <a:solidFill>
                  <a:schemeClr val="tx1"/>
                </a:solidFill>
                <a:latin typeface="+mn-lt"/>
              </a:rPr>
              <a:t>Perform interactive visual analytics using Folium and Plotly Dash</a:t>
            </a:r>
          </a:p>
          <a:p>
            <a:pPr>
              <a:spcBef>
                <a:spcPts val="1400"/>
              </a:spcBef>
              <a:buClr>
                <a:schemeClr val="accent1"/>
              </a:buClr>
            </a:pPr>
            <a:r>
              <a:rPr lang="en-US" sz="1300">
                <a:solidFill>
                  <a:schemeClr val="tx1"/>
                </a:solidFill>
                <a:latin typeface="+mn-lt"/>
              </a:rPr>
              <a:t>Perform predictive analysis using classification models</a:t>
            </a:r>
          </a:p>
          <a:p>
            <a:pPr lvl="1">
              <a:spcBef>
                <a:spcPts val="1400"/>
              </a:spcBef>
              <a:buClr>
                <a:schemeClr val="accent1"/>
              </a:buClr>
            </a:pPr>
            <a:r>
              <a:rPr lang="en-US" sz="1300">
                <a:solidFill>
                  <a:schemeClr val="tx1"/>
                </a:solidFill>
                <a:latin typeface="+mn-lt"/>
              </a:rPr>
              <a:t>How to build, tune, evaluate classification models</a:t>
            </a:r>
          </a:p>
          <a:p>
            <a:pPr>
              <a:spcBef>
                <a:spcPts val="1400"/>
              </a:spcBef>
              <a:buClr>
                <a:schemeClr val="accent1"/>
              </a:buClr>
            </a:pPr>
            <a:endParaRPr lang="en-US" sz="1300">
              <a:solidFill>
                <a:schemeClr val="tx1"/>
              </a:solidFill>
              <a:latin typeface="+mn-lt"/>
            </a:endParaRPr>
          </a:p>
          <a:p>
            <a:pPr>
              <a:spcBef>
                <a:spcPts val="1400"/>
              </a:spcBef>
              <a:buClr>
                <a:schemeClr val="accent1"/>
              </a:buClr>
            </a:pPr>
            <a:endParaRPr lang="en-US" sz="1300">
              <a:solidFill>
                <a:schemeClr val="tx1"/>
              </a:solidFill>
              <a:latin typeface="+mn-lt"/>
            </a:endParaRPr>
          </a:p>
          <a:p>
            <a:pPr>
              <a:spcBef>
                <a:spcPts val="1400"/>
              </a:spcBef>
              <a:buClr>
                <a:schemeClr val="accent1"/>
              </a:buClr>
            </a:pPr>
            <a:endParaRPr lang="en-US" sz="1300">
              <a:solidFill>
                <a:schemeClr val="tx1"/>
              </a:solidFill>
              <a:latin typeface="+mn-lt"/>
            </a:endParaRPr>
          </a:p>
          <a:p>
            <a:pPr>
              <a:spcBef>
                <a:spcPts val="1400"/>
              </a:spcBef>
              <a:buClr>
                <a:schemeClr val="accent1"/>
              </a:buClr>
            </a:pPr>
            <a:endParaRPr lang="en-US" sz="1300">
              <a:solidFill>
                <a:schemeClr val="tx1"/>
              </a:solidFill>
              <a:latin typeface="+mn-lt"/>
            </a:endParaRPr>
          </a:p>
          <a:p>
            <a:pPr>
              <a:spcBef>
                <a:spcPts val="1400"/>
              </a:spcBef>
              <a:buClr>
                <a:schemeClr val="accent1"/>
              </a:buClr>
            </a:pPr>
            <a:endParaRPr lang="en-US" sz="1300">
              <a:solidFill>
                <a:schemeClr val="tx1"/>
              </a:solidFill>
              <a:latin typeface="+mn-lt"/>
            </a:endParaRPr>
          </a:p>
        </p:txBody>
      </p:sp>
      <p:sp>
        <p:nvSpPr>
          <p:cNvPr id="20" name="Rectangle 19">
            <a:extLst>
              <a:ext uri="{FF2B5EF4-FFF2-40B4-BE49-F238E27FC236}">
                <a16:creationId xmlns:a16="http://schemas.microsoft.com/office/drawing/2014/main" id="{77D7B666-D5E6-48CE-B26A-FB5E5C34AF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583348" y="325601"/>
            <a:ext cx="2286920" cy="390807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Rectangle 21">
            <a:extLst>
              <a:ext uri="{FF2B5EF4-FFF2-40B4-BE49-F238E27FC236}">
                <a16:creationId xmlns:a16="http://schemas.microsoft.com/office/drawing/2014/main" id="{F6EE670A-A41A-44AD-BC1C-2090365EB5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583348" y="4394539"/>
            <a:ext cx="2286920" cy="2029724"/>
          </a:xfrm>
          <a:prstGeom prst="rect">
            <a:avLst/>
          </a:prstGeom>
          <a:solidFill>
            <a:schemeClr val="tx2">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a:extLst>
              <a:ext uri="{FF2B5EF4-FFF2-40B4-BE49-F238E27FC236}">
                <a16:creationId xmlns:a16="http://schemas.microsoft.com/office/drawing/2014/main" id="{B892CF01-5F8F-9D43-96B9-A581954BA94A}"/>
              </a:ext>
            </a:extLst>
          </p:cNvPr>
          <p:cNvSpPr>
            <a:spLocks noGrp="1"/>
          </p:cNvSpPr>
          <p:nvPr>
            <p:ph type="sldNum" sz="quarter" idx="12"/>
          </p:nvPr>
        </p:nvSpPr>
        <p:spPr>
          <a:xfrm>
            <a:off x="10837333" y="6470704"/>
            <a:ext cx="973667" cy="274320"/>
          </a:xfrm>
        </p:spPr>
        <p:txBody>
          <a:bodyPr vert="horz" lIns="91440" tIns="45720" rIns="91440" bIns="45720" rtlCol="0" anchor="ctr">
            <a:normAutofit/>
          </a:bodyPr>
          <a:lstStyle/>
          <a:p>
            <a:pPr>
              <a:spcAft>
                <a:spcPts val="600"/>
              </a:spcAft>
            </a:pPr>
            <a:fld id="{5075537C-CA84-1446-933C-8E9D027F9201}" type="slidenum">
              <a:rPr lang="en-US" kern="1200" dirty="0">
                <a:solidFill>
                  <a:schemeClr val="tx1">
                    <a:lumMod val="95000"/>
                    <a:lumOff val="5000"/>
                  </a:schemeClr>
                </a:solidFill>
                <a:latin typeface="+mj-lt"/>
                <a:ea typeface="+mn-ea"/>
                <a:cs typeface="+mn-cs"/>
              </a:rPr>
              <a:pPr>
                <a:spcAft>
                  <a:spcPts val="600"/>
                </a:spcAft>
              </a:pPr>
              <a:t>11</a:t>
            </a:fld>
            <a:endParaRPr lang="en-US" kern="1200" dirty="0">
              <a:solidFill>
                <a:schemeClr val="tx1">
                  <a:lumMod val="95000"/>
                  <a:lumOff val="5000"/>
                </a:schemeClr>
              </a:solidFill>
              <a:latin typeface="+mj-lt"/>
              <a:ea typeface="+mn-ea"/>
              <a:cs typeface="+mn-cs"/>
            </a:endParaRPr>
          </a:p>
        </p:txBody>
      </p:sp>
    </p:spTree>
    <p:extLst>
      <p:ext uri="{BB962C8B-B14F-4D97-AF65-F5344CB8AC3E}">
        <p14:creationId xmlns:p14="http://schemas.microsoft.com/office/powerpoint/2010/main" val="15534327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BE194971-2F2D-44B0-8AE6-FF2DCCEE0A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Oval 5">
            <a:extLst>
              <a:ext uri="{FF2B5EF4-FFF2-40B4-BE49-F238E27FC236}">
                <a16:creationId xmlns:a16="http://schemas.microsoft.com/office/drawing/2014/main" id="{1FF9A61E-EB11-4C46-82E1-3E00A3B4B4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11" name="Straight Connector 10">
            <a:extLst>
              <a:ext uri="{FF2B5EF4-FFF2-40B4-BE49-F238E27FC236}">
                <a16:creationId xmlns:a16="http://schemas.microsoft.com/office/drawing/2014/main" id="{5E564EB3-35F2-4EFF-87DC-642DC020526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useBgFill="1">
        <p:nvSpPr>
          <p:cNvPr id="13" name="Rectangle 12">
            <a:extLst>
              <a:ext uri="{FF2B5EF4-FFF2-40B4-BE49-F238E27FC236}">
                <a16:creationId xmlns:a16="http://schemas.microsoft.com/office/drawing/2014/main" id="{4BA0C938-1486-4635-9F6C-44D521FA6A4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942A7ABB-6A86-4A02-A072-FA82CDCE53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6928" y="484632"/>
            <a:ext cx="11244036" cy="5880916"/>
          </a:xfrm>
          <a:prstGeom prst="rect">
            <a:avLst/>
          </a:prstGeom>
          <a:solidFill>
            <a:schemeClr val="bg2"/>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A2C0E70-BBF5-8CD2-90E6-D36C35D22598}"/>
              </a:ext>
            </a:extLst>
          </p:cNvPr>
          <p:cNvSpPr>
            <a:spLocks noGrp="1"/>
          </p:cNvSpPr>
          <p:nvPr>
            <p:ph type="title"/>
          </p:nvPr>
        </p:nvSpPr>
        <p:spPr>
          <a:xfrm>
            <a:off x="4365356" y="806365"/>
            <a:ext cx="7020747" cy="5229630"/>
          </a:xfrm>
        </p:spPr>
        <p:txBody>
          <a:bodyPr vert="horz" lIns="91440" tIns="45720" rIns="91440" bIns="45720" rtlCol="0" anchor="ctr">
            <a:normAutofit/>
          </a:bodyPr>
          <a:lstStyle/>
          <a:p>
            <a:r>
              <a:rPr lang="en-US" sz="6600" spc="200" dirty="0" err="1"/>
              <a:t>DataSet</a:t>
            </a:r>
            <a:endParaRPr lang="en-US" sz="6600" spc="200" dirty="0"/>
          </a:p>
        </p:txBody>
      </p:sp>
      <p:cxnSp>
        <p:nvCxnSpPr>
          <p:cNvPr id="17" name="Straight Connector 16">
            <a:extLst>
              <a:ext uri="{FF2B5EF4-FFF2-40B4-BE49-F238E27FC236}">
                <a16:creationId xmlns:a16="http://schemas.microsoft.com/office/drawing/2014/main" id="{B6916720-6D22-4D4B-BC19-23008C7DD48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059935" y="1600200"/>
            <a:ext cx="0" cy="36576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47121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17" name="Straight Connector 16">
            <a:extLst>
              <a:ext uri="{FF2B5EF4-FFF2-40B4-BE49-F238E27FC236}">
                <a16:creationId xmlns:a16="http://schemas.microsoft.com/office/drawing/2014/main" id="{B821C225-5C4D-4168-90AF-3D263D72CBA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useBgFill="1">
        <p:nvSpPr>
          <p:cNvPr id="19" name="Rectangle 18">
            <a:extLst>
              <a:ext uri="{FF2B5EF4-FFF2-40B4-BE49-F238E27FC236}">
                <a16:creationId xmlns:a16="http://schemas.microsoft.com/office/drawing/2014/main" id="{B0890400-BB8B-4A44-AB63-65C7CA223E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itle 1">
            <a:extLst>
              <a:ext uri="{FF2B5EF4-FFF2-40B4-BE49-F238E27FC236}">
                <a16:creationId xmlns:a16="http://schemas.microsoft.com/office/drawing/2014/main" id="{D77AC1D2-8B41-4A7A-88CF-41E6B7D8C98D}"/>
              </a:ext>
            </a:extLst>
          </p:cNvPr>
          <p:cNvSpPr txBox="1">
            <a:spLocks/>
          </p:cNvSpPr>
          <p:nvPr/>
        </p:nvSpPr>
        <p:spPr>
          <a:xfrm>
            <a:off x="964788" y="804333"/>
            <a:ext cx="3391900" cy="524933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000" kern="1200">
                <a:solidFill>
                  <a:srgbClr val="005493"/>
                </a:solidFill>
                <a:latin typeface="IBM Plex Mono SemiBold" panose="020B0709050203000203" pitchFamily="49" charset="0"/>
                <a:ea typeface="IBM Plex Mono SemiBold" panose="020B0709050203000203" pitchFamily="49" charset="0"/>
                <a:cs typeface="IBM Plex Mono SemiBold" panose="020B0709050203000203" pitchFamily="49" charset="0"/>
              </a:defRPr>
            </a:lvl1pPr>
          </a:lstStyle>
          <a:p>
            <a:pPr algn="r">
              <a:lnSpc>
                <a:spcPct val="80000"/>
              </a:lnSpc>
              <a:spcAft>
                <a:spcPts val="600"/>
              </a:spcAft>
            </a:pPr>
            <a:r>
              <a:rPr lang="en-US" sz="5000" cap="all" spc="100">
                <a:solidFill>
                  <a:schemeClr val="tx1">
                    <a:lumMod val="95000"/>
                    <a:lumOff val="5000"/>
                  </a:schemeClr>
                </a:solidFill>
                <a:latin typeface="+mj-lt"/>
                <a:ea typeface="+mj-ea"/>
                <a:cs typeface="+mj-cs"/>
              </a:rPr>
              <a:t>Data Collection</a:t>
            </a:r>
          </a:p>
        </p:txBody>
      </p:sp>
      <p:cxnSp>
        <p:nvCxnSpPr>
          <p:cNvPr id="21" name="Straight Connector 20">
            <a:extLst>
              <a:ext uri="{FF2B5EF4-FFF2-40B4-BE49-F238E27FC236}">
                <a16:creationId xmlns:a16="http://schemas.microsoft.com/office/drawing/2014/main" id="{4D39B797-CDC6-4529-8A36-9CBFC981633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77597" y="1600200"/>
            <a:ext cx="0" cy="36576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5" name="Content Placeholder 4">
            <a:extLst>
              <a:ext uri="{FF2B5EF4-FFF2-40B4-BE49-F238E27FC236}">
                <a16:creationId xmlns:a16="http://schemas.microsoft.com/office/drawing/2014/main" id="{1B07C49E-AFFC-EC46-8930-E4D428F5F943}"/>
              </a:ext>
            </a:extLst>
          </p:cNvPr>
          <p:cNvSpPr>
            <a:spLocks noGrp="1"/>
          </p:cNvSpPr>
          <p:nvPr>
            <p:ph idx="4294967295"/>
          </p:nvPr>
        </p:nvSpPr>
        <p:spPr>
          <a:xfrm>
            <a:off x="4999330" y="804333"/>
            <a:ext cx="6257721" cy="5249334"/>
          </a:xfrm>
          <a:prstGeom prst="rect">
            <a:avLst/>
          </a:prstGeom>
        </p:spPr>
        <p:txBody>
          <a:bodyPr vert="horz" lIns="45720" tIns="45720" rIns="45720" bIns="45720" rtlCol="0" anchor="ctr">
            <a:normAutofit/>
          </a:bodyPr>
          <a:lstStyle/>
          <a:p>
            <a:pPr>
              <a:spcBef>
                <a:spcPts val="1400"/>
              </a:spcBef>
            </a:pPr>
            <a:r>
              <a:rPr lang="en-US"/>
              <a:t>The data was collected using various methods</a:t>
            </a:r>
          </a:p>
          <a:p>
            <a:pPr lvl="1">
              <a:spcBef>
                <a:spcPts val="1400"/>
              </a:spcBef>
              <a:buFontTx/>
              <a:buChar char="-"/>
            </a:pPr>
            <a:r>
              <a:rPr lang="en-US"/>
              <a:t>Data collection was done using get request to the SpaceX API.</a:t>
            </a:r>
          </a:p>
          <a:p>
            <a:pPr lvl="1">
              <a:spcBef>
                <a:spcPts val="1400"/>
              </a:spcBef>
              <a:buFontTx/>
              <a:buChar char="-"/>
            </a:pPr>
            <a:r>
              <a:rPr lang="en-US"/>
              <a:t>Next, we decoded the response content as a Json using .json() function call and turn it into a pandas dataframe using .json_normalize().</a:t>
            </a:r>
          </a:p>
          <a:p>
            <a:pPr lvl="1">
              <a:spcBef>
                <a:spcPts val="1400"/>
              </a:spcBef>
              <a:buFontTx/>
              <a:buChar char="-"/>
            </a:pPr>
            <a:r>
              <a:rPr lang="en-US"/>
              <a:t>We then cleaned the data, checked for missing values and fill in missing values where necessary.</a:t>
            </a:r>
          </a:p>
          <a:p>
            <a:pPr lvl="1">
              <a:spcBef>
                <a:spcPts val="1400"/>
              </a:spcBef>
              <a:buFontTx/>
              <a:buChar char="-"/>
            </a:pPr>
            <a:r>
              <a:rPr lang="en-US"/>
              <a:t>In addition, we performed web scraping from Wikipedia for Falcon 9 launch records with BeautifulSoup. </a:t>
            </a:r>
          </a:p>
          <a:p>
            <a:pPr lvl="1">
              <a:spcBef>
                <a:spcPts val="1400"/>
              </a:spcBef>
              <a:buFontTx/>
              <a:buChar char="-"/>
            </a:pPr>
            <a:r>
              <a:rPr lang="en-US"/>
              <a:t>The objective was to extract the launch records as HTML table, parse the table and convert it to a pandas dataframe for future analysis.</a:t>
            </a:r>
          </a:p>
          <a:p>
            <a:pPr lvl="1">
              <a:spcBef>
                <a:spcPts val="1400"/>
              </a:spcBef>
              <a:buFontTx/>
              <a:buChar char="-"/>
            </a:pPr>
            <a:endParaRPr lang="en-US"/>
          </a:p>
          <a:p>
            <a:pPr marL="0" indent="0">
              <a:buNone/>
            </a:pPr>
            <a:endParaRPr lang="en-US" dirty="0"/>
          </a:p>
        </p:txBody>
      </p:sp>
      <p:sp>
        <p:nvSpPr>
          <p:cNvPr id="6" name="Slide Number Placeholder 5">
            <a:extLst>
              <a:ext uri="{FF2B5EF4-FFF2-40B4-BE49-F238E27FC236}">
                <a16:creationId xmlns:a16="http://schemas.microsoft.com/office/drawing/2014/main" id="{772D0411-8FF8-C540-84AE-DBA0703D368C}"/>
              </a:ext>
            </a:extLst>
          </p:cNvPr>
          <p:cNvSpPr>
            <a:spLocks noGrp="1"/>
          </p:cNvSpPr>
          <p:nvPr>
            <p:ph type="sldNum" sz="quarter" idx="12"/>
          </p:nvPr>
        </p:nvSpPr>
        <p:spPr>
          <a:xfrm>
            <a:off x="10837333" y="6470704"/>
            <a:ext cx="973667" cy="274320"/>
          </a:xfrm>
        </p:spPr>
        <p:txBody>
          <a:bodyPr vert="horz" lIns="91440" tIns="45720" rIns="91440" bIns="45720" rtlCol="0" anchor="ctr">
            <a:normAutofit/>
          </a:bodyPr>
          <a:lstStyle/>
          <a:p>
            <a:pPr>
              <a:spcAft>
                <a:spcPts val="600"/>
              </a:spcAft>
            </a:pPr>
            <a:fld id="{5075537C-CA84-1446-933C-8E9D027F9201}" type="slidenum">
              <a:rPr lang="en-US" kern="1200" dirty="0">
                <a:solidFill>
                  <a:schemeClr val="tx1">
                    <a:lumMod val="95000"/>
                    <a:lumOff val="5000"/>
                  </a:schemeClr>
                </a:solidFill>
                <a:latin typeface="+mj-lt"/>
                <a:ea typeface="+mn-ea"/>
                <a:cs typeface="+mn-cs"/>
              </a:rPr>
              <a:pPr>
                <a:spcAft>
                  <a:spcPts val="600"/>
                </a:spcAft>
              </a:pPr>
              <a:t>13</a:t>
            </a:fld>
            <a:endParaRPr lang="en-US" kern="1200" dirty="0">
              <a:solidFill>
                <a:schemeClr val="tx1">
                  <a:lumMod val="95000"/>
                  <a:lumOff val="5000"/>
                </a:schemeClr>
              </a:solidFill>
              <a:latin typeface="+mj-lt"/>
              <a:ea typeface="+mn-ea"/>
              <a:cs typeface="+mn-cs"/>
            </a:endParaRPr>
          </a:p>
        </p:txBody>
      </p:sp>
    </p:spTree>
    <p:extLst>
      <p:ext uri="{BB962C8B-B14F-4D97-AF65-F5344CB8AC3E}">
        <p14:creationId xmlns:p14="http://schemas.microsoft.com/office/powerpoint/2010/main" val="32886658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14" name="Straight Connector 13">
            <a:extLst>
              <a:ext uri="{FF2B5EF4-FFF2-40B4-BE49-F238E27FC236}">
                <a16:creationId xmlns:a16="http://schemas.microsoft.com/office/drawing/2014/main" id="{9200C8B5-FB5A-4F8B-A9BD-693C051418A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4" name="Title 1">
            <a:extLst>
              <a:ext uri="{FF2B5EF4-FFF2-40B4-BE49-F238E27FC236}">
                <a16:creationId xmlns:a16="http://schemas.microsoft.com/office/drawing/2014/main" id="{5066AA34-20EE-4A59-B343-346A8DB5667C}"/>
              </a:ext>
            </a:extLst>
          </p:cNvPr>
          <p:cNvSpPr txBox="1">
            <a:spLocks/>
          </p:cNvSpPr>
          <p:nvPr/>
        </p:nvSpPr>
        <p:spPr>
          <a:xfrm>
            <a:off x="1024129" y="585216"/>
            <a:ext cx="4431792" cy="149961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000" kern="1200">
                <a:solidFill>
                  <a:srgbClr val="005493"/>
                </a:solidFill>
                <a:latin typeface="IBM Plex Mono SemiBold" panose="020B0709050203000203" pitchFamily="49" charset="0"/>
                <a:ea typeface="IBM Plex Mono SemiBold" panose="020B0709050203000203" pitchFamily="49" charset="0"/>
                <a:cs typeface="IBM Plex Mono SemiBold" panose="020B0709050203000203" pitchFamily="49" charset="0"/>
              </a:defRPr>
            </a:lvl1pPr>
          </a:lstStyle>
          <a:p>
            <a:pPr>
              <a:lnSpc>
                <a:spcPct val="80000"/>
              </a:lnSpc>
              <a:spcAft>
                <a:spcPts val="600"/>
              </a:spcAft>
            </a:pPr>
            <a:r>
              <a:rPr lang="en-US" sz="5000" cap="all" spc="100">
                <a:solidFill>
                  <a:schemeClr val="tx1">
                    <a:lumMod val="95000"/>
                    <a:lumOff val="5000"/>
                  </a:schemeClr>
                </a:solidFill>
                <a:latin typeface="+mj-lt"/>
                <a:ea typeface="+mj-ea"/>
                <a:cs typeface="+mj-cs"/>
              </a:rPr>
              <a:t>Data Collection – SpaceX API</a:t>
            </a:r>
          </a:p>
        </p:txBody>
      </p:sp>
      <p:sp>
        <p:nvSpPr>
          <p:cNvPr id="3" name="Text Placeholder 2">
            <a:extLst>
              <a:ext uri="{FF2B5EF4-FFF2-40B4-BE49-F238E27FC236}">
                <a16:creationId xmlns:a16="http://schemas.microsoft.com/office/drawing/2014/main" id="{AB0AB2AC-B7E6-6849-9AE9-697369407F8F}"/>
              </a:ext>
            </a:extLst>
          </p:cNvPr>
          <p:cNvSpPr>
            <a:spLocks noGrp="1"/>
          </p:cNvSpPr>
          <p:nvPr>
            <p:ph type="body" sz="half" idx="4294967295"/>
          </p:nvPr>
        </p:nvSpPr>
        <p:spPr>
          <a:xfrm>
            <a:off x="1024128" y="2286000"/>
            <a:ext cx="4429615" cy="3931920"/>
          </a:xfrm>
          <a:prstGeom prst="rect">
            <a:avLst/>
          </a:prstGeom>
        </p:spPr>
        <p:txBody>
          <a:bodyPr vert="horz" lIns="45720" tIns="45720" rIns="45720" bIns="45720" rtlCol="0">
            <a:normAutofit/>
          </a:bodyPr>
          <a:lstStyle/>
          <a:p>
            <a:pPr>
              <a:spcBef>
                <a:spcPts val="1400"/>
              </a:spcBef>
            </a:pPr>
            <a:r>
              <a:rPr lang="en-US"/>
              <a:t>We used the get request to the SpaceX API to collect data, clean the requested data and did some basic data wrangling and formatting.</a:t>
            </a:r>
          </a:p>
          <a:p>
            <a:pPr>
              <a:spcBef>
                <a:spcPts val="1400"/>
              </a:spcBef>
            </a:pPr>
            <a:r>
              <a:rPr lang="en-US"/>
              <a:t>The link to the notebook is https://github.com/chuksoo/IBM-Data-Science-Capstone-SpaceX/blob/main/Data%20Collection%20API.ipynb.</a:t>
            </a:r>
          </a:p>
          <a:p>
            <a:endParaRPr lang="en-US" dirty="0"/>
          </a:p>
          <a:p>
            <a:endParaRPr lang="en-US" dirty="0"/>
          </a:p>
        </p:txBody>
      </p:sp>
      <p:pic>
        <p:nvPicPr>
          <p:cNvPr id="9" name="Picture 8">
            <a:extLst>
              <a:ext uri="{FF2B5EF4-FFF2-40B4-BE49-F238E27FC236}">
                <a16:creationId xmlns:a16="http://schemas.microsoft.com/office/drawing/2014/main" id="{61E4AF22-EFED-4B80-BCDB-9BE50C288589}"/>
              </a:ext>
            </a:extLst>
          </p:cNvPr>
          <p:cNvPicPr>
            <a:picLocks noChangeAspect="1"/>
          </p:cNvPicPr>
          <p:nvPr/>
        </p:nvPicPr>
        <p:blipFill>
          <a:blip r:embed="rId2"/>
          <a:stretch>
            <a:fillRect/>
          </a:stretch>
        </p:blipFill>
        <p:spPr>
          <a:xfrm>
            <a:off x="6096000" y="926834"/>
            <a:ext cx="5455921" cy="5004332"/>
          </a:xfrm>
          <a:prstGeom prst="rect">
            <a:avLst/>
          </a:prstGeom>
        </p:spPr>
      </p:pic>
      <p:sp>
        <p:nvSpPr>
          <p:cNvPr id="6" name="Slide Number Placeholder 5">
            <a:extLst>
              <a:ext uri="{FF2B5EF4-FFF2-40B4-BE49-F238E27FC236}">
                <a16:creationId xmlns:a16="http://schemas.microsoft.com/office/drawing/2014/main" id="{772D0411-8FF8-C540-84AE-DBA0703D368C}"/>
              </a:ext>
            </a:extLst>
          </p:cNvPr>
          <p:cNvSpPr>
            <a:spLocks noGrp="1"/>
          </p:cNvSpPr>
          <p:nvPr>
            <p:ph type="sldNum" sz="quarter" idx="12"/>
          </p:nvPr>
        </p:nvSpPr>
        <p:spPr>
          <a:xfrm>
            <a:off x="10837333" y="6470704"/>
            <a:ext cx="973667" cy="274320"/>
          </a:xfrm>
        </p:spPr>
        <p:txBody>
          <a:bodyPr vert="horz" lIns="91440" tIns="45720" rIns="91440" bIns="45720" rtlCol="0" anchor="ctr">
            <a:normAutofit/>
          </a:bodyPr>
          <a:lstStyle/>
          <a:p>
            <a:pPr defTabSz="914400">
              <a:spcAft>
                <a:spcPts val="600"/>
              </a:spcAft>
            </a:pPr>
            <a:fld id="{5075537C-CA84-1446-933C-8E9D027F9201}" type="slidenum">
              <a:rPr lang="en-US" smtClean="0"/>
              <a:pPr defTabSz="914400">
                <a:spcAft>
                  <a:spcPts val="600"/>
                </a:spcAft>
              </a:pPr>
              <a:t>14</a:t>
            </a:fld>
            <a:endParaRPr lang="en-US"/>
          </a:p>
        </p:txBody>
      </p:sp>
    </p:spTree>
    <p:extLst>
      <p:ext uri="{BB962C8B-B14F-4D97-AF65-F5344CB8AC3E}">
        <p14:creationId xmlns:p14="http://schemas.microsoft.com/office/powerpoint/2010/main" val="28031608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17" name="Straight Connector 16">
            <a:extLst>
              <a:ext uri="{FF2B5EF4-FFF2-40B4-BE49-F238E27FC236}">
                <a16:creationId xmlns:a16="http://schemas.microsoft.com/office/drawing/2014/main" id="{9200C8B5-FB5A-4F8B-A9BD-693C051418A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1D094BFD-636F-D2C7-619F-010281A2D28E}"/>
              </a:ext>
            </a:extLst>
          </p:cNvPr>
          <p:cNvSpPr>
            <a:spLocks noGrp="1"/>
          </p:cNvSpPr>
          <p:nvPr>
            <p:ph type="title"/>
          </p:nvPr>
        </p:nvSpPr>
        <p:spPr>
          <a:xfrm>
            <a:off x="1024128" y="585216"/>
            <a:ext cx="3133581" cy="1499616"/>
          </a:xfrm>
        </p:spPr>
        <p:txBody>
          <a:bodyPr vert="horz" lIns="91440" tIns="45720" rIns="91440" bIns="45720" rtlCol="0" anchor="ctr">
            <a:normAutofit/>
          </a:bodyPr>
          <a:lstStyle/>
          <a:p>
            <a:r>
              <a:rPr lang="en-US"/>
              <a:t>The Data MoDEL </a:t>
            </a:r>
            <a:endParaRPr lang="en-US" dirty="0"/>
          </a:p>
        </p:txBody>
      </p:sp>
      <p:sp>
        <p:nvSpPr>
          <p:cNvPr id="4" name="Text Placeholder 3">
            <a:extLst>
              <a:ext uri="{FF2B5EF4-FFF2-40B4-BE49-F238E27FC236}">
                <a16:creationId xmlns:a16="http://schemas.microsoft.com/office/drawing/2014/main" id="{9B1E3D0B-5959-7E55-3A67-CDA36C149724}"/>
              </a:ext>
            </a:extLst>
          </p:cNvPr>
          <p:cNvSpPr>
            <a:spLocks noGrp="1"/>
          </p:cNvSpPr>
          <p:nvPr>
            <p:ph type="body" sz="half" idx="2"/>
          </p:nvPr>
        </p:nvSpPr>
        <p:spPr>
          <a:xfrm>
            <a:off x="1024128" y="2286000"/>
            <a:ext cx="3133580" cy="3931920"/>
          </a:xfrm>
        </p:spPr>
        <p:txBody>
          <a:bodyPr vert="horz" lIns="45720" tIns="45720" rIns="45720" bIns="45720" rtlCol="0">
            <a:normAutofit/>
          </a:bodyPr>
          <a:lstStyle/>
          <a:p>
            <a:pPr marL="0" lvl="0" indent="0">
              <a:lnSpc>
                <a:spcPct val="90000"/>
              </a:lnSpc>
              <a:spcBef>
                <a:spcPts val="1000"/>
              </a:spcBef>
              <a:spcAft>
                <a:spcPts val="0"/>
              </a:spcAft>
              <a:buNone/>
            </a:pPr>
            <a:r>
              <a:rPr lang="en-US" b="1">
                <a:highlight>
                  <a:srgbClr val="F1F3F4"/>
                </a:highlight>
              </a:rPr>
              <a:t>(Class diagram or Object Diagram is fine but if using UML or Data modeling preferably in at least normalized to 2NF , and it must use a joint table for many to many relationships </a:t>
            </a:r>
            <a:r>
              <a:rPr lang="en-US" b="1" u="sng">
                <a:highlight>
                  <a:srgbClr val="F1F3F4"/>
                </a:highlight>
                <a:hlinkClick r:id="rId2"/>
              </a:rPr>
              <a:t>https://www.youtube.com/watch?v=UrYLYV7WSHM</a:t>
            </a:r>
            <a:endParaRPr lang="en-US" b="1">
              <a:highlight>
                <a:srgbClr val="F1F3F4"/>
              </a:highlight>
            </a:endParaRPr>
          </a:p>
          <a:p>
            <a:pPr marL="0" lvl="0" indent="0">
              <a:lnSpc>
                <a:spcPct val="90000"/>
              </a:lnSpc>
              <a:spcBef>
                <a:spcPts val="1000"/>
              </a:spcBef>
              <a:spcAft>
                <a:spcPts val="0"/>
              </a:spcAft>
              <a:buNone/>
            </a:pPr>
            <a:r>
              <a:rPr lang="en-US" b="1">
                <a:highlight>
                  <a:srgbClr val="F1F3F4"/>
                </a:highlight>
              </a:rPr>
              <a:t>https://youtu.be/fOmH3-pWGCQ?si=2fN9PQ_q-gckGmOe</a:t>
            </a:r>
          </a:p>
          <a:p>
            <a:pPr marL="0" lvl="0" indent="0">
              <a:lnSpc>
                <a:spcPct val="90000"/>
              </a:lnSpc>
              <a:spcBef>
                <a:spcPts val="1000"/>
              </a:spcBef>
              <a:spcAft>
                <a:spcPts val="0"/>
              </a:spcAft>
              <a:buNone/>
            </a:pPr>
            <a:r>
              <a:rPr lang="en-US" b="1">
                <a:highlight>
                  <a:srgbClr val="F1F3F4"/>
                </a:highlight>
              </a:rPr>
              <a:t>)</a:t>
            </a:r>
            <a:endParaRPr lang="en-US" b="1"/>
          </a:p>
          <a:p>
            <a:pPr>
              <a:lnSpc>
                <a:spcPct val="90000"/>
              </a:lnSpc>
            </a:pPr>
            <a:endParaRPr lang="en-US"/>
          </a:p>
        </p:txBody>
      </p:sp>
      <p:pic>
        <p:nvPicPr>
          <p:cNvPr id="5" name="Content Placeholder 4">
            <a:extLst>
              <a:ext uri="{FF2B5EF4-FFF2-40B4-BE49-F238E27FC236}">
                <a16:creationId xmlns:a16="http://schemas.microsoft.com/office/drawing/2014/main" id="{46700315-22D1-4BB0-3E78-E050DBABD29A}"/>
              </a:ext>
            </a:extLst>
          </p:cNvPr>
          <p:cNvPicPr>
            <a:picLocks noGrp="1" noChangeAspect="1"/>
          </p:cNvPicPr>
          <p:nvPr>
            <p:ph idx="1"/>
          </p:nvPr>
        </p:nvPicPr>
        <p:blipFill>
          <a:blip r:embed="rId3"/>
          <a:stretch>
            <a:fillRect/>
          </a:stretch>
        </p:blipFill>
        <p:spPr>
          <a:xfrm>
            <a:off x="4642342" y="1684332"/>
            <a:ext cx="6909577" cy="3489336"/>
          </a:xfrm>
          <a:prstGeom prst="rect">
            <a:avLst/>
          </a:prstGeom>
        </p:spPr>
      </p:pic>
    </p:spTree>
    <p:extLst>
      <p:ext uri="{BB962C8B-B14F-4D97-AF65-F5344CB8AC3E}">
        <p14:creationId xmlns:p14="http://schemas.microsoft.com/office/powerpoint/2010/main" val="257185525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BE194971-2F2D-44B0-8AE6-FF2DCCEE0A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0" name="Oval 5">
            <a:extLst>
              <a:ext uri="{FF2B5EF4-FFF2-40B4-BE49-F238E27FC236}">
                <a16:creationId xmlns:a16="http://schemas.microsoft.com/office/drawing/2014/main" id="{1FF9A61E-EB11-4C46-82E1-3E00A3B4B4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21" name="Straight Connector 20">
            <a:extLst>
              <a:ext uri="{FF2B5EF4-FFF2-40B4-BE49-F238E27FC236}">
                <a16:creationId xmlns:a16="http://schemas.microsoft.com/office/drawing/2014/main" id="{5E564EB3-35F2-4EFF-87DC-642DC020526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useBgFill="1">
        <p:nvSpPr>
          <p:cNvPr id="22" name="Rectangle 21">
            <a:extLst>
              <a:ext uri="{FF2B5EF4-FFF2-40B4-BE49-F238E27FC236}">
                <a16:creationId xmlns:a16="http://schemas.microsoft.com/office/drawing/2014/main" id="{A540FAC9-3505-49ED-9B06-A0F8C14853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726" cy="685897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9879B3CD-E329-42F5-B136-BA1F37EC053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05464" y="484632"/>
            <a:ext cx="7453538" cy="5880916"/>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dirty="0">
              <a:solidFill>
                <a:prstClr val="white"/>
              </a:solidFill>
            </a:endParaRPr>
          </a:p>
        </p:txBody>
      </p:sp>
      <p:sp>
        <p:nvSpPr>
          <p:cNvPr id="2" name="Title 1">
            <a:extLst>
              <a:ext uri="{FF2B5EF4-FFF2-40B4-BE49-F238E27FC236}">
                <a16:creationId xmlns:a16="http://schemas.microsoft.com/office/drawing/2014/main" id="{B7868BC4-7CC4-4BA5-4DF9-771908BF66B1}"/>
              </a:ext>
            </a:extLst>
          </p:cNvPr>
          <p:cNvSpPr>
            <a:spLocks noGrp="1"/>
          </p:cNvSpPr>
          <p:nvPr>
            <p:ph type="title"/>
          </p:nvPr>
        </p:nvSpPr>
        <p:spPr>
          <a:xfrm>
            <a:off x="990096" y="977900"/>
            <a:ext cx="6539558" cy="3327734"/>
          </a:xfrm>
        </p:spPr>
        <p:txBody>
          <a:bodyPr vert="horz" lIns="91440" tIns="45720" rIns="91440" bIns="45720" rtlCol="0" anchor="b">
            <a:normAutofit/>
          </a:bodyPr>
          <a:lstStyle/>
          <a:p>
            <a:pPr algn="r"/>
            <a:r>
              <a:rPr lang="en-US" sz="5400" spc="200" dirty="0"/>
              <a:t>Business Intelligence</a:t>
            </a:r>
          </a:p>
        </p:txBody>
      </p:sp>
      <p:cxnSp>
        <p:nvCxnSpPr>
          <p:cNvPr id="17" name="Straight Connector 16">
            <a:extLst>
              <a:ext uri="{FF2B5EF4-FFF2-40B4-BE49-F238E27FC236}">
                <a16:creationId xmlns:a16="http://schemas.microsoft.com/office/drawing/2014/main" id="{51B042EF-3024-4C57-B282-1B30607FB7C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2158680" y="4476657"/>
            <a:ext cx="5370974" cy="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19" name="Rectangle 18">
            <a:extLst>
              <a:ext uri="{FF2B5EF4-FFF2-40B4-BE49-F238E27FC236}">
                <a16:creationId xmlns:a16="http://schemas.microsoft.com/office/drawing/2014/main" id="{EA0B4097-B645-43E0-A2B5-B8D688E745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119870" y="484632"/>
            <a:ext cx="3584224" cy="5880916"/>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dirty="0">
              <a:solidFill>
                <a:prstClr val="white"/>
              </a:solidFill>
            </a:endParaRPr>
          </a:p>
        </p:txBody>
      </p:sp>
    </p:spTree>
    <p:extLst>
      <p:ext uri="{BB962C8B-B14F-4D97-AF65-F5344CB8AC3E}">
        <p14:creationId xmlns:p14="http://schemas.microsoft.com/office/powerpoint/2010/main" val="1631442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31" name="Rectangle 1030">
            <a:extLst>
              <a:ext uri="{FF2B5EF4-FFF2-40B4-BE49-F238E27FC236}">
                <a16:creationId xmlns:a16="http://schemas.microsoft.com/office/drawing/2014/main" id="{8CD2B798-7994-4548-A2BE-4AEF9C1A5F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033" name="Oval 5">
            <a:extLst>
              <a:ext uri="{FF2B5EF4-FFF2-40B4-BE49-F238E27FC236}">
                <a16:creationId xmlns:a16="http://schemas.microsoft.com/office/drawing/2014/main" id="{E6162320-3B67-42BB-AF9D-939326E648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1035" name="Straight Connector 1034">
            <a:extLst>
              <a:ext uri="{FF2B5EF4-FFF2-40B4-BE49-F238E27FC236}">
                <a16:creationId xmlns:a16="http://schemas.microsoft.com/office/drawing/2014/main" id="{6722E143-84C1-4F95-937C-78B92D2811C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useBgFill="1">
        <p:nvSpPr>
          <p:cNvPr id="1037" name="Rectangle 1036">
            <a:extLst>
              <a:ext uri="{FF2B5EF4-FFF2-40B4-BE49-F238E27FC236}">
                <a16:creationId xmlns:a16="http://schemas.microsoft.com/office/drawing/2014/main" id="{87DED590-291C-4D46-BBE6-EE5F0C44D6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9" name="Rectangle 1038">
            <a:extLst>
              <a:ext uri="{FF2B5EF4-FFF2-40B4-BE49-F238E27FC236}">
                <a16:creationId xmlns:a16="http://schemas.microsoft.com/office/drawing/2014/main" id="{081EC9D6-90B6-4037-BCD1-DF32371E21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4632" y="486184"/>
            <a:ext cx="3248522" cy="5885632"/>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 Placeholder 2">
            <a:extLst>
              <a:ext uri="{FF2B5EF4-FFF2-40B4-BE49-F238E27FC236}">
                <a16:creationId xmlns:a16="http://schemas.microsoft.com/office/drawing/2014/main" id="{80109FC5-F5D7-096D-BA40-8F22172F03DD}"/>
              </a:ext>
            </a:extLst>
          </p:cNvPr>
          <p:cNvSpPr>
            <a:spLocks noGrp="1"/>
          </p:cNvSpPr>
          <p:nvPr>
            <p:ph type="body" idx="1"/>
          </p:nvPr>
        </p:nvSpPr>
        <p:spPr>
          <a:xfrm>
            <a:off x="768485" y="858475"/>
            <a:ext cx="2629727" cy="5141050"/>
          </a:xfrm>
        </p:spPr>
        <p:txBody>
          <a:bodyPr vert="horz" lIns="91440" tIns="45720" rIns="91440" bIns="45720" rtlCol="0" anchor="ctr">
            <a:normAutofit/>
          </a:bodyPr>
          <a:lstStyle/>
          <a:p>
            <a:pPr marL="0" indent="0" algn="r">
              <a:lnSpc>
                <a:spcPct val="100000"/>
              </a:lnSpc>
              <a:spcBef>
                <a:spcPts val="0"/>
              </a:spcBef>
              <a:spcAft>
                <a:spcPts val="200"/>
              </a:spcAft>
              <a:buClr>
                <a:schemeClr val="accent1"/>
              </a:buClr>
              <a:buSzPct val="100000"/>
            </a:pPr>
            <a:r>
              <a:rPr lang="en-US" sz="2400">
                <a:solidFill>
                  <a:schemeClr val="bg1"/>
                </a:solidFill>
              </a:rPr>
              <a:t>Describe how you will fill your Business Intelligence Dashboard</a:t>
            </a:r>
          </a:p>
        </p:txBody>
      </p:sp>
      <p:sp>
        <p:nvSpPr>
          <p:cNvPr id="1041" name="Rectangle 1040">
            <a:extLst>
              <a:ext uri="{FF2B5EF4-FFF2-40B4-BE49-F238E27FC236}">
                <a16:creationId xmlns:a16="http://schemas.microsoft.com/office/drawing/2014/main" id="{09DFC1FD-759F-47F1-B791-6DD75BB7FF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97745" y="486184"/>
            <a:ext cx="7794722" cy="5885631"/>
          </a:xfrm>
          <a:prstGeom prst="rect">
            <a:avLst/>
          </a:prstGeom>
          <a:solidFill>
            <a:schemeClr val="accent1">
              <a:alpha val="6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10 ways to add value to your dashboards with maps">
            <a:extLst>
              <a:ext uri="{FF2B5EF4-FFF2-40B4-BE49-F238E27FC236}">
                <a16:creationId xmlns:a16="http://schemas.microsoft.com/office/drawing/2014/main" id="{30811106-4E05-CFAB-F1CD-AB3A88E71204}"/>
              </a:ext>
            </a:extLst>
          </p:cNvPr>
          <p:cNvPicPr>
            <a:picLocks noGrp="1" noChangeAspect="1" noChangeArrowheads="1"/>
          </p:cNvPicPr>
          <p:nvPr>
            <p:ph type="pic" idx="2"/>
          </p:nvPr>
        </p:nvPicPr>
        <p:blipFill>
          <a:blip r:embed="rId2">
            <a:duotone>
              <a:schemeClr val="accent1">
                <a:shade val="45000"/>
                <a:satMod val="135000"/>
              </a:schemeClr>
              <a:prstClr val="white"/>
            </a:duotone>
            <a:extLst>
              <a:ext uri="{28A0092B-C50C-407E-A947-70E740481C1C}">
                <a14:useLocalDpi xmlns:a14="http://schemas.microsoft.com/office/drawing/2010/main" val="0"/>
              </a:ext>
            </a:extLst>
          </a:blip>
          <a:srcRect l="28687" r="2" b="2"/>
          <a:stretch/>
        </p:blipFill>
        <p:spPr bwMode="auto">
          <a:xfrm>
            <a:off x="3897745" y="486184"/>
            <a:ext cx="7794722" cy="5885632"/>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2B4255F7-87E9-CFB6-E23C-57988295E74E}"/>
              </a:ext>
            </a:extLst>
          </p:cNvPr>
          <p:cNvSpPr>
            <a:spLocks noGrp="1"/>
          </p:cNvSpPr>
          <p:nvPr>
            <p:ph type="title"/>
          </p:nvPr>
        </p:nvSpPr>
        <p:spPr>
          <a:xfrm>
            <a:off x="4299626" y="858475"/>
            <a:ext cx="6984459" cy="5141050"/>
          </a:xfrm>
        </p:spPr>
        <p:txBody>
          <a:bodyPr vert="horz" lIns="91440" tIns="45720" rIns="91440" bIns="45720" rtlCol="0" anchor="ctr">
            <a:normAutofit/>
          </a:bodyPr>
          <a:lstStyle/>
          <a:p>
            <a:pPr>
              <a:lnSpc>
                <a:spcPct val="80000"/>
              </a:lnSpc>
              <a:spcBef>
                <a:spcPct val="0"/>
              </a:spcBef>
            </a:pPr>
            <a:r>
              <a:rPr lang="en-US" sz="6000" kern="1200" cap="all" spc="200" baseline="0">
                <a:solidFill>
                  <a:srgbClr val="FFFFFF"/>
                </a:solidFill>
                <a:latin typeface="+mj-lt"/>
                <a:ea typeface="+mj-ea"/>
                <a:cs typeface="+mj-cs"/>
              </a:rPr>
              <a:t>What are the metrics/charts</a:t>
            </a:r>
          </a:p>
        </p:txBody>
      </p:sp>
    </p:spTree>
    <p:extLst>
      <p:ext uri="{BB962C8B-B14F-4D97-AF65-F5344CB8AC3E}">
        <p14:creationId xmlns:p14="http://schemas.microsoft.com/office/powerpoint/2010/main" val="1038448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BE194971-2F2D-44B0-8AE6-FF2DCCEE0A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1" name="Oval 5">
            <a:extLst>
              <a:ext uri="{FF2B5EF4-FFF2-40B4-BE49-F238E27FC236}">
                <a16:creationId xmlns:a16="http://schemas.microsoft.com/office/drawing/2014/main" id="{1FF9A61E-EB11-4C46-82E1-3E00A3B4B4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22" name="Straight Connector 21">
            <a:extLst>
              <a:ext uri="{FF2B5EF4-FFF2-40B4-BE49-F238E27FC236}">
                <a16:creationId xmlns:a16="http://schemas.microsoft.com/office/drawing/2014/main" id="{5E564EB3-35F2-4EFF-87DC-642DC020526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useBgFill="1">
        <p:nvSpPr>
          <p:cNvPr id="23" name="Rectangle 22">
            <a:extLst>
              <a:ext uri="{FF2B5EF4-FFF2-40B4-BE49-F238E27FC236}">
                <a16:creationId xmlns:a16="http://schemas.microsoft.com/office/drawing/2014/main" id="{A540FAC9-3505-49ED-9B06-A0F8C14853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726" cy="685897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9879B3CD-E329-42F5-B136-BA1F37EC053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05464" y="484632"/>
            <a:ext cx="7453538" cy="5880916"/>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dirty="0">
              <a:solidFill>
                <a:prstClr val="white"/>
              </a:solidFill>
            </a:endParaRPr>
          </a:p>
        </p:txBody>
      </p:sp>
      <p:sp>
        <p:nvSpPr>
          <p:cNvPr id="2" name="Title 1">
            <a:extLst>
              <a:ext uri="{FF2B5EF4-FFF2-40B4-BE49-F238E27FC236}">
                <a16:creationId xmlns:a16="http://schemas.microsoft.com/office/drawing/2014/main" id="{B2A5662B-ADE4-C403-567F-3D03F3B1E212}"/>
              </a:ext>
            </a:extLst>
          </p:cNvPr>
          <p:cNvSpPr>
            <a:spLocks noGrp="1"/>
          </p:cNvSpPr>
          <p:nvPr>
            <p:ph type="title"/>
          </p:nvPr>
        </p:nvSpPr>
        <p:spPr>
          <a:xfrm>
            <a:off x="990096" y="977900"/>
            <a:ext cx="6539558" cy="3327734"/>
          </a:xfrm>
        </p:spPr>
        <p:txBody>
          <a:bodyPr vert="horz" lIns="91440" tIns="45720" rIns="91440" bIns="45720" rtlCol="0" anchor="b">
            <a:normAutofit/>
          </a:bodyPr>
          <a:lstStyle/>
          <a:p>
            <a:pPr algn="r"/>
            <a:r>
              <a:rPr lang="en-US" sz="5400" spc="200" dirty="0"/>
              <a:t>Application Stack</a:t>
            </a:r>
          </a:p>
        </p:txBody>
      </p:sp>
      <p:cxnSp>
        <p:nvCxnSpPr>
          <p:cNvPr id="25" name="Straight Connector 24">
            <a:extLst>
              <a:ext uri="{FF2B5EF4-FFF2-40B4-BE49-F238E27FC236}">
                <a16:creationId xmlns:a16="http://schemas.microsoft.com/office/drawing/2014/main" id="{51B042EF-3024-4C57-B282-1B30607FB7C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2158680" y="4476657"/>
            <a:ext cx="5370974" cy="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19" name="Rectangle 18">
            <a:extLst>
              <a:ext uri="{FF2B5EF4-FFF2-40B4-BE49-F238E27FC236}">
                <a16:creationId xmlns:a16="http://schemas.microsoft.com/office/drawing/2014/main" id="{EA0B4097-B645-43E0-A2B5-B8D688E745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119870" y="484632"/>
            <a:ext cx="3584224" cy="5880916"/>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dirty="0">
              <a:solidFill>
                <a:prstClr val="white"/>
              </a:solidFill>
            </a:endParaRPr>
          </a:p>
        </p:txBody>
      </p:sp>
    </p:spTree>
    <p:extLst>
      <p:ext uri="{BB962C8B-B14F-4D97-AF65-F5344CB8AC3E}">
        <p14:creationId xmlns:p14="http://schemas.microsoft.com/office/powerpoint/2010/main" val="11284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41"/>
        <p:cNvGrpSpPr/>
        <p:nvPr/>
      </p:nvGrpSpPr>
      <p:grpSpPr>
        <a:xfrm>
          <a:off x="0" y="0"/>
          <a:ext cx="0" cy="0"/>
          <a:chOff x="0" y="0"/>
          <a:chExt cx="0" cy="0"/>
        </a:xfrm>
      </p:grpSpPr>
      <p:sp>
        <p:nvSpPr>
          <p:cNvPr id="142" name="Google Shape;142;p5"/>
          <p:cNvSpPr/>
          <p:nvPr/>
        </p:nvSpPr>
        <p:spPr>
          <a:xfrm>
            <a:off x="0" y="0"/>
            <a:ext cx="12192000" cy="6858000"/>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43" name="Google Shape;143;p5"/>
          <p:cNvSpPr/>
          <p:nvPr/>
        </p:nvSpPr>
        <p:spPr>
          <a:xfrm>
            <a:off x="0" y="0"/>
            <a:ext cx="2013557" cy="6858000"/>
          </a:xfrm>
          <a:prstGeom prst="rect">
            <a:avLst/>
          </a:prstGeom>
          <a:solidFill>
            <a:srgbClr val="668F9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44" name="Google Shape;144;p5"/>
          <p:cNvSpPr>
            <a:spLocks noGrp="1"/>
          </p:cNvSpPr>
          <p:nvPr>
            <p:ph type="title"/>
          </p:nvPr>
        </p:nvSpPr>
        <p:spPr>
          <a:xfrm>
            <a:off x="640080" y="2074363"/>
            <a:ext cx="2752354" cy="2709275"/>
          </a:xfrm>
          <a:prstGeom prst="ellipse">
            <a:avLst/>
          </a:prstGeom>
          <a:solidFill>
            <a:srgbClr val="262626"/>
          </a:solidFill>
          <a:ln w="174625" cap="flat" cmpd="thinThick">
            <a:solidFill>
              <a:srgbClr val="262626"/>
            </a:solidFill>
            <a:prstDash val="solid"/>
            <a:round/>
            <a:headEnd type="none" w="sm" len="sm"/>
            <a:tailEnd type="none" w="sm" len="sm"/>
          </a:ln>
        </p:spPr>
        <p:txBody>
          <a:bodyPr spcFirstLastPara="1" wrap="square" lIns="91425" tIns="45700" rIns="91425" bIns="45700" anchor="ctr" anchorCtr="0">
            <a:normAutofit/>
          </a:bodyPr>
          <a:lstStyle/>
          <a:p>
            <a:pPr marL="0" lvl="0" indent="0" algn="ctr" rtl="0">
              <a:lnSpc>
                <a:spcPct val="90000"/>
              </a:lnSpc>
              <a:spcBef>
                <a:spcPts val="0"/>
              </a:spcBef>
              <a:spcAft>
                <a:spcPts val="0"/>
              </a:spcAft>
              <a:buClr>
                <a:srgbClr val="FFFFFF"/>
              </a:buClr>
              <a:buSzPts val="2600"/>
              <a:buFont typeface="Play"/>
              <a:buNone/>
            </a:pPr>
            <a:r>
              <a:rPr lang="en-US" sz="2600">
                <a:solidFill>
                  <a:srgbClr val="FFFFFF"/>
                </a:solidFill>
                <a:latin typeface="Play"/>
                <a:ea typeface="Play"/>
                <a:cs typeface="Play"/>
                <a:sym typeface="Play"/>
              </a:rPr>
              <a:t>The Stack</a:t>
            </a:r>
            <a:endParaRPr/>
          </a:p>
        </p:txBody>
      </p:sp>
      <p:pic>
        <p:nvPicPr>
          <p:cNvPr id="145" name="Google Shape;145;p5" descr="What is a Tech Stack? Structure of a Tech Stack | by Irene mmassy | Medium"/>
          <p:cNvPicPr preferRelativeResize="0">
            <a:picLocks noGrp="1"/>
          </p:cNvPicPr>
          <p:nvPr>
            <p:ph idx="1"/>
          </p:nvPr>
        </p:nvPicPr>
        <p:blipFill rotWithShape="1">
          <a:blip r:embed="rId3">
            <a:alphaModFix/>
          </a:blip>
          <a:srcRect/>
          <a:stretch/>
        </p:blipFill>
        <p:spPr>
          <a:xfrm>
            <a:off x="4038600" y="1720108"/>
            <a:ext cx="7188300" cy="3414300"/>
          </a:xfrm>
          <a:prstGeom prst="rect">
            <a:avLst/>
          </a:prstGeom>
          <a:noFill/>
          <a:ln>
            <a:noFill/>
          </a:ln>
        </p:spPr>
      </p:pic>
      <p:sp>
        <p:nvSpPr>
          <p:cNvPr id="146" name="Google Shape;146;p5"/>
          <p:cNvSpPr/>
          <p:nvPr/>
        </p:nvSpPr>
        <p:spPr>
          <a:xfrm>
            <a:off x="9793125" y="4388550"/>
            <a:ext cx="395100" cy="310500"/>
          </a:xfrm>
          <a:prstGeom prst="noSmoking">
            <a:avLst>
              <a:gd name="adj" fmla="val 18750"/>
            </a:avLst>
          </a:prstGeom>
          <a:solidFill>
            <a:srgbClr val="FF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0000"/>
              </a:solidFill>
              <a:highlight>
                <a:srgbClr val="FF0000"/>
              </a:highlight>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50"/>
        <p:cNvGrpSpPr/>
        <p:nvPr/>
      </p:nvGrpSpPr>
      <p:grpSpPr>
        <a:xfrm>
          <a:off x="0" y="0"/>
          <a:ext cx="0" cy="0"/>
          <a:chOff x="0" y="0"/>
          <a:chExt cx="0" cy="0"/>
        </a:xfrm>
      </p:grpSpPr>
      <p:sp>
        <p:nvSpPr>
          <p:cNvPr id="151" name="Google Shape;151;p6"/>
          <p:cNvSpPr/>
          <p:nvPr/>
        </p:nvSpPr>
        <p:spPr>
          <a:xfrm>
            <a:off x="0" y="0"/>
            <a:ext cx="12192000" cy="6858000"/>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52" name="Google Shape;152;p6"/>
          <p:cNvSpPr/>
          <p:nvPr/>
        </p:nvSpPr>
        <p:spPr>
          <a:xfrm>
            <a:off x="0" y="0"/>
            <a:ext cx="2013557" cy="6858000"/>
          </a:xfrm>
          <a:prstGeom prst="rect">
            <a:avLst/>
          </a:prstGeom>
          <a:solidFill>
            <a:srgbClr val="4CA5B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53" name="Google Shape;153;p6"/>
          <p:cNvSpPr>
            <a:spLocks noGrp="1"/>
          </p:cNvSpPr>
          <p:nvPr>
            <p:ph type="title"/>
          </p:nvPr>
        </p:nvSpPr>
        <p:spPr>
          <a:xfrm>
            <a:off x="640080" y="2074363"/>
            <a:ext cx="2752354" cy="2709275"/>
          </a:xfrm>
          <a:prstGeom prst="ellipse">
            <a:avLst/>
          </a:prstGeom>
          <a:solidFill>
            <a:srgbClr val="262626"/>
          </a:solidFill>
          <a:ln w="174625" cap="flat" cmpd="thinThick">
            <a:solidFill>
              <a:srgbClr val="262626"/>
            </a:solidFill>
            <a:prstDash val="solid"/>
            <a:round/>
            <a:headEnd type="none" w="sm" len="sm"/>
            <a:tailEnd type="none" w="sm" len="sm"/>
          </a:ln>
        </p:spPr>
        <p:txBody>
          <a:bodyPr spcFirstLastPara="1" wrap="square" lIns="91425" tIns="45700" rIns="91425" bIns="45700" anchor="ctr" anchorCtr="0">
            <a:normAutofit/>
          </a:bodyPr>
          <a:lstStyle/>
          <a:p>
            <a:pPr marL="0" lvl="0" indent="0" algn="ctr" rtl="0">
              <a:lnSpc>
                <a:spcPct val="90000"/>
              </a:lnSpc>
              <a:spcBef>
                <a:spcPts val="0"/>
              </a:spcBef>
              <a:spcAft>
                <a:spcPts val="0"/>
              </a:spcAft>
              <a:buClr>
                <a:srgbClr val="FFFFFF"/>
              </a:buClr>
              <a:buSzPts val="2600"/>
              <a:buFont typeface="Play"/>
              <a:buNone/>
            </a:pPr>
            <a:r>
              <a:rPr lang="en-US" sz="2600">
                <a:solidFill>
                  <a:srgbClr val="FFFFFF"/>
                </a:solidFill>
                <a:latin typeface="Play"/>
                <a:ea typeface="Play"/>
                <a:cs typeface="Play"/>
                <a:sym typeface="Play"/>
              </a:rPr>
              <a:t>Member Roles</a:t>
            </a:r>
            <a:endParaRPr/>
          </a:p>
        </p:txBody>
      </p:sp>
      <p:pic>
        <p:nvPicPr>
          <p:cNvPr id="154" name="Google Shape;154;p6" descr="6 Essential Product Team Roles [Definitions and Resources]"/>
          <p:cNvPicPr preferRelativeResize="0">
            <a:picLocks noGrp="1"/>
          </p:cNvPicPr>
          <p:nvPr>
            <p:ph idx="1"/>
          </p:nvPr>
        </p:nvPicPr>
        <p:blipFill rotWithShape="1">
          <a:blip r:embed="rId3">
            <a:alphaModFix/>
          </a:blip>
          <a:srcRect/>
          <a:stretch/>
        </p:blipFill>
        <p:spPr>
          <a:xfrm>
            <a:off x="4038600" y="1809961"/>
            <a:ext cx="7188199" cy="3234689"/>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58"/>
        <p:cNvGrpSpPr/>
        <p:nvPr/>
      </p:nvGrpSpPr>
      <p:grpSpPr>
        <a:xfrm>
          <a:off x="0" y="0"/>
          <a:ext cx="0" cy="0"/>
          <a:chOff x="0" y="0"/>
          <a:chExt cx="0" cy="0"/>
        </a:xfrm>
      </p:grpSpPr>
      <p:sp>
        <p:nvSpPr>
          <p:cNvPr id="159" name="Google Shape;159;p7"/>
          <p:cNvSpPr/>
          <p:nvPr/>
        </p:nvSpPr>
        <p:spPr>
          <a:xfrm>
            <a:off x="3048" y="0"/>
            <a:ext cx="12188952" cy="6858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60" name="Google Shape;160;p7"/>
          <p:cNvSpPr/>
          <p:nvPr/>
        </p:nvSpPr>
        <p:spPr>
          <a:xfrm>
            <a:off x="0" y="0"/>
            <a:ext cx="12192000" cy="6858000"/>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Arial"/>
              <a:ea typeface="Arial"/>
              <a:cs typeface="Arial"/>
              <a:sym typeface="Arial"/>
            </a:endParaRPr>
          </a:p>
        </p:txBody>
      </p:sp>
      <p:sp>
        <p:nvSpPr>
          <p:cNvPr id="161" name="Google Shape;161;p7"/>
          <p:cNvSpPr/>
          <p:nvPr/>
        </p:nvSpPr>
        <p:spPr>
          <a:xfrm>
            <a:off x="0" y="0"/>
            <a:ext cx="12192000" cy="68580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62" name="Google Shape;162;p7"/>
          <p:cNvSpPr/>
          <p:nvPr/>
        </p:nvSpPr>
        <p:spPr>
          <a:xfrm>
            <a:off x="2815929" y="148929"/>
            <a:ext cx="6560142" cy="6560142"/>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63" name="Google Shape;163;p7"/>
          <p:cNvSpPr txBox="1">
            <a:spLocks noGrp="1"/>
          </p:cNvSpPr>
          <p:nvPr>
            <p:ph type="title"/>
          </p:nvPr>
        </p:nvSpPr>
        <p:spPr>
          <a:xfrm>
            <a:off x="3315031" y="1380754"/>
            <a:ext cx="5561938" cy="2513516"/>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Clr>
                <a:schemeClr val="dk1"/>
              </a:buClr>
              <a:buSzPts val="6000"/>
              <a:buFont typeface="Play"/>
              <a:buNone/>
            </a:pPr>
            <a:r>
              <a:rPr lang="en-US" sz="6000">
                <a:solidFill>
                  <a:schemeClr val="dk1"/>
                </a:solidFill>
                <a:latin typeface="Play"/>
                <a:ea typeface="Play"/>
                <a:cs typeface="Play"/>
                <a:sym typeface="Play"/>
              </a:rPr>
              <a:t>Q&amp;A</a:t>
            </a:r>
            <a:endParaRPr/>
          </a:p>
        </p:txBody>
      </p:sp>
      <p:sp>
        <p:nvSpPr>
          <p:cNvPr id="164" name="Google Shape;164;p7"/>
          <p:cNvSpPr/>
          <p:nvPr/>
        </p:nvSpPr>
        <p:spPr>
          <a:xfrm rot="-1577571" flipH="1">
            <a:off x="2494119" y="6170"/>
            <a:ext cx="6816262" cy="6816262"/>
          </a:xfrm>
          <a:prstGeom prst="arc">
            <a:avLst>
              <a:gd name="adj1" fmla="val 16200000"/>
              <a:gd name="adj2" fmla="val 20093138"/>
            </a:avLst>
          </a:prstGeom>
          <a:noFill/>
          <a:ln w="127000" cap="rnd" cmpd="sng">
            <a:solidFill>
              <a:schemeClr val="accent4">
                <a:alpha val="94901"/>
              </a:schemeClr>
            </a:solidFill>
            <a:prstDash val="dash"/>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Arial"/>
              <a:ea typeface="Arial"/>
              <a:cs typeface="Arial"/>
              <a:sym typeface="Arial"/>
            </a:endParaRPr>
          </a:p>
        </p:txBody>
      </p:sp>
      <p:sp>
        <p:nvSpPr>
          <p:cNvPr id="165" name="Google Shape;165;p7"/>
          <p:cNvSpPr/>
          <p:nvPr/>
        </p:nvSpPr>
        <p:spPr>
          <a:xfrm>
            <a:off x="8200995" y="5310973"/>
            <a:ext cx="705948" cy="686798"/>
          </a:xfrm>
          <a:prstGeom prst="ellipse">
            <a:avLst/>
          </a:prstGeom>
          <a:solidFill>
            <a:schemeClr val="accent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Tree>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ntegral">
  <a:themeElements>
    <a:clrScheme name="Integral">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B9F25"/>
      </a:hlink>
      <a:folHlink>
        <a:srgbClr val="B26B02"/>
      </a:folHlink>
    </a:clrScheme>
    <a:fontScheme name="Integral">
      <a:majorFont>
        <a:latin typeface="Tw Cen MT Condensed" panose="020B06060201040202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w Cen MT" panose="020B06020201040206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Integral">
      <a:fillStyleLst>
        <a:solidFill>
          <a:schemeClr val="phClr"/>
        </a:solidFill>
        <a:gradFill rotWithShape="1">
          <a:gsLst>
            <a:gs pos="0">
              <a:schemeClr val="phClr">
                <a:tint val="83000"/>
                <a:satMod val="100000"/>
                <a:lumMod val="100000"/>
              </a:schemeClr>
            </a:gs>
            <a:gs pos="100000">
              <a:schemeClr val="phClr">
                <a:tint val="61000"/>
                <a:satMod val="150000"/>
                <a:lumMod val="100000"/>
              </a:schemeClr>
            </a:gs>
          </a:gsLst>
          <a:path path="circle">
            <a:fillToRect l="100000" t="100000" r="100000" b="100000"/>
          </a:path>
        </a:gradFill>
        <a:gradFill rotWithShape="1">
          <a:gsLst>
            <a:gs pos="0">
              <a:schemeClr val="phClr">
                <a:tint val="100000"/>
                <a:shade val="85000"/>
                <a:satMod val="100000"/>
                <a:lumMod val="100000"/>
              </a:schemeClr>
            </a:gs>
            <a:gs pos="100000">
              <a:schemeClr val="phClr">
                <a:tint val="90000"/>
                <a:shade val="100000"/>
                <a:satMod val="150000"/>
                <a:lumMod val="100000"/>
              </a:schemeClr>
            </a:gs>
          </a:gsLst>
          <a:path path="circle">
            <a:fillToRect l="100000" t="100000" r="100000" b="100000"/>
          </a:path>
        </a:gradFill>
      </a:fillStyleLst>
      <a:lnStyleLst>
        <a:ln w="9525" cap="flat" cmpd="sng" algn="ctr">
          <a:solidFill>
            <a:schemeClr val="phClr"/>
          </a:solidFill>
          <a:prstDash val="solid"/>
        </a:ln>
        <a:ln w="15875"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outerShdw blurRad="50800" dist="12700" dir="5400000" algn="ctr" rotWithShape="0">
              <a:srgbClr val="000000">
                <a:alpha val="50000"/>
              </a:srgbClr>
            </a:outerShdw>
          </a:effectLst>
        </a:effectStyle>
        <a:effectStyle>
          <a:effectLst>
            <a:outerShdw blurRad="76200" dist="25400" dir="5400000" algn="ctr" rotWithShape="0">
              <a:srgbClr val="000000">
                <a:alpha val="60000"/>
              </a:srgbClr>
            </a:outerShdw>
          </a:effectLst>
          <a:scene3d>
            <a:camera prst="orthographicFront">
              <a:rot lat="0" lon="0" rev="0"/>
            </a:camera>
            <a:lightRig rig="flat" dir="t">
              <a:rot lat="0" lon="0" rev="3600000"/>
            </a:lightRig>
          </a:scene3d>
          <a:sp3d contourW="12700" prstMaterial="flat">
            <a:bevelT w="38100" h="44450" prst="angle"/>
            <a:contourClr>
              <a:schemeClr val="phClr">
                <a:shade val="35000"/>
                <a:satMod val="160000"/>
              </a:schemeClr>
            </a:contourClr>
          </a:sp3d>
        </a:effectStyle>
      </a:effectStyleLst>
      <a:bgFillStyleLst>
        <a:solidFill>
          <a:schemeClr val="phClr"/>
        </a:solidFill>
        <a:solidFill>
          <a:schemeClr val="phClr">
            <a:tint val="95000"/>
            <a:shade val="85000"/>
            <a:satMod val="125000"/>
          </a:schemeClr>
        </a:solidFill>
        <a:blipFill rotWithShape="1">
          <a:blip xmlns:r="http://schemas.openxmlformats.org/officeDocument/2006/relationships" r:embed="rId1">
            <a:duotone>
              <a:schemeClr val="phClr">
                <a:tint val="95000"/>
                <a:shade val="74000"/>
                <a:satMod val="230000"/>
              </a:schemeClr>
              <a:schemeClr val="phClr">
                <a:tint val="92000"/>
                <a:shade val="69000"/>
                <a:satMod val="250000"/>
              </a:schemeClr>
            </a:duotone>
          </a:blip>
          <a:tile tx="0" ty="0" sx="40000" sy="40000" flip="none" algn="tl"/>
        </a:blipFill>
      </a:bgFillStyleLst>
    </a:fmtScheme>
  </a:themeElements>
  <a:objectDefaults/>
  <a:extraClrSchemeLst/>
  <a:extLst>
    <a:ext uri="{05A4C25C-085E-4340-85A3-A5531E510DB2}">
      <thm15:themeFamily xmlns:thm15="http://schemas.microsoft.com/office/thememl/2012/main" name="Integral" id="{3577F8C9-A904-41D8-97D2-FD898F53F20E}" vid="{682D6EBE-8D36-4FF2-9DB3-F3D8D7B6715D}"/>
    </a:ext>
  </a:extLst>
</a:theme>
</file>

<file path=ppt/theme/theme2.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Integral</Template>
  <TotalTime>34</TotalTime>
  <Words>1003</Words>
  <Application>Microsoft Office PowerPoint</Application>
  <PresentationFormat>Widescreen</PresentationFormat>
  <Paragraphs>74</Paragraphs>
  <Slides>21</Slides>
  <Notes>8</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21</vt:i4>
      </vt:variant>
    </vt:vector>
  </HeadingPairs>
  <TitlesOfParts>
    <vt:vector size="28" baseType="lpstr">
      <vt:lpstr>Tw Cen MT Condensed</vt:lpstr>
      <vt:lpstr>Abadi</vt:lpstr>
      <vt:lpstr>Arial</vt:lpstr>
      <vt:lpstr>Tw Cen MT</vt:lpstr>
      <vt:lpstr>Wingdings 3</vt:lpstr>
      <vt:lpstr>Play</vt:lpstr>
      <vt:lpstr>Integral</vt:lpstr>
      <vt:lpstr>Data Science Consulting </vt:lpstr>
      <vt:lpstr>Agenda</vt:lpstr>
      <vt:lpstr>Outline Option 1</vt:lpstr>
      <vt:lpstr>PowerPoint Presentation</vt:lpstr>
      <vt:lpstr>Introduction and Problem Statement</vt:lpstr>
      <vt:lpstr>Your Company/Team/Industry #1</vt:lpstr>
      <vt:lpstr> (Consulting Project Title:Forecasting Oil and Gold Price Movements Based on U.S. Presidential Election Outcomes and Policy Debates)</vt:lpstr>
      <vt:lpstr>PowerPoint Presentation</vt:lpstr>
      <vt:lpstr>Method and Process</vt:lpstr>
      <vt:lpstr>How (describe functional requirement/story telling/Our Approach)</vt:lpstr>
      <vt:lpstr>PowerPoint Presentation</vt:lpstr>
      <vt:lpstr>DataSet</vt:lpstr>
      <vt:lpstr>PowerPoint Presentation</vt:lpstr>
      <vt:lpstr>PowerPoint Presentation</vt:lpstr>
      <vt:lpstr>The Data MoDEL </vt:lpstr>
      <vt:lpstr>Business Intelligence</vt:lpstr>
      <vt:lpstr>What are the metrics/charts</vt:lpstr>
      <vt:lpstr>Application Stack</vt:lpstr>
      <vt:lpstr>The Stack</vt:lpstr>
      <vt:lpstr>Member Roles</vt:lpstr>
      <vt:lpstr>Q&amp;A</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Sheng-Min Chen</dc:creator>
  <cp:lastModifiedBy>Sheng-Min Chen</cp:lastModifiedBy>
  <cp:revision>2</cp:revision>
  <dcterms:created xsi:type="dcterms:W3CDTF">2024-02-20T13:08:53Z</dcterms:created>
  <dcterms:modified xsi:type="dcterms:W3CDTF">2024-10-02T17:25:37Z</dcterms:modified>
</cp:coreProperties>
</file>