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Inter Light"/>
      <p:regular r:id="rId10"/>
      <p:bold r:id="rId11"/>
      <p:italic r:id="rId12"/>
      <p:boldItalic r:id="rId13"/>
    </p:embeddedFont>
    <p:embeddedFont>
      <p:font typeface="Inter SemiBold"/>
      <p:regular r:id="rId14"/>
      <p:bold r:id="rId15"/>
      <p:italic r:id="rId16"/>
      <p:boldItalic r:id="rId17"/>
    </p:embeddedFont>
    <p:embeddedFont>
      <p:font typeface="Inter"/>
      <p:bold r:id="rId18"/>
      <p:boldItalic r:id="rId19"/>
    </p:embeddedFont>
    <p:embeddedFont>
      <p:font typeface="Inter ExtraBold"/>
      <p:bold r:id="rId20"/>
      <p:boldItalic r:id="rId21"/>
    </p:embeddedFont>
    <p:embeddedFont>
      <p:font typeface="Arial Black"/>
      <p:regular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ExtraBold-bold.fntdata"/><Relationship Id="rId11" Type="http://schemas.openxmlformats.org/officeDocument/2006/relationships/font" Target="fonts/InterLight-bold.fntdata"/><Relationship Id="rId22" Type="http://schemas.openxmlformats.org/officeDocument/2006/relationships/font" Target="fonts/ArialBlack-regular.fntdata"/><Relationship Id="rId10" Type="http://schemas.openxmlformats.org/officeDocument/2006/relationships/font" Target="fonts/InterLight-regular.fntdata"/><Relationship Id="rId21" Type="http://schemas.openxmlformats.org/officeDocument/2006/relationships/font" Target="fonts/InterExtraBold-boldItalic.fntdata"/><Relationship Id="rId13" Type="http://schemas.openxmlformats.org/officeDocument/2006/relationships/font" Target="fonts/InterLight-boldItalic.fntdata"/><Relationship Id="rId12" Type="http://schemas.openxmlformats.org/officeDocument/2006/relationships/font" Target="fonts/InterLight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SemiBold-bold.fntdata"/><Relationship Id="rId14" Type="http://schemas.openxmlformats.org/officeDocument/2006/relationships/font" Target="fonts/InterSemiBold-regular.fntdata"/><Relationship Id="rId17" Type="http://schemas.openxmlformats.org/officeDocument/2006/relationships/font" Target="fonts/InterSemiBold-boldItalic.fntdata"/><Relationship Id="rId16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-boldItalic.fntdata"/><Relationship Id="rId6" Type="http://schemas.openxmlformats.org/officeDocument/2006/relationships/slide" Target="slides/slide1.xml"/><Relationship Id="rId18" Type="http://schemas.openxmlformats.org/officeDocument/2006/relationships/font" Target="fonts/Inter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96596aede8_0_167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96596aede8_0_1077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6596aede8_0_1368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6596aede8_0_149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96596aede8_0_149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96596aede8_0_149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">
  <p:cSld name="Generated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5"/>
          <p:cNvSpPr/>
          <p:nvPr/>
        </p:nvSpPr>
        <p:spPr>
          <a:xfrm>
            <a:off x="4191000" y="3238500"/>
            <a:ext cx="762000" cy="19200"/>
          </a:xfrm>
          <a:prstGeom prst="roundRect">
            <a:avLst>
              <a:gd fmla="val 50000" name="adj"/>
            </a:avLst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5"/>
          <p:cNvSpPr txBox="1"/>
          <p:nvPr/>
        </p:nvSpPr>
        <p:spPr>
          <a:xfrm>
            <a:off x="571500" y="1333500"/>
            <a:ext cx="8001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4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Weather vs City Traffic</a:t>
            </a:r>
            <a:endParaRPr b="0" sz="54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58" name="Google Shape;58;p15"/>
          <p:cNvSpPr txBox="1"/>
          <p:nvPr/>
        </p:nvSpPr>
        <p:spPr>
          <a:xfrm>
            <a:off x="571500" y="24765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600">
                <a:solidFill>
                  <a:srgbClr val="007BFF"/>
                </a:solidFill>
                <a:latin typeface="Inter Light"/>
                <a:ea typeface="Inter Light"/>
                <a:cs typeface="Inter Light"/>
                <a:sym typeface="Inter Light"/>
              </a:rPr>
              <a:t>A DATA-DRIVEN MODEL FOR PREDICTING TRAFFIC DELAYS</a:t>
            </a:r>
            <a:endParaRPr b="0" sz="1600">
              <a:solidFill>
                <a:srgbClr val="007B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sp>
        <p:nvSpPr>
          <p:cNvPr id="59" name="Google Shape;59;p15"/>
          <p:cNvSpPr txBox="1"/>
          <p:nvPr/>
        </p:nvSpPr>
        <p:spPr>
          <a:xfrm>
            <a:off x="571500" y="3524250"/>
            <a:ext cx="800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AAAAA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PRESENTED BY</a:t>
            </a:r>
            <a:endParaRPr b="0" sz="1000">
              <a:solidFill>
                <a:srgbClr val="AAAAA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571500" y="3857625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Linwei Zheng • Cai Rong Li • Christopher Neria • Mohamed K • Ibsan Hossain</a:t>
            </a:r>
            <a:endParaRPr b="0" sz="1300">
              <a:solidFill>
                <a:srgbClr val="FFFF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/>
          <p:nvPr/>
        </p:nvSpPr>
        <p:spPr>
          <a:xfrm>
            <a:off x="603650" y="741750"/>
            <a:ext cx="3810000" cy="192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6"/>
          <p:cNvSpPr txBox="1"/>
          <p:nvPr/>
        </p:nvSpPr>
        <p:spPr>
          <a:xfrm>
            <a:off x="603650" y="861125"/>
            <a:ext cx="4762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6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Table of Contents</a:t>
            </a:r>
            <a:endParaRPr b="0" sz="36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66" name="Google Shape;66;p16"/>
          <p:cNvGrpSpPr/>
          <p:nvPr/>
        </p:nvGrpSpPr>
        <p:grpSpPr>
          <a:xfrm>
            <a:off x="571500" y="2000250"/>
            <a:ext cx="2571750" cy="762000"/>
            <a:chOff x="571500" y="2000250"/>
            <a:chExt cx="2571750" cy="762000"/>
          </a:xfrm>
        </p:grpSpPr>
        <p:sp>
          <p:nvSpPr>
            <p:cNvPr id="67" name="Google Shape;67;p16"/>
            <p:cNvSpPr txBox="1"/>
            <p:nvPr/>
          </p:nvSpPr>
          <p:spPr>
            <a:xfrm>
              <a:off x="571500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68" name="Google Shape;68;p16"/>
            <p:cNvSpPr txBox="1"/>
            <p:nvPr/>
          </p:nvSpPr>
          <p:spPr>
            <a:xfrm>
              <a:off x="1047750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</a:t>
              </a: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Problem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69" name="Google Shape;69;p16"/>
          <p:cNvGrpSpPr/>
          <p:nvPr/>
        </p:nvGrpSpPr>
        <p:grpSpPr>
          <a:xfrm>
            <a:off x="3286125" y="2000250"/>
            <a:ext cx="2571750" cy="762000"/>
            <a:chOff x="3286125" y="2000250"/>
            <a:chExt cx="2571750" cy="762000"/>
          </a:xfrm>
        </p:grpSpPr>
        <p:sp>
          <p:nvSpPr>
            <p:cNvPr id="70" name="Google Shape;70;p16"/>
            <p:cNvSpPr txBox="1"/>
            <p:nvPr/>
          </p:nvSpPr>
          <p:spPr>
            <a:xfrm>
              <a:off x="3286125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1" name="Google Shape;71;p16"/>
            <p:cNvSpPr txBox="1"/>
            <p:nvPr/>
          </p:nvSpPr>
          <p:spPr>
            <a:xfrm>
              <a:off x="3762375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Method &amp; Process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72" name="Google Shape;72;p16"/>
          <p:cNvGrpSpPr/>
          <p:nvPr/>
        </p:nvGrpSpPr>
        <p:grpSpPr>
          <a:xfrm>
            <a:off x="6000750" y="2000250"/>
            <a:ext cx="2571750" cy="762000"/>
            <a:chOff x="6000750" y="2000250"/>
            <a:chExt cx="2571750" cy="762000"/>
          </a:xfrm>
        </p:grpSpPr>
        <p:sp>
          <p:nvSpPr>
            <p:cNvPr id="73" name="Google Shape;73;p16"/>
            <p:cNvSpPr txBox="1"/>
            <p:nvPr/>
          </p:nvSpPr>
          <p:spPr>
            <a:xfrm>
              <a:off x="6000750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4" name="Google Shape;74;p16"/>
            <p:cNvSpPr txBox="1"/>
            <p:nvPr/>
          </p:nvSpPr>
          <p:spPr>
            <a:xfrm>
              <a:off x="6477000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Dataset &amp; APIs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75" name="Google Shape;75;p16"/>
          <p:cNvGrpSpPr/>
          <p:nvPr/>
        </p:nvGrpSpPr>
        <p:grpSpPr>
          <a:xfrm>
            <a:off x="571500" y="2952750"/>
            <a:ext cx="2571750" cy="762000"/>
            <a:chOff x="571500" y="2952750"/>
            <a:chExt cx="2571750" cy="762000"/>
          </a:xfrm>
        </p:grpSpPr>
        <p:sp>
          <p:nvSpPr>
            <p:cNvPr id="76" name="Google Shape;76;p16"/>
            <p:cNvSpPr txBox="1"/>
            <p:nvPr/>
          </p:nvSpPr>
          <p:spPr>
            <a:xfrm>
              <a:off x="571500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4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7" name="Google Shape;77;p16"/>
            <p:cNvSpPr txBox="1"/>
            <p:nvPr/>
          </p:nvSpPr>
          <p:spPr>
            <a:xfrm>
              <a:off x="1047750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78" name="Google Shape;78;p16"/>
          <p:cNvGrpSpPr/>
          <p:nvPr/>
        </p:nvGrpSpPr>
        <p:grpSpPr>
          <a:xfrm>
            <a:off x="3286125" y="2952750"/>
            <a:ext cx="2571750" cy="762000"/>
            <a:chOff x="3286125" y="2952750"/>
            <a:chExt cx="2571750" cy="762000"/>
          </a:xfrm>
        </p:grpSpPr>
        <p:sp>
          <p:nvSpPr>
            <p:cNvPr id="79" name="Google Shape;79;p16"/>
            <p:cNvSpPr txBox="1"/>
            <p:nvPr/>
          </p:nvSpPr>
          <p:spPr>
            <a:xfrm>
              <a:off x="3286125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5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0" name="Google Shape;80;p16"/>
            <p:cNvSpPr txBox="1"/>
            <p:nvPr/>
          </p:nvSpPr>
          <p:spPr>
            <a:xfrm>
              <a:off x="3762375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1" name="Google Shape;81;p16"/>
          <p:cNvGrpSpPr/>
          <p:nvPr/>
        </p:nvGrpSpPr>
        <p:grpSpPr>
          <a:xfrm>
            <a:off x="6000750" y="2952750"/>
            <a:ext cx="2571750" cy="762000"/>
            <a:chOff x="6000750" y="2952750"/>
            <a:chExt cx="2571750" cy="762000"/>
          </a:xfrm>
        </p:grpSpPr>
        <p:sp>
          <p:nvSpPr>
            <p:cNvPr id="82" name="Google Shape;82;p16"/>
            <p:cNvSpPr txBox="1"/>
            <p:nvPr/>
          </p:nvSpPr>
          <p:spPr>
            <a:xfrm>
              <a:off x="6000750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3" name="Google Shape;83;p16"/>
            <p:cNvSpPr txBox="1"/>
            <p:nvPr/>
          </p:nvSpPr>
          <p:spPr>
            <a:xfrm>
              <a:off x="6477000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4" name="Google Shape;84;p16"/>
          <p:cNvGrpSpPr/>
          <p:nvPr/>
        </p:nvGrpSpPr>
        <p:grpSpPr>
          <a:xfrm>
            <a:off x="571500" y="3905250"/>
            <a:ext cx="2571750" cy="762000"/>
            <a:chOff x="571500" y="3905250"/>
            <a:chExt cx="2571750" cy="762000"/>
          </a:xfrm>
        </p:grpSpPr>
        <p:sp>
          <p:nvSpPr>
            <p:cNvPr id="85" name="Google Shape;85;p16"/>
            <p:cNvSpPr txBox="1"/>
            <p:nvPr/>
          </p:nvSpPr>
          <p:spPr>
            <a:xfrm>
              <a:off x="571500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7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6" name="Google Shape;86;p16"/>
            <p:cNvSpPr txBox="1"/>
            <p:nvPr/>
          </p:nvSpPr>
          <p:spPr>
            <a:xfrm>
              <a:off x="1047750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Expected Value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7" name="Google Shape;87;p16"/>
          <p:cNvGrpSpPr/>
          <p:nvPr/>
        </p:nvGrpSpPr>
        <p:grpSpPr>
          <a:xfrm>
            <a:off x="3286125" y="3905250"/>
            <a:ext cx="2571750" cy="762000"/>
            <a:chOff x="3286125" y="3905250"/>
            <a:chExt cx="2571750" cy="762000"/>
          </a:xfrm>
        </p:grpSpPr>
        <p:sp>
          <p:nvSpPr>
            <p:cNvPr id="88" name="Google Shape;88;p16"/>
            <p:cNvSpPr txBox="1"/>
            <p:nvPr/>
          </p:nvSpPr>
          <p:spPr>
            <a:xfrm>
              <a:off x="3286125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8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9" name="Google Shape;89;p16"/>
            <p:cNvSpPr txBox="1"/>
            <p:nvPr/>
          </p:nvSpPr>
          <p:spPr>
            <a:xfrm>
              <a:off x="3762375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Q&amp;A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/>
          <p:nvPr/>
        </p:nvSpPr>
        <p:spPr>
          <a:xfrm>
            <a:off x="571500" y="571500"/>
            <a:ext cx="3429000" cy="285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7"/>
          <p:cNvSpPr txBox="1"/>
          <p:nvPr/>
        </p:nvSpPr>
        <p:spPr>
          <a:xfrm>
            <a:off x="571500" y="714375"/>
            <a:ext cx="8001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Introduction/Problem</a:t>
            </a:r>
            <a:endParaRPr b="0" sz="32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95" name="Google Shape;95;p17"/>
          <p:cNvGrpSpPr/>
          <p:nvPr/>
        </p:nvGrpSpPr>
        <p:grpSpPr>
          <a:xfrm>
            <a:off x="571500" y="1524000"/>
            <a:ext cx="3905400" cy="1428900"/>
            <a:chOff x="571500" y="1524000"/>
            <a:chExt cx="3905400" cy="1428900"/>
          </a:xfrm>
        </p:grpSpPr>
        <p:sp>
          <p:nvSpPr>
            <p:cNvPr id="96" name="Google Shape;96;p17"/>
            <p:cNvSpPr/>
            <p:nvPr/>
          </p:nvSpPr>
          <p:spPr>
            <a:xfrm>
              <a:off x="571500" y="1524000"/>
              <a:ext cx="3905400" cy="1428900"/>
            </a:xfrm>
            <a:prstGeom prst="roundRect">
              <a:avLst>
                <a:gd fmla="val 533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7"/>
            <p:cNvSpPr txBox="1"/>
            <p:nvPr/>
          </p:nvSpPr>
          <p:spPr>
            <a:xfrm>
              <a:off x="762000" y="1728675"/>
              <a:ext cx="3524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The Challenge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8" name="Google Shape;98;p17"/>
            <p:cNvSpPr txBox="1"/>
            <p:nvPr/>
          </p:nvSpPr>
          <p:spPr>
            <a:xfrm>
              <a:off x="762000" y="2054750"/>
              <a:ext cx="3524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7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•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NYC traffic congestion is very </a:t>
              </a:r>
              <a:r>
                <a:rPr lang="en" sz="1000">
                  <a:solidFill>
                    <a:schemeClr val="lt1"/>
                  </a:solidFill>
                  <a:highlight>
                    <a:srgbClr val="007BFF"/>
                  </a:highlight>
                  <a:latin typeface="Inter"/>
                  <a:ea typeface="Inter"/>
                  <a:cs typeface="Inter"/>
                  <a:sym typeface="Inter"/>
                </a:rPr>
                <a:t>unpredictable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, and it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affects commuters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on a </a:t>
              </a:r>
              <a:r>
                <a:rPr lang="en" sz="1000">
                  <a:solidFill>
                    <a:schemeClr val="lt1"/>
                  </a:solidFill>
                  <a:highlight>
                    <a:srgbClr val="007BFF"/>
                  </a:highlight>
                  <a:latin typeface="Inter"/>
                  <a:ea typeface="Inter"/>
                  <a:cs typeface="Inter"/>
                  <a:sym typeface="Inter"/>
                </a:rPr>
                <a:t>day-to-day basis</a:t>
              </a:r>
              <a:endParaRPr sz="817">
                <a:solidFill>
                  <a:schemeClr val="lt1"/>
                </a:solidFill>
                <a:highlight>
                  <a:srgbClr val="007BFF"/>
                </a:highlight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•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Weather conditions like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rain and temperatures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have a </a:t>
              </a:r>
              <a:r>
                <a:rPr lang="en" sz="1000">
                  <a:solidFill>
                    <a:schemeClr val="lt1"/>
                  </a:solidFill>
                  <a:highlight>
                    <a:srgbClr val="007BFF"/>
                  </a:highlight>
                  <a:latin typeface="Inter"/>
                  <a:ea typeface="Inter"/>
                  <a:cs typeface="Inter"/>
                  <a:sym typeface="Inter"/>
                </a:rPr>
                <a:t>major impact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on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traffic congestion</a:t>
              </a:r>
              <a:endParaRPr sz="1000">
                <a:solidFill>
                  <a:schemeClr val="lt1"/>
                </a:solidFill>
                <a:highlight>
                  <a:schemeClr val="accent1"/>
                </a:highlight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9" name="Google Shape;99;p17"/>
          <p:cNvGrpSpPr/>
          <p:nvPr/>
        </p:nvGrpSpPr>
        <p:grpSpPr>
          <a:xfrm>
            <a:off x="4667250" y="1524000"/>
            <a:ext cx="3905400" cy="1428900"/>
            <a:chOff x="4667250" y="1524000"/>
            <a:chExt cx="3905400" cy="1428900"/>
          </a:xfrm>
        </p:grpSpPr>
        <p:sp>
          <p:nvSpPr>
            <p:cNvPr id="100" name="Google Shape;100;p17"/>
            <p:cNvSpPr/>
            <p:nvPr/>
          </p:nvSpPr>
          <p:spPr>
            <a:xfrm>
              <a:off x="4667250" y="1524000"/>
              <a:ext cx="3905400" cy="1428900"/>
            </a:xfrm>
            <a:prstGeom prst="roundRect">
              <a:avLst>
                <a:gd fmla="val 533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7"/>
            <p:cNvSpPr txBox="1"/>
            <p:nvPr/>
          </p:nvSpPr>
          <p:spPr>
            <a:xfrm>
              <a:off x="4857750" y="1666875"/>
              <a:ext cx="3524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Strategic Goal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2" name="Google Shape;102;p17"/>
            <p:cNvSpPr txBox="1"/>
            <p:nvPr/>
          </p:nvSpPr>
          <p:spPr>
            <a:xfrm>
              <a:off x="4857750" y="2000250"/>
              <a:ext cx="3524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Our goal is to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create a data model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that uses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weather data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to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analyze and predict traffic delays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in New York City, to help provide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insights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for commuters and  Transportation agencies.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3" name="Google Shape;103;p17"/>
          <p:cNvGrpSpPr/>
          <p:nvPr/>
        </p:nvGrpSpPr>
        <p:grpSpPr>
          <a:xfrm>
            <a:off x="571500" y="3143250"/>
            <a:ext cx="8001000" cy="1238400"/>
            <a:chOff x="571500" y="3143250"/>
            <a:chExt cx="8001000" cy="1238400"/>
          </a:xfrm>
        </p:grpSpPr>
        <p:sp>
          <p:nvSpPr>
            <p:cNvPr id="104" name="Google Shape;104;p17"/>
            <p:cNvSpPr/>
            <p:nvPr/>
          </p:nvSpPr>
          <p:spPr>
            <a:xfrm>
              <a:off x="571500" y="3143250"/>
              <a:ext cx="8001000" cy="1238400"/>
            </a:xfrm>
            <a:prstGeom prst="roundRect">
              <a:avLst>
                <a:gd fmla="val 615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7"/>
            <p:cNvSpPr txBox="1"/>
            <p:nvPr/>
          </p:nvSpPr>
          <p:spPr>
            <a:xfrm>
              <a:off x="762000" y="3286125"/>
              <a:ext cx="7620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Core Research Questions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6" name="Google Shape;106;p17"/>
            <p:cNvSpPr txBox="1"/>
            <p:nvPr/>
          </p:nvSpPr>
          <p:spPr>
            <a:xfrm>
              <a:off x="762000" y="3619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much does traffic delay increase on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rainy days vs non-rainy days?</a:t>
              </a:r>
              <a:endParaRPr i="1" sz="1000">
                <a:solidFill>
                  <a:schemeClr val="lt1"/>
                </a:solidFill>
                <a:highlight>
                  <a:schemeClr val="accent1"/>
                </a:highlight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07" name="Google Shape;107;p17"/>
            <p:cNvCxnSpPr/>
            <p:nvPr/>
          </p:nvCxnSpPr>
          <p:spPr>
            <a:xfrm>
              <a:off x="3238500" y="3667125"/>
              <a:ext cx="0" cy="5715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08" name="Google Shape;108;p17"/>
            <p:cNvSpPr txBox="1"/>
            <p:nvPr/>
          </p:nvSpPr>
          <p:spPr>
            <a:xfrm>
              <a:off x="3333750" y="3619500"/>
              <a:ext cx="2476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much does delay time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increase as rainfall increases?</a:t>
              </a:r>
              <a:endParaRPr i="1" sz="250">
                <a:solidFill>
                  <a:schemeClr val="lt1"/>
                </a:solidFill>
                <a:highlight>
                  <a:schemeClr val="accent1"/>
                </a:highlight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09" name="Google Shape;109;p17"/>
            <p:cNvCxnSpPr/>
            <p:nvPr/>
          </p:nvCxnSpPr>
          <p:spPr>
            <a:xfrm>
              <a:off x="5905500" y="3667125"/>
              <a:ext cx="0" cy="5715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0" name="Google Shape;110;p17"/>
            <p:cNvSpPr txBox="1"/>
            <p:nvPr/>
          </p:nvSpPr>
          <p:spPr>
            <a:xfrm>
              <a:off x="6000750" y="3619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does </a:t>
              </a:r>
              <a:r>
                <a:rPr lang="en" sz="1000">
                  <a:solidFill>
                    <a:schemeClr val="lt1"/>
                  </a:solidFill>
                  <a:highlight>
                    <a:schemeClr val="accent1"/>
                  </a:highlight>
                  <a:latin typeface="Inter"/>
                  <a:ea typeface="Inter"/>
                  <a:cs typeface="Inter"/>
                  <a:sym typeface="Inter"/>
                </a:rPr>
                <a:t>temperature affect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traffic delays in NYC?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i="1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11" name="Google Shape;111;p17"/>
          <p:cNvSpPr txBox="1"/>
          <p:nvPr/>
        </p:nvSpPr>
        <p:spPr>
          <a:xfrm>
            <a:off x="571500" y="4619625"/>
            <a:ext cx="800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1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Stakeholders: </a:t>
            </a:r>
            <a:r>
              <a:rPr b="0"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Commuters • Transportation Agencies</a:t>
            </a:r>
            <a:r>
              <a:rPr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• City Planners</a:t>
            </a:r>
            <a:endParaRPr b="1" sz="1017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/>
          <p:nvPr/>
        </p:nvSpPr>
        <p:spPr>
          <a:xfrm>
            <a:off x="457200" y="182880"/>
            <a:ext cx="1097400" cy="366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8"/>
          <p:cNvSpPr/>
          <p:nvPr/>
        </p:nvSpPr>
        <p:spPr>
          <a:xfrm>
            <a:off x="425000" y="288182"/>
            <a:ext cx="8229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 Black"/>
              <a:buNone/>
            </a:pPr>
            <a:r>
              <a:rPr b="1" i="0" lang="en" sz="3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Method &amp; Process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47074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8"/>
          <p:cNvSpPr/>
          <p:nvPr/>
        </p:nvSpPr>
        <p:spPr>
          <a:xfrm>
            <a:off x="47074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8"/>
          <p:cNvSpPr/>
          <p:nvPr/>
        </p:nvSpPr>
        <p:spPr>
          <a:xfrm>
            <a:off x="94623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8"/>
          <p:cNvSpPr/>
          <p:nvPr/>
        </p:nvSpPr>
        <p:spPr>
          <a:xfrm>
            <a:off x="94623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56218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Data Collection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24" name="Google Shape;124;p18"/>
          <p:cNvCxnSpPr/>
          <p:nvPr/>
        </p:nvCxnSpPr>
        <p:spPr>
          <a:xfrm>
            <a:off x="65362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18"/>
          <p:cNvSpPr/>
          <p:nvPr/>
        </p:nvSpPr>
        <p:spPr>
          <a:xfrm>
            <a:off x="56218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OpenWeather API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+ NYC OpenData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26" name="Google Shape;126;p18"/>
          <p:cNvCxnSpPr/>
          <p:nvPr/>
        </p:nvCxnSpPr>
        <p:spPr>
          <a:xfrm>
            <a:off x="197950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18"/>
          <p:cNvSpPr/>
          <p:nvPr/>
        </p:nvSpPr>
        <p:spPr>
          <a:xfrm>
            <a:off x="201150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213952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8"/>
          <p:cNvSpPr/>
          <p:nvPr/>
        </p:nvSpPr>
        <p:spPr>
          <a:xfrm>
            <a:off x="213952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/>
          <p:nvPr/>
        </p:nvSpPr>
        <p:spPr>
          <a:xfrm>
            <a:off x="261501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8"/>
          <p:cNvSpPr/>
          <p:nvPr/>
        </p:nvSpPr>
        <p:spPr>
          <a:xfrm>
            <a:off x="261501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223096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33" name="Google Shape;133;p18"/>
          <p:cNvCxnSpPr/>
          <p:nvPr/>
        </p:nvCxnSpPr>
        <p:spPr>
          <a:xfrm>
            <a:off x="232240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4" name="Google Shape;134;p18"/>
          <p:cNvSpPr/>
          <p:nvPr/>
        </p:nvSpPr>
        <p:spPr>
          <a:xfrm>
            <a:off x="223096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Clean &amp; merge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datasets in Pandas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35" name="Google Shape;135;p18"/>
          <p:cNvCxnSpPr/>
          <p:nvPr/>
        </p:nvCxnSpPr>
        <p:spPr>
          <a:xfrm>
            <a:off x="364828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6" name="Google Shape;136;p18"/>
          <p:cNvSpPr/>
          <p:nvPr/>
        </p:nvSpPr>
        <p:spPr>
          <a:xfrm>
            <a:off x="368028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8"/>
          <p:cNvSpPr/>
          <p:nvPr/>
        </p:nvSpPr>
        <p:spPr>
          <a:xfrm>
            <a:off x="380830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380830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428379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428379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8"/>
          <p:cNvSpPr/>
          <p:nvPr/>
        </p:nvSpPr>
        <p:spPr>
          <a:xfrm>
            <a:off x="389974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Store in MySQL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2" name="Google Shape;142;p18"/>
          <p:cNvCxnSpPr/>
          <p:nvPr/>
        </p:nvCxnSpPr>
        <p:spPr>
          <a:xfrm>
            <a:off x="399118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18"/>
          <p:cNvSpPr/>
          <p:nvPr/>
        </p:nvSpPr>
        <p:spPr>
          <a:xfrm>
            <a:off x="389974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Append records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 overwrites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4" name="Google Shape;144;p18"/>
          <p:cNvCxnSpPr/>
          <p:nvPr/>
        </p:nvCxnSpPr>
        <p:spPr>
          <a:xfrm>
            <a:off x="531706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18"/>
          <p:cNvSpPr/>
          <p:nvPr/>
        </p:nvSpPr>
        <p:spPr>
          <a:xfrm>
            <a:off x="534906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547708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8"/>
          <p:cNvSpPr/>
          <p:nvPr/>
        </p:nvSpPr>
        <p:spPr>
          <a:xfrm>
            <a:off x="547708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595257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595257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556852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Regression Model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51" name="Google Shape;151;p18"/>
          <p:cNvCxnSpPr/>
          <p:nvPr/>
        </p:nvCxnSpPr>
        <p:spPr>
          <a:xfrm>
            <a:off x="565996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8"/>
          <p:cNvSpPr/>
          <p:nvPr/>
        </p:nvSpPr>
        <p:spPr>
          <a:xfrm>
            <a:off x="556852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Rain → Delay time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     Impact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53" name="Google Shape;153;p18"/>
          <p:cNvCxnSpPr/>
          <p:nvPr/>
        </p:nvCxnSpPr>
        <p:spPr>
          <a:xfrm>
            <a:off x="698584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8"/>
          <p:cNvSpPr/>
          <p:nvPr/>
        </p:nvSpPr>
        <p:spPr>
          <a:xfrm>
            <a:off x="701784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714586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714586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762135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762135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723730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Tableau Dashboard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60" name="Google Shape;160;p18"/>
          <p:cNvCxnSpPr/>
          <p:nvPr/>
        </p:nvCxnSpPr>
        <p:spPr>
          <a:xfrm>
            <a:off x="732874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1" name="Google Shape;161;p18"/>
          <p:cNvSpPr/>
          <p:nvPr/>
        </p:nvSpPr>
        <p:spPr>
          <a:xfrm>
            <a:off x="723730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A/B results +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Predictions for city planners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Commuter impact analysis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