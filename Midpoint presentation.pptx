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ExtraBold"/>
      <p:bold r:id="rId35"/>
      <p:boldItalic r:id="rId36"/>
    </p:embeddedFont>
    <p:embeddedFont>
      <p:font typeface="Arial Black"/>
      <p:regular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9952A5-E88C-49C1-BB81-FF75D27D00BF}">
  <a:tblStyle styleId="{CD9952A5-E88C-49C1-BB81-FF75D27D00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font" Target="fonts/Economica-bold.fntdata"/><Relationship Id="rId41" Type="http://schemas.openxmlformats.org/officeDocument/2006/relationships/font" Target="fonts/OpenSans-boldItalic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ExtraBold-bold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36" Type="http://schemas.openxmlformats.org/officeDocument/2006/relationships/font" Target="fonts/InterExtra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font" Target="fonts/Economic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596aede8_0_16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6596aede8_0_10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6596aede8_0_13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596aede8_0_14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96596aede8_0_149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6596aede8_0_149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65af67c1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65af67c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5af67c1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65af67c1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245ddf68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245ddf6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245ddf68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245ddf68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65af67c1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65af67c1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65af67c1c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65af67c1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5af67c1c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65af67c1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23f4e95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23f4e95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4191000" y="3238500"/>
            <a:ext cx="762000" cy="19200"/>
          </a:xfrm>
          <a:prstGeom prst="roundRect">
            <a:avLst>
              <a:gd fmla="val 50000" name="adj"/>
            </a:avLst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258900" y="1333500"/>
            <a:ext cx="862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Weather vs City Traffic</a:t>
            </a:r>
            <a:endParaRPr b="1" sz="50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71500" y="2476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07BFF"/>
                </a:solidFill>
                <a:latin typeface="Inter Light"/>
                <a:ea typeface="Inter Light"/>
                <a:cs typeface="Inter Light"/>
                <a:sym typeface="Inter Light"/>
              </a:rPr>
              <a:t>A DATA-DRIVEN MODEL FOR PREDICTING TRAFFIC DELAYS</a:t>
            </a:r>
            <a:endParaRPr b="0" sz="1600">
              <a:solidFill>
                <a:srgbClr val="007B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71500" y="35242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AAAA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</a:t>
            </a:r>
            <a:endParaRPr b="0" sz="1000">
              <a:solidFill>
                <a:srgbClr val="AAAAA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71500" y="385762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Linwei Zheng • Cai Rong Li • Christopher Neria • Mohamed K • Ibsan Hossain</a:t>
            </a:r>
            <a:endParaRPr b="0" sz="13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603650" y="741750"/>
            <a:ext cx="3810000" cy="19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603650" y="861125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Table of Contents</a:t>
            </a:r>
            <a:endParaRPr sz="3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4" name="Google Shape;74;p16"/>
          <p:cNvGrpSpPr/>
          <p:nvPr/>
        </p:nvGrpSpPr>
        <p:grpSpPr>
          <a:xfrm>
            <a:off x="571500" y="2000250"/>
            <a:ext cx="2571750" cy="762000"/>
            <a:chOff x="571500" y="2000250"/>
            <a:chExt cx="2571750" cy="762000"/>
          </a:xfrm>
        </p:grpSpPr>
        <p:sp>
          <p:nvSpPr>
            <p:cNvPr id="75" name="Google Shape;75;p16"/>
            <p:cNvSpPr txBox="1"/>
            <p:nvPr/>
          </p:nvSpPr>
          <p:spPr>
            <a:xfrm>
              <a:off x="571500" y="2000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1047750" y="2000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</a:t>
              </a:r>
              <a:r>
                <a:rPr b="0"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Problem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77" name="Google Shape;77;p16"/>
          <p:cNvGrpSpPr/>
          <p:nvPr/>
        </p:nvGrpSpPr>
        <p:grpSpPr>
          <a:xfrm>
            <a:off x="3286125" y="2000250"/>
            <a:ext cx="2571750" cy="762000"/>
            <a:chOff x="3286125" y="2000250"/>
            <a:chExt cx="2571750" cy="762000"/>
          </a:xfrm>
        </p:grpSpPr>
        <p:sp>
          <p:nvSpPr>
            <p:cNvPr id="78" name="Google Shape;78;p16"/>
            <p:cNvSpPr txBox="1"/>
            <p:nvPr/>
          </p:nvSpPr>
          <p:spPr>
            <a:xfrm>
              <a:off x="3286125" y="2000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</a:t>
              </a:r>
              <a:endParaRPr b="0" sz="2040">
                <a:solidFill>
                  <a:srgbClr val="1D78F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9" name="Google Shape;79;p16"/>
            <p:cNvSpPr txBox="1"/>
            <p:nvPr/>
          </p:nvSpPr>
          <p:spPr>
            <a:xfrm>
              <a:off x="3762375" y="2000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 &amp; Process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80" name="Google Shape;80;p16"/>
          <p:cNvGrpSpPr/>
          <p:nvPr/>
        </p:nvGrpSpPr>
        <p:grpSpPr>
          <a:xfrm>
            <a:off x="6000750" y="1881200"/>
            <a:ext cx="2571500" cy="762000"/>
            <a:chOff x="6000750" y="1881200"/>
            <a:chExt cx="2571500" cy="762000"/>
          </a:xfrm>
        </p:grpSpPr>
        <p:sp>
          <p:nvSpPr>
            <p:cNvPr id="81" name="Google Shape;81;p16"/>
            <p:cNvSpPr txBox="1"/>
            <p:nvPr/>
          </p:nvSpPr>
          <p:spPr>
            <a:xfrm>
              <a:off x="6000750" y="2000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6469550" y="1881200"/>
              <a:ext cx="2102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 Collection</a:t>
              </a:r>
              <a:endParaRPr b="1" sz="100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" name="Google Shape;83;p16"/>
          <p:cNvGrpSpPr/>
          <p:nvPr/>
        </p:nvGrpSpPr>
        <p:grpSpPr>
          <a:xfrm>
            <a:off x="571500" y="2952750"/>
            <a:ext cx="2571750" cy="762000"/>
            <a:chOff x="571500" y="2952750"/>
            <a:chExt cx="2571750" cy="762000"/>
          </a:xfrm>
        </p:grpSpPr>
        <p:sp>
          <p:nvSpPr>
            <p:cNvPr id="84" name="Google Shape;84;p16"/>
            <p:cNvSpPr txBox="1"/>
            <p:nvPr/>
          </p:nvSpPr>
          <p:spPr>
            <a:xfrm>
              <a:off x="571500" y="2952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1047750" y="2952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Database Schema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86" name="Google Shape;86;p16"/>
          <p:cNvGrpSpPr/>
          <p:nvPr/>
        </p:nvGrpSpPr>
        <p:grpSpPr>
          <a:xfrm>
            <a:off x="3286125" y="2952750"/>
            <a:ext cx="2571750" cy="762000"/>
            <a:chOff x="3286125" y="2952750"/>
            <a:chExt cx="2571750" cy="762000"/>
          </a:xfrm>
        </p:grpSpPr>
        <p:sp>
          <p:nvSpPr>
            <p:cNvPr id="87" name="Google Shape;87;p16"/>
            <p:cNvSpPr txBox="1"/>
            <p:nvPr/>
          </p:nvSpPr>
          <p:spPr>
            <a:xfrm>
              <a:off x="3286125" y="2952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3762375" y="2952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API </a:t>
              </a: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Integration</a:t>
              </a: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&amp;</a:t>
              </a:r>
              <a:endParaRPr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Tableau Chart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6000750" y="2952750"/>
            <a:ext cx="2571750" cy="762000"/>
            <a:chOff x="6000750" y="2952750"/>
            <a:chExt cx="2571750" cy="762000"/>
          </a:xfrm>
        </p:grpSpPr>
        <p:sp>
          <p:nvSpPr>
            <p:cNvPr id="90" name="Google Shape;90;p16"/>
            <p:cNvSpPr txBox="1"/>
            <p:nvPr/>
          </p:nvSpPr>
          <p:spPr>
            <a:xfrm>
              <a:off x="6000750" y="2952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6477000" y="2952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Business</a:t>
              </a: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Intelligence Dashboard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571500" y="3905250"/>
            <a:ext cx="2571750" cy="762000"/>
            <a:chOff x="571500" y="3905250"/>
            <a:chExt cx="2571750" cy="762000"/>
          </a:xfrm>
        </p:grpSpPr>
        <p:sp>
          <p:nvSpPr>
            <p:cNvPr id="93" name="Google Shape;93;p16"/>
            <p:cNvSpPr txBox="1"/>
            <p:nvPr/>
          </p:nvSpPr>
          <p:spPr>
            <a:xfrm>
              <a:off x="571500" y="390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1047750" y="390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 Stack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3286125" y="3905250"/>
            <a:ext cx="2571750" cy="762000"/>
            <a:chOff x="3286125" y="3905250"/>
            <a:chExt cx="2571750" cy="762000"/>
          </a:xfrm>
        </p:grpSpPr>
        <p:sp>
          <p:nvSpPr>
            <p:cNvPr id="96" name="Google Shape;96;p16"/>
            <p:cNvSpPr txBox="1"/>
            <p:nvPr/>
          </p:nvSpPr>
          <p:spPr>
            <a:xfrm>
              <a:off x="3286125" y="390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3762375" y="390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Team Roles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6122800" y="3905250"/>
            <a:ext cx="2571750" cy="762000"/>
            <a:chOff x="3286125" y="3905250"/>
            <a:chExt cx="2571750" cy="762000"/>
          </a:xfrm>
        </p:grpSpPr>
        <p:sp>
          <p:nvSpPr>
            <p:cNvPr id="99" name="Google Shape;99;p16"/>
            <p:cNvSpPr txBox="1"/>
            <p:nvPr/>
          </p:nvSpPr>
          <p:spPr>
            <a:xfrm>
              <a:off x="3286125" y="39052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40">
                  <a:solidFill>
                    <a:srgbClr val="007B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</a:t>
              </a:r>
              <a:endParaRPr b="0" sz="2040">
                <a:solidFill>
                  <a:srgbClr val="007B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3762375" y="390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Q&amp;A</a:t>
              </a:r>
              <a:endParaRPr b="0"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571500" y="277650"/>
            <a:ext cx="4294500" cy="219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571500" y="3783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Introduction/Problem</a:t>
            </a:r>
            <a:endParaRPr b="0" sz="3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571500" y="1028550"/>
            <a:ext cx="3905400" cy="1428900"/>
            <a:chOff x="571500" y="1524000"/>
            <a:chExt cx="3905400" cy="1428900"/>
          </a:xfrm>
        </p:grpSpPr>
        <p:sp>
          <p:nvSpPr>
            <p:cNvPr id="107" name="Google Shape;107;p17"/>
            <p:cNvSpPr/>
            <p:nvPr/>
          </p:nvSpPr>
          <p:spPr>
            <a:xfrm>
              <a:off x="571500" y="15240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762000" y="172867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The Challenge</a:t>
              </a:r>
              <a:endParaRPr b="1" sz="1400">
                <a:solidFill>
                  <a:srgbClr val="007B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762000" y="2054750"/>
              <a:ext cx="3524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7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NYC traffic congestion is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very unpredictable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, and it affects commuters on a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day-to-day basis</a:t>
              </a:r>
              <a:endParaRPr sz="817">
                <a:solidFill>
                  <a:srgbClr val="007B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Weather conditions like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 rain and temperatures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have a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major impact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on traffic congestion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4667100" y="1028550"/>
            <a:ext cx="3905400" cy="1428900"/>
            <a:chOff x="4667250" y="1524000"/>
            <a:chExt cx="3905400" cy="1428900"/>
          </a:xfrm>
        </p:grpSpPr>
        <p:sp>
          <p:nvSpPr>
            <p:cNvPr id="111" name="Google Shape;111;p17"/>
            <p:cNvSpPr/>
            <p:nvPr/>
          </p:nvSpPr>
          <p:spPr>
            <a:xfrm>
              <a:off x="4667250" y="15240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4857750" y="166687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Strategic Goal</a:t>
              </a:r>
              <a:endParaRPr b="1" sz="1400">
                <a:solidFill>
                  <a:srgbClr val="007B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4857750" y="2000250"/>
              <a:ext cx="3524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Our goal is to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create a data model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that uses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weather data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to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analyze and predict traffic delays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in New York City, to help provide </a:t>
              </a:r>
              <a:r>
                <a:rPr lang="en" sz="10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insights 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for commuters and  Transportation agencies.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571500" y="2807175"/>
            <a:ext cx="8001000" cy="1238400"/>
            <a:chOff x="571500" y="3143250"/>
            <a:chExt cx="8001000" cy="1238400"/>
          </a:xfrm>
        </p:grpSpPr>
        <p:sp>
          <p:nvSpPr>
            <p:cNvPr id="115" name="Google Shape;115;p17"/>
            <p:cNvSpPr/>
            <p:nvPr/>
          </p:nvSpPr>
          <p:spPr>
            <a:xfrm>
              <a:off x="571500" y="314325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762000" y="3286125"/>
              <a:ext cx="762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7BFF"/>
                  </a:solidFill>
                  <a:latin typeface="Inter"/>
                  <a:ea typeface="Inter"/>
                  <a:cs typeface="Inter"/>
                  <a:sym typeface="Inter"/>
                </a:rPr>
                <a:t>Core Research Questions</a:t>
              </a:r>
              <a:endParaRPr b="1" sz="1400">
                <a:solidFill>
                  <a:srgbClr val="007B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762000" y="3619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What is the difference in 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traffic delay on rainy days vs non-rainy days?</a:t>
              </a:r>
              <a:endParaRPr i="1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8" name="Google Shape;118;p17"/>
            <p:cNvCxnSpPr/>
            <p:nvPr/>
          </p:nvCxnSpPr>
          <p:spPr>
            <a:xfrm>
              <a:off x="3238500" y="3667125"/>
              <a:ext cx="0" cy="57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7"/>
            <p:cNvSpPr txBox="1"/>
            <p:nvPr/>
          </p:nvSpPr>
          <p:spPr>
            <a:xfrm>
              <a:off x="3333750" y="3619500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much does delay time increase as rainfall increases?</a:t>
              </a:r>
              <a:endParaRPr i="1" sz="2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20" name="Google Shape;120;p17"/>
            <p:cNvCxnSpPr/>
            <p:nvPr/>
          </p:nvCxnSpPr>
          <p:spPr>
            <a:xfrm>
              <a:off x="5905500" y="3667125"/>
              <a:ext cx="0" cy="57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17"/>
            <p:cNvSpPr txBox="1"/>
            <p:nvPr/>
          </p:nvSpPr>
          <p:spPr>
            <a:xfrm>
              <a:off x="6000750" y="3619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How does temperature affect traffic delays in NYC?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22" name="Google Shape;122;p17"/>
          <p:cNvSpPr txBox="1"/>
          <p:nvPr/>
        </p:nvSpPr>
        <p:spPr>
          <a:xfrm>
            <a:off x="571500" y="43274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Stakeholders: </a:t>
            </a:r>
            <a:r>
              <a:rPr b="0" lang="en" sz="101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Commuters • Transportation Agencies</a:t>
            </a:r>
            <a:r>
              <a:rPr lang="en" sz="101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01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• City Planners</a:t>
            </a:r>
            <a:endParaRPr b="1" sz="1017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25000" y="28818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i="0" lang="en" sz="3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 &amp; Process</a:t>
            </a:r>
            <a:endParaRPr i="0" sz="34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70745" y="1383565"/>
            <a:ext cx="1463100" cy="2560200"/>
          </a:xfrm>
          <a:prstGeom prst="roundRect">
            <a:avLst>
              <a:gd fmla="val 5000" name="adj"/>
            </a:avLst>
          </a:prstGeom>
          <a:solidFill>
            <a:srgbClr val="14141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470745" y="1383565"/>
            <a:ext cx="1463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946233" y="1548157"/>
            <a:ext cx="512100" cy="512100"/>
          </a:xfrm>
          <a:prstGeom prst="ellipse">
            <a:avLst/>
          </a:prstGeom>
          <a:solidFill>
            <a:srgbClr val="1D4ED8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946233" y="1548157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62185" y="2188237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Collection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653625" y="2682013"/>
            <a:ext cx="1097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8"/>
          <p:cNvSpPr/>
          <p:nvPr/>
        </p:nvSpPr>
        <p:spPr>
          <a:xfrm>
            <a:off x="562185" y="2773453"/>
            <a:ext cx="128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Visual Crossing API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1979505" y="2663725"/>
            <a:ext cx="1509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8"/>
          <p:cNvSpPr/>
          <p:nvPr/>
        </p:nvSpPr>
        <p:spPr>
          <a:xfrm>
            <a:off x="2011509" y="2526565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139525" y="1383565"/>
            <a:ext cx="1463100" cy="2560200"/>
          </a:xfrm>
          <a:prstGeom prst="roundRect">
            <a:avLst>
              <a:gd fmla="val 5000" name="adj"/>
            </a:avLst>
          </a:prstGeom>
          <a:solidFill>
            <a:srgbClr val="14141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2139525" y="1383565"/>
            <a:ext cx="1463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2615013" y="1548157"/>
            <a:ext cx="512100" cy="512100"/>
          </a:xfrm>
          <a:prstGeom prst="ellipse">
            <a:avLst/>
          </a:prstGeom>
          <a:solidFill>
            <a:srgbClr val="1D4ED8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2615013" y="1548157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230965" y="2188237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2322405" y="2682013"/>
            <a:ext cx="1097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8"/>
          <p:cNvSpPr/>
          <p:nvPr/>
        </p:nvSpPr>
        <p:spPr>
          <a:xfrm>
            <a:off x="2230965" y="2773453"/>
            <a:ext cx="128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Clean &amp; merge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datasets in Pandas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" name="Google Shape;145;p18"/>
          <p:cNvCxnSpPr/>
          <p:nvPr/>
        </p:nvCxnSpPr>
        <p:spPr>
          <a:xfrm>
            <a:off x="3648285" y="2663725"/>
            <a:ext cx="1509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3602629" y="2526575"/>
            <a:ext cx="26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808305" y="1383565"/>
            <a:ext cx="1463100" cy="2560200"/>
          </a:xfrm>
          <a:prstGeom prst="roundRect">
            <a:avLst>
              <a:gd fmla="val 5000" name="adj"/>
            </a:avLst>
          </a:prstGeom>
          <a:solidFill>
            <a:srgbClr val="14141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808305" y="1383565"/>
            <a:ext cx="1463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283793" y="1548157"/>
            <a:ext cx="512100" cy="512100"/>
          </a:xfrm>
          <a:prstGeom prst="ellipse">
            <a:avLst/>
          </a:prstGeom>
          <a:solidFill>
            <a:srgbClr val="1D4ED8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283793" y="1548157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899745" y="2188237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Store in MySQL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2" name="Google Shape;152;p18"/>
          <p:cNvCxnSpPr/>
          <p:nvPr/>
        </p:nvCxnSpPr>
        <p:spPr>
          <a:xfrm>
            <a:off x="3991185" y="2682013"/>
            <a:ext cx="1097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8"/>
          <p:cNvSpPr/>
          <p:nvPr/>
        </p:nvSpPr>
        <p:spPr>
          <a:xfrm>
            <a:off x="3899745" y="2773453"/>
            <a:ext cx="128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Append records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overwrites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4" name="Google Shape;154;p18"/>
          <p:cNvCxnSpPr/>
          <p:nvPr/>
        </p:nvCxnSpPr>
        <p:spPr>
          <a:xfrm>
            <a:off x="5317065" y="2663725"/>
            <a:ext cx="1509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8"/>
          <p:cNvSpPr/>
          <p:nvPr/>
        </p:nvSpPr>
        <p:spPr>
          <a:xfrm>
            <a:off x="5349069" y="2526565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477085" y="1383565"/>
            <a:ext cx="1463100" cy="2560200"/>
          </a:xfrm>
          <a:prstGeom prst="roundRect">
            <a:avLst>
              <a:gd fmla="val 5000" name="adj"/>
            </a:avLst>
          </a:prstGeom>
          <a:solidFill>
            <a:srgbClr val="14141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477085" y="1383565"/>
            <a:ext cx="1463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952573" y="1548157"/>
            <a:ext cx="512100" cy="512100"/>
          </a:xfrm>
          <a:prstGeom prst="ellipse">
            <a:avLst/>
          </a:prstGeom>
          <a:solidFill>
            <a:srgbClr val="1D4ED8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952573" y="1548157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568525" y="2188237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Regression Model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1" name="Google Shape;161;p18"/>
          <p:cNvCxnSpPr/>
          <p:nvPr/>
        </p:nvCxnSpPr>
        <p:spPr>
          <a:xfrm>
            <a:off x="5659965" y="2682013"/>
            <a:ext cx="1097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8"/>
          <p:cNvSpPr/>
          <p:nvPr/>
        </p:nvSpPr>
        <p:spPr>
          <a:xfrm>
            <a:off x="5568525" y="2773453"/>
            <a:ext cx="128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Rain → Delay time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      Impact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3" name="Google Shape;163;p18"/>
          <p:cNvCxnSpPr/>
          <p:nvPr/>
        </p:nvCxnSpPr>
        <p:spPr>
          <a:xfrm>
            <a:off x="6985845" y="2663725"/>
            <a:ext cx="1509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8"/>
          <p:cNvSpPr/>
          <p:nvPr/>
        </p:nvSpPr>
        <p:spPr>
          <a:xfrm>
            <a:off x="7017849" y="2526565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145865" y="1383565"/>
            <a:ext cx="1463100" cy="2560200"/>
          </a:xfrm>
          <a:prstGeom prst="roundRect">
            <a:avLst>
              <a:gd fmla="val 5000" name="adj"/>
            </a:avLst>
          </a:prstGeom>
          <a:solidFill>
            <a:srgbClr val="14141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145865" y="1383565"/>
            <a:ext cx="1463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1353" y="1548157"/>
            <a:ext cx="512100" cy="512100"/>
          </a:xfrm>
          <a:prstGeom prst="ellipse">
            <a:avLst/>
          </a:prstGeom>
          <a:solidFill>
            <a:srgbClr val="1D4ED8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621353" y="1548157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237305" y="2188237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Tableau Dashboard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0" name="Google Shape;170;p18"/>
          <p:cNvCxnSpPr/>
          <p:nvPr/>
        </p:nvCxnSpPr>
        <p:spPr>
          <a:xfrm>
            <a:off x="7328745" y="2682013"/>
            <a:ext cx="10974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8"/>
          <p:cNvSpPr/>
          <p:nvPr/>
        </p:nvSpPr>
        <p:spPr>
          <a:xfrm>
            <a:off x="7237305" y="2773453"/>
            <a:ext cx="128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A/B results +</a:t>
            </a:r>
            <a:endParaRPr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Predictions for city planners</a:t>
            </a:r>
            <a:endParaRPr sz="10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Commuter impact analysis</a:t>
            </a:r>
            <a:endParaRPr sz="10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25000" y="288175"/>
            <a:ext cx="3810000" cy="19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311700" y="320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Collection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00950" y="946325"/>
            <a:ext cx="55275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1D78F9"/>
                </a:solidFill>
                <a:latin typeface="Inter"/>
                <a:ea typeface="Inter"/>
                <a:cs typeface="Inter"/>
                <a:sym typeface="Inter"/>
              </a:rPr>
              <a:t>Source 1: OpenWeather API</a:t>
            </a: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 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Endpoint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api.openweathermap.org/data/2.5/weather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Free tier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1,000 calls/day (sufficient for our needs)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Metrics collected: 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Temperature (°F converted from Kelvin)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Rainfall (inches, last 3 hours)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Humidity (%)                   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Wind speed (mph)           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➔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Method: GET request → JSON → pandas DataFrame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1D78F9"/>
                </a:solidFill>
                <a:latin typeface="Inter"/>
                <a:ea typeface="Inter"/>
                <a:cs typeface="Inter"/>
                <a:sym typeface="Inter"/>
              </a:rPr>
              <a:t>Source 2: NYC OpenData</a:t>
            </a: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➔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Traffic: Motor Vehicle Speeds by Borough 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Real-time speed data by roadway segment             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Update frequency: every 5 minutes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➔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Bike Share: Citi Bike Trip History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Start/end stations, trip duration 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Char char="◆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Update frequency: monthly (historical) 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Method: SODA API or CSV download → pandas DataFrame  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13700" y="365325"/>
            <a:ext cx="2559900" cy="219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275175" y="-116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API </a:t>
            </a: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Integration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775" y="714350"/>
            <a:ext cx="3072451" cy="20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973" y="2890798"/>
            <a:ext cx="6484051" cy="20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421000" y="153450"/>
            <a:ext cx="2559900" cy="219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311700" y="666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Tableau </a:t>
            </a:r>
            <a:endParaRPr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575" y="897900"/>
            <a:ext cx="7302852" cy="394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311700" y="666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Tableau  Cont.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575" y="945675"/>
            <a:ext cx="6676849" cy="38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Business Intelligence Dashboard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42000" y="1913375"/>
            <a:ext cx="2518200" cy="2001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Rainfall vs Delay Scatter</a:t>
            </a:r>
            <a:r>
              <a:rPr b="1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Plots: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X-axis: Rainfall (inches) 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Y-axis: Delay Time (minutes)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Trend line reveals: +2.3 minutes of delay per 0.1 inch of rain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One inch of rain adds approximately 23 minutes to NYC commutes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702350" y="1913380"/>
            <a:ext cx="3072000" cy="2001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Borough Comparison Map</a:t>
            </a:r>
            <a:endParaRPr b="1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Geographic heat map of New York City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Color intensity represents average delay time per borough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Manhattan: 24 min average delay (highest congestion)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Staten Island: 12 min average delay (lowest congestion)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083775" y="1913380"/>
            <a:ext cx="2295000" cy="2001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A/B Test Results</a:t>
            </a:r>
            <a:endParaRPr b="1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A (Weather Only): RMSE = 12.3 minutes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B (Weather + Yesterday's Traffic): RMSE = 8.7 minutes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B outperforms Model A by 29%, proving historical traffic patterns improve predictions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240275" y="2087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 Stack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aphicFrame>
        <p:nvGraphicFramePr>
          <p:cNvPr id="213" name="Google Shape;213;p24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{CD9952A5-E88C-49C1-BB81-FF75D27D00BF}</a:tableStyleId>
              </a:tblPr>
              <a:tblGrid>
                <a:gridCol w="2413000"/>
                <a:gridCol w="2413000"/>
                <a:gridCol w="2413000"/>
              </a:tblGrid>
              <a:tr h="39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highlight>
                            <a:srgbClr val="1D78F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</a:t>
                      </a:r>
                      <a:endParaRPr b="1" sz="1700">
                        <a:solidFill>
                          <a:schemeClr val="lt1"/>
                        </a:solidFill>
                        <a:highlight>
                          <a:srgbClr val="1D78F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7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rgbClr val="1D78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</a:t>
                      </a:r>
                      <a:endParaRPr b="1" sz="1700">
                        <a:solidFill>
                          <a:srgbClr val="1D78F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highlight>
                            <a:srgbClr val="1D78F9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Why We Chose It</a:t>
                      </a:r>
                      <a:endParaRPr b="1" sz="1700">
                        <a:solidFill>
                          <a:schemeClr val="lt1"/>
                        </a:solidFill>
                        <a:highlight>
                          <a:srgbClr val="1D78F9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78F9"/>
                    </a:solidFill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 API  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 Crossing</a:t>
                      </a:r>
                      <a:endParaRPr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Free, stable, real data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 Language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3.x  </a:t>
                      </a:r>
                      <a:endParaRPr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 standard 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 Libraries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Requests, Pandas</a:t>
                      </a:r>
                      <a:endParaRPr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Gold standard for data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</a:t>
                      </a:r>
                      <a:endParaRPr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Reliable, structured</a:t>
                      </a:r>
                      <a:endParaRPr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Visualization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Tableau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Interactive dashboards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4"/>
          <p:cNvSpPr/>
          <p:nvPr/>
        </p:nvSpPr>
        <p:spPr>
          <a:xfrm>
            <a:off x="333350" y="372625"/>
            <a:ext cx="2099700" cy="219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311700" y="1899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Team Roles</a:t>
            </a:r>
            <a:endParaRPr sz="29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aphicFrame>
        <p:nvGraphicFramePr>
          <p:cNvPr id="220" name="Google Shape;220;p25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{CD9952A5-E88C-49C1-BB81-FF75D27D00BF}</a:tableStyleId>
              </a:tblPr>
              <a:tblGrid>
                <a:gridCol w="3529250"/>
                <a:gridCol w="3529250"/>
              </a:tblGrid>
              <a:tr h="381000">
                <a:tc>
                  <a:txBody>
                    <a:bodyPr/>
                    <a:lstStyle/>
                    <a:p>
                      <a:pPr indent="0" lvl="0" marL="0" marR="152400" rtl="0" algn="l">
                        <a:lnSpc>
                          <a:spcPct val="1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1D78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Member</a:t>
                      </a:r>
                      <a:endParaRPr b="1" sz="1900">
                        <a:solidFill>
                          <a:srgbClr val="1D78F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52400" rtl="0" algn="l">
                        <a:lnSpc>
                          <a:spcPct val="1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1D78F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Role </a:t>
                      </a:r>
                      <a:endParaRPr b="1" sz="1900">
                        <a:solidFill>
                          <a:srgbClr val="1D78F9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Linwei Zheng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Manager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Cai Rong Li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&amp; Pipeline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Christopher Neria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Cleaning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Mohamed K 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Modeling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Ibsan Hossain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</a:t>
                      </a:r>
                      <a:endParaRPr sz="12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5"/>
          <p:cNvSpPr/>
          <p:nvPr/>
        </p:nvSpPr>
        <p:spPr>
          <a:xfrm>
            <a:off x="391800" y="372625"/>
            <a:ext cx="2099700" cy="219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it so it matches with the other slides" id="226" name="Google Shape;2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