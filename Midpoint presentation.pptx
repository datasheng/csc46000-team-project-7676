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embeddedFontLst>
    <p:embeddedFont>
      <p:font typeface="Economica"/>
      <p:regular r:id="rId20"/>
      <p:bold r:id="rId21"/>
      <p:italic r:id="rId22"/>
      <p:boldItalic r:id="rId23"/>
    </p:embeddedFont>
    <p:embeddedFont>
      <p:font typeface="Inter Light"/>
      <p:regular r:id="rId24"/>
      <p:bold r:id="rId25"/>
      <p:italic r:id="rId26"/>
      <p:boldItalic r:id="rId27"/>
    </p:embeddedFont>
    <p:embeddedFont>
      <p:font typeface="Inter SemiBold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ExtraBold"/>
      <p:bold r:id="rId36"/>
      <p:boldItalic r:id="rId37"/>
    </p:embeddedFont>
    <p:embeddedFont>
      <p:font typeface="Arial Black"/>
      <p:regular r:id="rId38"/>
    </p:embeddedFont>
    <p:embeddedFont>
      <p:font typeface="Open Sans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8819EA-592D-4F96-A6EE-13B9788AD49C}">
  <a:tblStyle styleId="{528819EA-592D-4F96-A6EE-13B9788AD49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penSans-bold.fntdata"/><Relationship Id="rId20" Type="http://schemas.openxmlformats.org/officeDocument/2006/relationships/font" Target="fonts/Economica-regular.fntdata"/><Relationship Id="rId42" Type="http://schemas.openxmlformats.org/officeDocument/2006/relationships/font" Target="fonts/OpenSans-boldItalic.fntdata"/><Relationship Id="rId41" Type="http://schemas.openxmlformats.org/officeDocument/2006/relationships/font" Target="fonts/OpenSans-italic.fntdata"/><Relationship Id="rId22" Type="http://schemas.openxmlformats.org/officeDocument/2006/relationships/font" Target="fonts/Economica-italic.fntdata"/><Relationship Id="rId21" Type="http://schemas.openxmlformats.org/officeDocument/2006/relationships/font" Target="fonts/Economica-bold.fntdata"/><Relationship Id="rId24" Type="http://schemas.openxmlformats.org/officeDocument/2006/relationships/font" Target="fonts/InterLight-regular.fntdata"/><Relationship Id="rId23" Type="http://schemas.openxmlformats.org/officeDocument/2006/relationships/font" Target="fonts/Economica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Light-italic.fntdata"/><Relationship Id="rId25" Type="http://schemas.openxmlformats.org/officeDocument/2006/relationships/font" Target="fonts/InterLight-bold.fntdata"/><Relationship Id="rId28" Type="http://schemas.openxmlformats.org/officeDocument/2006/relationships/font" Target="fonts/InterSemiBold-regular.fntdata"/><Relationship Id="rId27" Type="http://schemas.openxmlformats.org/officeDocument/2006/relationships/font" Target="fonts/InterLigh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SemiBo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SemiBold-boldItalic.fntdata"/><Relationship Id="rId30" Type="http://schemas.openxmlformats.org/officeDocument/2006/relationships/font" Target="fonts/InterSemiBold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ExtraBold-boldItalic.fntdata"/><Relationship Id="rId14" Type="http://schemas.openxmlformats.org/officeDocument/2006/relationships/slide" Target="slides/slide8.xml"/><Relationship Id="rId36" Type="http://schemas.openxmlformats.org/officeDocument/2006/relationships/font" Target="fonts/InterExtraBold-bold.fntdata"/><Relationship Id="rId17" Type="http://schemas.openxmlformats.org/officeDocument/2006/relationships/slide" Target="slides/slide11.xml"/><Relationship Id="rId39" Type="http://schemas.openxmlformats.org/officeDocument/2006/relationships/font" Target="fonts/OpenSans-regular.fntdata"/><Relationship Id="rId16" Type="http://schemas.openxmlformats.org/officeDocument/2006/relationships/slide" Target="slides/slide10.xml"/><Relationship Id="rId38" Type="http://schemas.openxmlformats.org/officeDocument/2006/relationships/font" Target="fonts/ArialBlack-regular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6596aede8_0_167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96596aede8_0_1077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6596aede8_0_1368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6596aede8_0_149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96596aede8_0_149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396596aede8_0_149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65af67c1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65af67c1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65af67c1c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65af67c1c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96783d1f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96783d1f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245ddf68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d245ddf68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d245ddf68e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d245ddf68e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65af67c1c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65af67c1c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65af67c1c_1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65af67c1c_1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965af67c1c_1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965af67c1c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d23f4e953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d23f4e953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7" name="Google Shape;17;p3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">
  <p:cSld name="Generated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/>
          <p:nvPr/>
        </p:nvSpPr>
        <p:spPr>
          <a:xfrm>
            <a:off x="4191000" y="3238500"/>
            <a:ext cx="762000" cy="19200"/>
          </a:xfrm>
          <a:prstGeom prst="roundRect">
            <a:avLst>
              <a:gd fmla="val 50000" name="adj"/>
            </a:avLst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258900" y="1333500"/>
            <a:ext cx="8626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Weather vs City Traffic</a:t>
            </a:r>
            <a:endParaRPr b="1" sz="50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0" y="24765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600">
                <a:solidFill>
                  <a:srgbClr val="007BFF"/>
                </a:solidFill>
                <a:latin typeface="Inter Light"/>
                <a:ea typeface="Inter Light"/>
                <a:cs typeface="Inter Light"/>
                <a:sym typeface="Inter Light"/>
              </a:rPr>
              <a:t>A DATA-DRIVEN MODEL FOR PREDICTING TRAFFIC DELAYS</a:t>
            </a:r>
            <a:endParaRPr b="0" sz="1600">
              <a:solidFill>
                <a:srgbClr val="007B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571500" y="3524250"/>
            <a:ext cx="800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AAAAA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PRESENTED BY</a:t>
            </a:r>
            <a:endParaRPr b="0" sz="1000">
              <a:solidFill>
                <a:srgbClr val="AAAAA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571500" y="3857625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Linwei Zheng • Cai Rong Li • Christopher Neria • Mohamed K • Ibsan Hossain</a:t>
            </a:r>
            <a:endParaRPr b="0" sz="1300">
              <a:solidFill>
                <a:srgbClr val="FFFF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/>
          <p:nvPr/>
        </p:nvSpPr>
        <p:spPr>
          <a:xfrm>
            <a:off x="603650" y="741750"/>
            <a:ext cx="3810000" cy="192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 txBox="1"/>
          <p:nvPr/>
        </p:nvSpPr>
        <p:spPr>
          <a:xfrm>
            <a:off x="603650" y="861125"/>
            <a:ext cx="4762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Table of Contents</a:t>
            </a:r>
            <a:endParaRPr sz="34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74" name="Google Shape;74;p16"/>
          <p:cNvGrpSpPr/>
          <p:nvPr/>
        </p:nvGrpSpPr>
        <p:grpSpPr>
          <a:xfrm>
            <a:off x="571500" y="2000250"/>
            <a:ext cx="2571750" cy="762000"/>
            <a:chOff x="571500" y="2000250"/>
            <a:chExt cx="2571750" cy="762000"/>
          </a:xfrm>
        </p:grpSpPr>
        <p:sp>
          <p:nvSpPr>
            <p:cNvPr id="75" name="Google Shape;75;p16"/>
            <p:cNvSpPr txBox="1"/>
            <p:nvPr/>
          </p:nvSpPr>
          <p:spPr>
            <a:xfrm>
              <a:off x="571500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6" name="Google Shape;76;p16"/>
            <p:cNvSpPr txBox="1"/>
            <p:nvPr/>
          </p:nvSpPr>
          <p:spPr>
            <a:xfrm>
              <a:off x="1047750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</a:t>
              </a: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Problem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77" name="Google Shape;77;p16"/>
          <p:cNvGrpSpPr/>
          <p:nvPr/>
        </p:nvGrpSpPr>
        <p:grpSpPr>
          <a:xfrm>
            <a:off x="3286125" y="2000250"/>
            <a:ext cx="2571750" cy="762000"/>
            <a:chOff x="3286125" y="2000250"/>
            <a:chExt cx="2571750" cy="762000"/>
          </a:xfrm>
        </p:grpSpPr>
        <p:sp>
          <p:nvSpPr>
            <p:cNvPr id="78" name="Google Shape;78;p16"/>
            <p:cNvSpPr txBox="1"/>
            <p:nvPr/>
          </p:nvSpPr>
          <p:spPr>
            <a:xfrm>
              <a:off x="3286125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</a:t>
              </a:r>
              <a:endParaRPr b="0" sz="2040">
                <a:solidFill>
                  <a:srgbClr val="1D78F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9" name="Google Shape;79;p16"/>
            <p:cNvSpPr txBox="1"/>
            <p:nvPr/>
          </p:nvSpPr>
          <p:spPr>
            <a:xfrm>
              <a:off x="3762375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Method &amp; Process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0" name="Google Shape;80;p16"/>
          <p:cNvGrpSpPr/>
          <p:nvPr/>
        </p:nvGrpSpPr>
        <p:grpSpPr>
          <a:xfrm>
            <a:off x="6000750" y="1881200"/>
            <a:ext cx="2571500" cy="762000"/>
            <a:chOff x="6000750" y="1881200"/>
            <a:chExt cx="2571500" cy="762000"/>
          </a:xfrm>
        </p:grpSpPr>
        <p:sp>
          <p:nvSpPr>
            <p:cNvPr id="81" name="Google Shape;81;p16"/>
            <p:cNvSpPr txBox="1"/>
            <p:nvPr/>
          </p:nvSpPr>
          <p:spPr>
            <a:xfrm>
              <a:off x="6000750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2" name="Google Shape;82;p16"/>
            <p:cNvSpPr txBox="1"/>
            <p:nvPr/>
          </p:nvSpPr>
          <p:spPr>
            <a:xfrm>
              <a:off x="6469550" y="1881200"/>
              <a:ext cx="21027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600">
                  <a:solidFill>
                    <a:schemeClr val="lt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Data Collection</a:t>
              </a:r>
              <a:endParaRPr b="1" sz="100">
                <a:solidFill>
                  <a:srgbClr val="AAAAA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3" name="Google Shape;83;p16"/>
          <p:cNvGrpSpPr/>
          <p:nvPr/>
        </p:nvGrpSpPr>
        <p:grpSpPr>
          <a:xfrm>
            <a:off x="571500" y="2952750"/>
            <a:ext cx="2571750" cy="762000"/>
            <a:chOff x="571500" y="2952750"/>
            <a:chExt cx="2571750" cy="762000"/>
          </a:xfrm>
        </p:grpSpPr>
        <p:sp>
          <p:nvSpPr>
            <p:cNvPr id="84" name="Google Shape;84;p16"/>
            <p:cNvSpPr txBox="1"/>
            <p:nvPr/>
          </p:nvSpPr>
          <p:spPr>
            <a:xfrm>
              <a:off x="571500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4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5" name="Google Shape;85;p16"/>
            <p:cNvSpPr txBox="1"/>
            <p:nvPr/>
          </p:nvSpPr>
          <p:spPr>
            <a:xfrm>
              <a:off x="1047750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Database Schema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6" name="Google Shape;86;p16"/>
          <p:cNvGrpSpPr/>
          <p:nvPr/>
        </p:nvGrpSpPr>
        <p:grpSpPr>
          <a:xfrm>
            <a:off x="3286125" y="2952750"/>
            <a:ext cx="2571750" cy="762000"/>
            <a:chOff x="3286125" y="2952750"/>
            <a:chExt cx="2571750" cy="762000"/>
          </a:xfrm>
        </p:grpSpPr>
        <p:sp>
          <p:nvSpPr>
            <p:cNvPr id="87" name="Google Shape;87;p16"/>
            <p:cNvSpPr txBox="1"/>
            <p:nvPr/>
          </p:nvSpPr>
          <p:spPr>
            <a:xfrm>
              <a:off x="3286125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5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8" name="Google Shape;88;p16"/>
            <p:cNvSpPr txBox="1"/>
            <p:nvPr/>
          </p:nvSpPr>
          <p:spPr>
            <a:xfrm>
              <a:off x="3762375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API </a:t>
              </a: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Integration</a:t>
              </a: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 &amp;</a:t>
              </a:r>
              <a:endParaRPr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Tableau Chart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9" name="Google Shape;89;p16"/>
          <p:cNvGrpSpPr/>
          <p:nvPr/>
        </p:nvGrpSpPr>
        <p:grpSpPr>
          <a:xfrm>
            <a:off x="6000750" y="2952750"/>
            <a:ext cx="2571750" cy="762000"/>
            <a:chOff x="6000750" y="2952750"/>
            <a:chExt cx="2571750" cy="762000"/>
          </a:xfrm>
        </p:grpSpPr>
        <p:sp>
          <p:nvSpPr>
            <p:cNvPr id="90" name="Google Shape;90;p16"/>
            <p:cNvSpPr txBox="1"/>
            <p:nvPr/>
          </p:nvSpPr>
          <p:spPr>
            <a:xfrm>
              <a:off x="6000750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1" name="Google Shape;91;p16"/>
            <p:cNvSpPr txBox="1"/>
            <p:nvPr/>
          </p:nvSpPr>
          <p:spPr>
            <a:xfrm>
              <a:off x="6477000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Business</a:t>
              </a: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 Intelligence Dashboard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92" name="Google Shape;92;p16"/>
          <p:cNvGrpSpPr/>
          <p:nvPr/>
        </p:nvGrpSpPr>
        <p:grpSpPr>
          <a:xfrm>
            <a:off x="571500" y="3905250"/>
            <a:ext cx="2571750" cy="762000"/>
            <a:chOff x="571500" y="3905250"/>
            <a:chExt cx="2571750" cy="762000"/>
          </a:xfrm>
        </p:grpSpPr>
        <p:sp>
          <p:nvSpPr>
            <p:cNvPr id="93" name="Google Shape;93;p16"/>
            <p:cNvSpPr txBox="1"/>
            <p:nvPr/>
          </p:nvSpPr>
          <p:spPr>
            <a:xfrm>
              <a:off x="571500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7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4" name="Google Shape;94;p16"/>
            <p:cNvSpPr txBox="1"/>
            <p:nvPr/>
          </p:nvSpPr>
          <p:spPr>
            <a:xfrm>
              <a:off x="1047750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Tech Stack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95" name="Google Shape;95;p16"/>
          <p:cNvGrpSpPr/>
          <p:nvPr/>
        </p:nvGrpSpPr>
        <p:grpSpPr>
          <a:xfrm>
            <a:off x="3286125" y="3905250"/>
            <a:ext cx="2571750" cy="762000"/>
            <a:chOff x="3286125" y="3905250"/>
            <a:chExt cx="2571750" cy="762000"/>
          </a:xfrm>
        </p:grpSpPr>
        <p:sp>
          <p:nvSpPr>
            <p:cNvPr id="96" name="Google Shape;96;p16"/>
            <p:cNvSpPr txBox="1"/>
            <p:nvPr/>
          </p:nvSpPr>
          <p:spPr>
            <a:xfrm>
              <a:off x="3286125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8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7" name="Google Shape;97;p16"/>
            <p:cNvSpPr txBox="1"/>
            <p:nvPr/>
          </p:nvSpPr>
          <p:spPr>
            <a:xfrm>
              <a:off x="3762375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Team Roles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98" name="Google Shape;98;p16"/>
          <p:cNvGrpSpPr/>
          <p:nvPr/>
        </p:nvGrpSpPr>
        <p:grpSpPr>
          <a:xfrm>
            <a:off x="6122800" y="3905250"/>
            <a:ext cx="2571750" cy="762000"/>
            <a:chOff x="3286125" y="3905250"/>
            <a:chExt cx="2571750" cy="762000"/>
          </a:xfrm>
        </p:grpSpPr>
        <p:sp>
          <p:nvSpPr>
            <p:cNvPr id="99" name="Google Shape;99;p16"/>
            <p:cNvSpPr txBox="1"/>
            <p:nvPr/>
          </p:nvSpPr>
          <p:spPr>
            <a:xfrm>
              <a:off x="3286125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9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00" name="Google Shape;100;p16"/>
            <p:cNvSpPr txBox="1"/>
            <p:nvPr/>
          </p:nvSpPr>
          <p:spPr>
            <a:xfrm>
              <a:off x="3762375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Q&amp;A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/>
          <p:nvPr/>
        </p:nvSpPr>
        <p:spPr>
          <a:xfrm>
            <a:off x="571500" y="277650"/>
            <a:ext cx="42945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7"/>
          <p:cNvSpPr txBox="1"/>
          <p:nvPr/>
        </p:nvSpPr>
        <p:spPr>
          <a:xfrm>
            <a:off x="571500" y="378300"/>
            <a:ext cx="8001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Introduction/Problem</a:t>
            </a:r>
            <a:endParaRPr b="0" sz="32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06" name="Google Shape;106;p17"/>
          <p:cNvGrpSpPr/>
          <p:nvPr/>
        </p:nvGrpSpPr>
        <p:grpSpPr>
          <a:xfrm>
            <a:off x="571500" y="1028550"/>
            <a:ext cx="3905400" cy="1428900"/>
            <a:chOff x="571500" y="1524000"/>
            <a:chExt cx="3905400" cy="1428900"/>
          </a:xfrm>
        </p:grpSpPr>
        <p:sp>
          <p:nvSpPr>
            <p:cNvPr id="107" name="Google Shape;107;p17"/>
            <p:cNvSpPr/>
            <p:nvPr/>
          </p:nvSpPr>
          <p:spPr>
            <a:xfrm>
              <a:off x="571500" y="1524000"/>
              <a:ext cx="3905400" cy="1428900"/>
            </a:xfrm>
            <a:prstGeom prst="roundRect">
              <a:avLst>
                <a:gd fmla="val 533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7"/>
            <p:cNvSpPr txBox="1"/>
            <p:nvPr/>
          </p:nvSpPr>
          <p:spPr>
            <a:xfrm>
              <a:off x="762000" y="1728675"/>
              <a:ext cx="3524400" cy="2859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The Challenge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9" name="Google Shape;109;p17"/>
            <p:cNvSpPr txBox="1"/>
            <p:nvPr/>
          </p:nvSpPr>
          <p:spPr>
            <a:xfrm>
              <a:off x="762000" y="2054750"/>
              <a:ext cx="3524400" cy="8097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7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•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NYC traffic congestion is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very unpredictable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, and it affects commuters on a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day-to-day basis</a:t>
              </a:r>
              <a:endParaRPr sz="817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•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Weather conditions like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 rain and temperatures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have a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major impact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on traffic congestion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0" name="Google Shape;110;p17"/>
          <p:cNvGrpSpPr/>
          <p:nvPr/>
        </p:nvGrpSpPr>
        <p:grpSpPr>
          <a:xfrm>
            <a:off x="4667100" y="1028550"/>
            <a:ext cx="3905400" cy="1428900"/>
            <a:chOff x="4667250" y="1524000"/>
            <a:chExt cx="3905400" cy="1428900"/>
          </a:xfrm>
        </p:grpSpPr>
        <p:sp>
          <p:nvSpPr>
            <p:cNvPr id="111" name="Google Shape;111;p17"/>
            <p:cNvSpPr/>
            <p:nvPr/>
          </p:nvSpPr>
          <p:spPr>
            <a:xfrm>
              <a:off x="4667250" y="1524000"/>
              <a:ext cx="3905400" cy="1428900"/>
            </a:xfrm>
            <a:prstGeom prst="roundRect">
              <a:avLst>
                <a:gd fmla="val 533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 txBox="1"/>
            <p:nvPr/>
          </p:nvSpPr>
          <p:spPr>
            <a:xfrm>
              <a:off x="4857750" y="1666875"/>
              <a:ext cx="3524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Strategic Goal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" name="Google Shape;113;p17"/>
            <p:cNvSpPr txBox="1"/>
            <p:nvPr/>
          </p:nvSpPr>
          <p:spPr>
            <a:xfrm>
              <a:off x="4857750" y="2000250"/>
              <a:ext cx="3524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Our goal is to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create a data model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that uses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weather data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to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analyze and predict traffic delays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in New York City, to help provide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insights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for commuters and  Transportation agencies.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4" name="Google Shape;114;p17"/>
          <p:cNvGrpSpPr/>
          <p:nvPr/>
        </p:nvGrpSpPr>
        <p:grpSpPr>
          <a:xfrm>
            <a:off x="571500" y="2807175"/>
            <a:ext cx="8001000" cy="1238400"/>
            <a:chOff x="571500" y="3143250"/>
            <a:chExt cx="8001000" cy="1238400"/>
          </a:xfrm>
        </p:grpSpPr>
        <p:sp>
          <p:nvSpPr>
            <p:cNvPr id="115" name="Google Shape;115;p17"/>
            <p:cNvSpPr/>
            <p:nvPr/>
          </p:nvSpPr>
          <p:spPr>
            <a:xfrm>
              <a:off x="571500" y="3143250"/>
              <a:ext cx="8001000" cy="1238400"/>
            </a:xfrm>
            <a:prstGeom prst="roundRect">
              <a:avLst>
                <a:gd fmla="val 615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7"/>
            <p:cNvSpPr txBox="1"/>
            <p:nvPr/>
          </p:nvSpPr>
          <p:spPr>
            <a:xfrm>
              <a:off x="762000" y="3286125"/>
              <a:ext cx="7620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Core Research Questions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7" name="Google Shape;117;p17"/>
            <p:cNvSpPr txBox="1"/>
            <p:nvPr/>
          </p:nvSpPr>
          <p:spPr>
            <a:xfrm>
              <a:off x="762000" y="3619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What is the difference in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traffic delay on rainy days vs non-rainy days?</a:t>
              </a:r>
              <a:endParaRPr i="1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8" name="Google Shape;118;p17"/>
            <p:cNvCxnSpPr/>
            <p:nvPr/>
          </p:nvCxnSpPr>
          <p:spPr>
            <a:xfrm>
              <a:off x="3238500" y="3667125"/>
              <a:ext cx="0" cy="5715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9" name="Google Shape;119;p17"/>
            <p:cNvSpPr txBox="1"/>
            <p:nvPr/>
          </p:nvSpPr>
          <p:spPr>
            <a:xfrm>
              <a:off x="3333750" y="3619500"/>
              <a:ext cx="2476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much does delay time increase as rainfall increases?</a:t>
              </a:r>
              <a:endParaRPr i="1" sz="2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0" name="Google Shape;120;p17"/>
            <p:cNvCxnSpPr/>
            <p:nvPr/>
          </p:nvCxnSpPr>
          <p:spPr>
            <a:xfrm>
              <a:off x="5905500" y="3667125"/>
              <a:ext cx="0" cy="5715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21" name="Google Shape;121;p17"/>
            <p:cNvSpPr txBox="1"/>
            <p:nvPr/>
          </p:nvSpPr>
          <p:spPr>
            <a:xfrm>
              <a:off x="6000750" y="3619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does temperature affect traffic delays in NYC?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i="1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22" name="Google Shape;122;p17"/>
          <p:cNvSpPr txBox="1"/>
          <p:nvPr/>
        </p:nvSpPr>
        <p:spPr>
          <a:xfrm>
            <a:off x="571500" y="4327400"/>
            <a:ext cx="800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1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Stakeholders: </a:t>
            </a:r>
            <a:r>
              <a:rPr b="0"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Commuters • Transportation Agencies</a:t>
            </a:r>
            <a:r>
              <a:rPr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• City Planners</a:t>
            </a:r>
            <a:endParaRPr b="1" sz="1017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/>
          <p:nvPr/>
        </p:nvSpPr>
        <p:spPr>
          <a:xfrm>
            <a:off x="425000" y="288182"/>
            <a:ext cx="8229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 Black"/>
              <a:buNone/>
            </a:pPr>
            <a:r>
              <a:rPr i="0" lang="en" sz="3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Method &amp; Process</a:t>
            </a:r>
            <a:endParaRPr i="0" sz="3400" u="none" cap="none" strike="noStrike">
              <a:solidFill>
                <a:schemeClr val="dk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47074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/>
          <p:nvPr/>
        </p:nvSpPr>
        <p:spPr>
          <a:xfrm>
            <a:off x="47074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8"/>
          <p:cNvSpPr/>
          <p:nvPr/>
        </p:nvSpPr>
        <p:spPr>
          <a:xfrm>
            <a:off x="94623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8"/>
          <p:cNvSpPr/>
          <p:nvPr/>
        </p:nvSpPr>
        <p:spPr>
          <a:xfrm>
            <a:off x="94623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6218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Data Collection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34" name="Google Shape;134;p18"/>
          <p:cNvCxnSpPr/>
          <p:nvPr/>
        </p:nvCxnSpPr>
        <p:spPr>
          <a:xfrm>
            <a:off x="65362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18"/>
          <p:cNvSpPr/>
          <p:nvPr/>
        </p:nvSpPr>
        <p:spPr>
          <a:xfrm>
            <a:off x="56218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Visual Crossing API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36" name="Google Shape;136;p18"/>
          <p:cNvCxnSpPr/>
          <p:nvPr/>
        </p:nvCxnSpPr>
        <p:spPr>
          <a:xfrm>
            <a:off x="197950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8"/>
          <p:cNvSpPr/>
          <p:nvPr/>
        </p:nvSpPr>
        <p:spPr>
          <a:xfrm>
            <a:off x="201150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8"/>
          <p:cNvSpPr/>
          <p:nvPr/>
        </p:nvSpPr>
        <p:spPr>
          <a:xfrm>
            <a:off x="213952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213952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261501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261501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223096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3" name="Google Shape;143;p18"/>
          <p:cNvCxnSpPr/>
          <p:nvPr/>
        </p:nvCxnSpPr>
        <p:spPr>
          <a:xfrm>
            <a:off x="232240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4" name="Google Shape;144;p18"/>
          <p:cNvSpPr/>
          <p:nvPr/>
        </p:nvSpPr>
        <p:spPr>
          <a:xfrm>
            <a:off x="223096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Clean &amp; merge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datasets in Pandas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5" name="Google Shape;145;p18"/>
          <p:cNvCxnSpPr/>
          <p:nvPr/>
        </p:nvCxnSpPr>
        <p:spPr>
          <a:xfrm>
            <a:off x="364828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18"/>
          <p:cNvSpPr/>
          <p:nvPr/>
        </p:nvSpPr>
        <p:spPr>
          <a:xfrm>
            <a:off x="3602629" y="2526575"/>
            <a:ext cx="260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380830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380830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428379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428379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389974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Store in MySQL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52" name="Google Shape;152;p18"/>
          <p:cNvCxnSpPr/>
          <p:nvPr/>
        </p:nvCxnSpPr>
        <p:spPr>
          <a:xfrm>
            <a:off x="399118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18"/>
          <p:cNvSpPr/>
          <p:nvPr/>
        </p:nvSpPr>
        <p:spPr>
          <a:xfrm>
            <a:off x="389974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Append records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 overwrites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54" name="Google Shape;154;p18"/>
          <p:cNvCxnSpPr/>
          <p:nvPr/>
        </p:nvCxnSpPr>
        <p:spPr>
          <a:xfrm>
            <a:off x="531706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8"/>
          <p:cNvSpPr/>
          <p:nvPr/>
        </p:nvSpPr>
        <p:spPr>
          <a:xfrm>
            <a:off x="534906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547708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547708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595257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595257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556852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Regression Model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61" name="Google Shape;161;p18"/>
          <p:cNvCxnSpPr/>
          <p:nvPr/>
        </p:nvCxnSpPr>
        <p:spPr>
          <a:xfrm>
            <a:off x="565996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18"/>
          <p:cNvSpPr/>
          <p:nvPr/>
        </p:nvSpPr>
        <p:spPr>
          <a:xfrm>
            <a:off x="556852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Rain → Delay time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     Impact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63" name="Google Shape;163;p18"/>
          <p:cNvCxnSpPr/>
          <p:nvPr/>
        </p:nvCxnSpPr>
        <p:spPr>
          <a:xfrm>
            <a:off x="698584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8"/>
          <p:cNvSpPr/>
          <p:nvPr/>
        </p:nvSpPr>
        <p:spPr>
          <a:xfrm>
            <a:off x="701784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14586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714586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762135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762135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723730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Tableau Dashboard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0" name="Google Shape;170;p18"/>
          <p:cNvCxnSpPr/>
          <p:nvPr/>
        </p:nvCxnSpPr>
        <p:spPr>
          <a:xfrm>
            <a:off x="732874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18"/>
          <p:cNvSpPr/>
          <p:nvPr/>
        </p:nvSpPr>
        <p:spPr>
          <a:xfrm>
            <a:off x="723730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A/B results +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Predictions for city planners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Commuter impact analysis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rgbClr val="94A3B8"/>
              </a:solidFill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425000" y="288175"/>
            <a:ext cx="3810000" cy="192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 txBox="1"/>
          <p:nvPr>
            <p:ph type="title"/>
          </p:nvPr>
        </p:nvSpPr>
        <p:spPr>
          <a:xfrm>
            <a:off x="311700" y="308825"/>
            <a:ext cx="37218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Data Collection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362550" y="1100625"/>
            <a:ext cx="3216300" cy="3734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rgbClr val="1D78F9"/>
                </a:solidFill>
                <a:latin typeface="Inter"/>
                <a:ea typeface="Inter"/>
                <a:cs typeface="Inter"/>
                <a:sym typeface="Inter"/>
              </a:rPr>
              <a:t>Source 1: Visual Crossing Weather API</a:t>
            </a:r>
            <a:r>
              <a:rPr b="1"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Char char="➔"/>
            </a:pPr>
            <a:r>
              <a:rPr b="1"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 type: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Historical weather data, real-time conditions, and 15-day forecasts                          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Free tier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1,000 calls/day (sufficient for our needs)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Metrics collected:  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                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Temperature (°F converted from Kelvin)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Rainfall (inches, last 3 hours)       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Humidity (%)                          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Wind speed (mph)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Weather condition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Snow accumulation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Method: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GET request → JSON → pandas DataFrame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 Frequency: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Every 5 minutes (real-time)  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413700" y="365325"/>
            <a:ext cx="25599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177900" y="308825"/>
            <a:ext cx="4595100" cy="20163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D78F9"/>
                </a:solidFill>
                <a:latin typeface="Inter"/>
                <a:ea typeface="Inter"/>
                <a:cs typeface="Inter"/>
                <a:sym typeface="Inter"/>
              </a:rPr>
              <a:t>Source 2: NYC OpenData</a:t>
            </a:r>
            <a:r>
              <a:rPr b="1"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b="1" lang="en" sz="120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DOT Traffic Speeds API</a:t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➔"/>
            </a:pPr>
            <a:r>
              <a:rPr b="1"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 type: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Real-time motor vehicle speeds by roadway segment                       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Metrics collected: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Average speed (mph)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Travel time (seconds)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Link coordinates (for geospatial analysis)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Congestion status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 Frequency: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Every 5 minutes (real-time)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Method: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API endpoint → JSON → pandas DataFrame  </a:t>
            </a:r>
            <a:r>
              <a:rPr lang="en" sz="1100">
                <a:solidFill>
                  <a:schemeClr val="lt1"/>
                </a:solidFill>
              </a:rPr>
              <a:t>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4177900" y="2511225"/>
            <a:ext cx="4595100" cy="2324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D78F9"/>
                </a:solidFill>
                <a:latin typeface="Inter"/>
                <a:ea typeface="Inter"/>
                <a:cs typeface="Inter"/>
                <a:sym typeface="Inter"/>
              </a:rPr>
              <a:t>Source 3: NYC OpenData</a:t>
            </a:r>
            <a:r>
              <a:rPr b="1"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b="1" lang="en" sz="120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Citi Bike System Data API</a:t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➔"/>
            </a:pPr>
            <a:r>
              <a:rPr b="1"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 type: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Real-time bike share availability and station occupancy                      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Metrics collected: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Available bikes per station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Available docks per station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Station status (active/inactive)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Station capacity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Total station count by borough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Bike utilization rates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 Frequency: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Real-time (1-2 minute intervals)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Method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API endpoint → JSON → pandas DataFrame  </a:t>
            </a:r>
            <a:r>
              <a:rPr lang="en" sz="1100">
                <a:solidFill>
                  <a:schemeClr val="lt1"/>
                </a:solidFill>
              </a:rPr>
              <a:t> </a:t>
            </a:r>
            <a:endParaRPr b="1" sz="1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0"/>
          <p:cNvSpPr txBox="1"/>
          <p:nvPr>
            <p:ph type="title"/>
          </p:nvPr>
        </p:nvSpPr>
        <p:spPr>
          <a:xfrm>
            <a:off x="275175" y="-11695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API </a:t>
            </a: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Integration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187" name="Google Shape;18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5775" y="714350"/>
            <a:ext cx="3072451" cy="202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9973" y="2890798"/>
            <a:ext cx="6484051" cy="20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0"/>
          <p:cNvSpPr/>
          <p:nvPr/>
        </p:nvSpPr>
        <p:spPr>
          <a:xfrm>
            <a:off x="421000" y="153450"/>
            <a:ext cx="25599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 txBox="1"/>
          <p:nvPr>
            <p:ph type="title"/>
          </p:nvPr>
        </p:nvSpPr>
        <p:spPr>
          <a:xfrm>
            <a:off x="311700" y="1562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MySQL integration</a:t>
            </a:r>
            <a:endParaRPr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195" name="Google Shape;19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4000" y="1065350"/>
            <a:ext cx="4913681" cy="369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/>
          <p:nvPr>
            <p:ph type="title"/>
          </p:nvPr>
        </p:nvSpPr>
        <p:spPr>
          <a:xfrm>
            <a:off x="311700" y="666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Tableau </a:t>
            </a:r>
            <a:endParaRPr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201" name="Google Shape;2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0575" y="897900"/>
            <a:ext cx="7302852" cy="3940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 txBox="1"/>
          <p:nvPr>
            <p:ph type="title"/>
          </p:nvPr>
        </p:nvSpPr>
        <p:spPr>
          <a:xfrm>
            <a:off x="311700" y="666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9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Tableau  Cont.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207" name="Google Shape;20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3575" y="945675"/>
            <a:ext cx="6676849" cy="385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4"/>
          <p:cNvSpPr txBox="1"/>
          <p:nvPr>
            <p:ph type="title"/>
          </p:nvPr>
        </p:nvSpPr>
        <p:spPr>
          <a:xfrm>
            <a:off x="311700" y="3427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Business Intelligence Dashboard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13" name="Google Shape;213;p24"/>
          <p:cNvSpPr txBox="1"/>
          <p:nvPr/>
        </p:nvSpPr>
        <p:spPr>
          <a:xfrm>
            <a:off x="322367" y="1913375"/>
            <a:ext cx="2518200" cy="2001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Rainfall vs Delay Scatter</a:t>
            </a: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Plots: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X-axis: Rainfall (inches)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Y-axis: Delay Time (minutes)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Trend line reveals: +2.3 minutes of delay per 0.1 inch of rain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One inch of rain adds approximately 23 minutes to NYC commutes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4" name="Google Shape;214;p24"/>
          <p:cNvSpPr txBox="1"/>
          <p:nvPr/>
        </p:nvSpPr>
        <p:spPr>
          <a:xfrm>
            <a:off x="5782717" y="1913380"/>
            <a:ext cx="3072000" cy="2001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Borough Comparison Map</a:t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Geographic heat map of New York City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Color intensity represents average delay time per borough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Manhattan: 24 min average delay (highest congestion)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Staten Island: 12 min average delay (lowest congestion)</a:t>
            </a:r>
            <a:endParaRPr sz="1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5" name="Google Shape;215;p24"/>
          <p:cNvSpPr txBox="1"/>
          <p:nvPr/>
        </p:nvSpPr>
        <p:spPr>
          <a:xfrm>
            <a:off x="3164142" y="1913380"/>
            <a:ext cx="2295000" cy="2001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A/B Test Results</a:t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 A (Weather Only): RMSE = 12.3 minutes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 B (Weather + Yesterday's Traffic): RMSE = 8.7 minutes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 B outperforms Model A by 29%, proving historical traffic patterns improve predictions</a:t>
            </a:r>
            <a:endParaRPr sz="1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5"/>
          <p:cNvSpPr txBox="1"/>
          <p:nvPr>
            <p:ph type="title"/>
          </p:nvPr>
        </p:nvSpPr>
        <p:spPr>
          <a:xfrm>
            <a:off x="240275" y="20875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Tech Stack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aphicFrame>
        <p:nvGraphicFramePr>
          <p:cNvPr id="221" name="Google Shape;221;p25"/>
          <p:cNvGraphicFramePr/>
          <p:nvPr/>
        </p:nvGraphicFramePr>
        <p:xfrm>
          <a:off x="952500" y="1238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{528819EA-592D-4F96-A6EE-13B9788AD49C}</a:tableStyleId>
              </a:tblPr>
              <a:tblGrid>
                <a:gridCol w="2413000"/>
                <a:gridCol w="2413000"/>
                <a:gridCol w="2413000"/>
              </a:tblGrid>
              <a:tr h="392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Component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rgbClr val="1D78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Technology</a:t>
                      </a:r>
                      <a:endParaRPr b="1" sz="1700">
                        <a:solidFill>
                          <a:srgbClr val="1D78F9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Why We Chose It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Source API  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Visual Crossing +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NYC Open Data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Free, stable, real data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ETL Language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Python 3.x  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Industry standard 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ETL Libraries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Requests, Pandas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Gold standard for data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Database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MySQL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Reliable, structured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Visualization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Tableau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Interactive dashboards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222" name="Google Shape;222;p25"/>
          <p:cNvSpPr/>
          <p:nvPr/>
        </p:nvSpPr>
        <p:spPr>
          <a:xfrm>
            <a:off x="333350" y="372625"/>
            <a:ext cx="20997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6"/>
          <p:cNvSpPr txBox="1"/>
          <p:nvPr>
            <p:ph type="title"/>
          </p:nvPr>
        </p:nvSpPr>
        <p:spPr>
          <a:xfrm>
            <a:off x="311700" y="18997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Team Roles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aphicFrame>
        <p:nvGraphicFramePr>
          <p:cNvPr id="228" name="Google Shape;228;p26"/>
          <p:cNvGraphicFramePr/>
          <p:nvPr/>
        </p:nvGraphicFramePr>
        <p:xfrm>
          <a:off x="1042750" y="15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{528819EA-592D-4F96-A6EE-13B9788AD49C}</a:tableStyleId>
              </a:tblPr>
              <a:tblGrid>
                <a:gridCol w="3529250"/>
                <a:gridCol w="3529250"/>
              </a:tblGrid>
              <a:tr h="381000">
                <a:tc>
                  <a:txBody>
                    <a:bodyPr/>
                    <a:lstStyle/>
                    <a:p>
                      <a:pPr indent="0" lvl="0" marL="0" marR="152400" rtl="0" algn="l">
                        <a:lnSpc>
                          <a:spcPct val="16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lt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Member</a:t>
                      </a:r>
                      <a:endParaRPr b="1" sz="1900">
                        <a:solidFill>
                          <a:schemeClr val="lt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152400" rtl="0" algn="l">
                        <a:lnSpc>
                          <a:spcPct val="16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lt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Role </a:t>
                      </a:r>
                      <a:endParaRPr b="1" sz="1900">
                        <a:solidFill>
                          <a:schemeClr val="lt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Linwei Zheng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Project Manager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Cai Rong Li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API &amp; Pipeline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Christopher Neria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 Cleaning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Mohamed K 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Modeling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Ibsan Hossain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Dashboard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229" name="Google Shape;229;p26"/>
          <p:cNvSpPr/>
          <p:nvPr/>
        </p:nvSpPr>
        <p:spPr>
          <a:xfrm>
            <a:off x="391800" y="372625"/>
            <a:ext cx="20997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ke it so it matches with the other slides" id="234" name="Google Shape;23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